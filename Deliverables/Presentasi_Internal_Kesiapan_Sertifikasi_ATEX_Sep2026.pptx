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32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62321"/>
                </a:solidFill>
                <a:latin typeface="Calibri"/>
              </a:rPr>
              <a:t>Status butir di dokumen submission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Butir</c:v>
                </c:pt>
              </c:strCache>
            </c:strRef>
          </c:tx>
          <c:spPr>
            <a:solidFill>
              <a:srgbClr val="2B5F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3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5F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6A1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520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Final / tersedia</c:v>
                  </c:pt>
                  <c:pt idx="1">
                    <c:v>Sebagian tersedia</c:v>
                  </c:pt>
                  <c:pt idx="2">
                    <c:v>Belum tersedia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3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6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b"/>
        <c:majorGridlines>
          <c:spPr>
            <a:ln w="9525" cap="flat">
              <a:solidFill>
                <a:srgbClr val="D5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A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tujuan rapat bukan melaporkan kemajuan, tapi mengambil 4 keputusan yang menahan jalur sertifikasi. Tegaskan di awal bahwa status resmi kita adalah BELUM SIAP DIAJUKAN, supaya tidak ada klaim berlebih ke Pertamina.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kita maju secara rekayasa, tapi bukti formal untuk sertifikasi punya format sendiri dan belum terkumpul. Jangan campur angka 42% (kesiapan internal) dengan klaim milestone pembayaran.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ada yang bertanya kenapa dua angka: jelaskan bahwa 42% adalah tiga fase pertama yang kita kendalikan, 20% adalah seluruh perjalanan termasuk uji lab yang durasinya bukan kecepatan kerja kita.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Zona 1/2G sudah ditetapkan proposal, jadi bukan nol. Yang benar-benar terbuka adalah metode proteksi dan verifikasi T4 — dua hal ini yang menahan sisa dokumen.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penyeimbang — supaya rapat tidak terasa hanya daftar kekurangan. Semua item di sini sudah tertanam sebagai gambar/tabel nyata di dokumen submission, bukan sekadar ada di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slide ini: bagian yang bisa kita tulis sendiri sudah ditulis. Yang tersisa hampir semuanya menunggu keputusan rekayasa atau mitra casing — kecuali Bagian 1 yang murni administratif dan bisa langsung dikerjakan.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Baris 2 disorot karena satu-satunya yang berpotensi memaksa perubahan desain, bukan hanya dokumen. Kalau waktu rapat terbatas, bahas baris 1 dan 2 saja — sisanya bisa diputuskan lewat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slide: langkah 1 bukan pekerjaan besar, tapi selama belum diputuskan, empat pekerjaan di belakangnya tidak bisa dimulai. Ini alasan kenapa rapat hari ini sebaiknya menghasilkan keputusan, bukan tugas riset lanjutan.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dengan Termin 1 field testing 20% yang paketnya sudah final. Yang ini termin sertifikasi 40% dan kuncinya satu: sesi uji enclosure yang disaksikan Pertamina. Begitu sesi itu terjadi, lima dari tujuh baris tertutup sekaligus.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rapat dengan mengisi keempat kotak abu-abu: nama PIC dan tanggal. Kalau empat kotak itu terisi, rapat ini berhasil.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samakan bahasa satu tim. Kalau ada yang ditanya Pertamina di luar rapat, empat klaim di kotak bawah adalah yang tidak boleh keluar dari siapa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669280" cy="5669280"/>
          </a:xfrm>
          <a:prstGeom prst="ellipse">
            <a:avLst/>
          </a:prstGeom>
          <a:solidFill>
            <a:srgbClr val="1E4499">
              <a:alpha val="32000"/>
            </a:srgbClr>
          </a:solidFill>
          <a:ln w="12700">
            <a:solidFill>
              <a:srgbClr val="1E4499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2B5FCB">
              <a:alpha val="20000"/>
            </a:srgbClr>
          </a:solidFill>
          <a:ln w="12700">
            <a:solidFill>
              <a:srgbClr val="2B5FCB">
                <a:alpha val="2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841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F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LAPI GANESHA UTAMA  ·  LAB IoT ITB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258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Kesiapan Sertifikasi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ATEX / IECEx — GLD V2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46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status per 17 September 2026 — apa yang sudah ada, apa yang menahan, dan keputusan yang perlu diambil tim.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224528"/>
            <a:ext cx="5074920" cy="768096"/>
          </a:xfrm>
          <a:prstGeom prst="roundRect">
            <a:avLst>
              <a:gd name="adj" fmla="val 11905"/>
            </a:avLst>
          </a:prstGeom>
          <a:solidFill>
            <a:srgbClr val="B4520F"/>
          </a:solidFill>
          <a:ln w="12700">
            <a:solidFill>
              <a:srgbClr val="B452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4224528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6DCC8"/>
                </a:solidFill>
              </a:rPr>
              <a:t>STATUS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BELUM SIAP DIAJUKAN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440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internal tim  ·  Program GLD Tahap 2  ·  PT Pertamina Patra Niaga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760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dokumen teknis sertifikasi rev 0.1, Dashboard Sertifikasi 5 Sep 2026, audit kesiapan Termin 1 10 Sep 2026.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Posisi kita hari ini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E7ECF8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62763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≈42%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0428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internal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pra-submission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9260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yang ada di tangan tim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93008" y="1481328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12464" y="162763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712464" y="230428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keseluruhan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s/d sertifikat terbit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9260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antrean uji lab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19088" y="1481328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38544" y="162763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dari 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638544" y="230428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Butir 2.6 checklist ExCB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tersedia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38544" y="29260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sisanya baru sebagian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45168" y="1481328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64624" y="162763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564624" y="230428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dengan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Ex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564624" y="29260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FCC/CE/TELEC ≠ sertifikat 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584448"/>
            <a:ext cx="11055096" cy="2157984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3749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hal yang sering tertukar — pisahkan saat bicara ke Pertamina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41248" y="42062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submission ke ExCB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133088" y="416052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teknis rev 0.1 sudah 23 halaman dan berformat korporat, tapi Bagian 1 (legalitas &amp; organisasi) belum disusun dan mayoritas butir 2.6 belum ada. Belum bisa dikirim.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" y="504748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001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1 SPK sertifikasi (40%)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133088" y="50017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bukti uji enclosure, log iterasi desain, witness Pertamina, berita acara, dan laporan pekerjaan. Lima-limanya belum ada. Angka ≈42% bukan pengganti acceptance.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independen 3 Sep 2026 atas checklist 26 butir yang sama: 0 butir “terbukti tersedia”, 11 sebagian, 12 belum terbukti, 3 tidak berlaku.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 ANGKA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definisi angka — bukan kontradiksi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413248" cy="3429000"/>
          </a:xfrm>
          <a:prstGeom prst="roundRect">
            <a:avLst>
              <a:gd name="adj" fmla="val 1867"/>
            </a:avLst>
          </a:prstGeom>
          <a:solidFill>
            <a:srgbClr val="E7ECF8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7007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internal pra-submission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816352"/>
            <a:ext cx="47914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pekerjaan yang murni ada di tangan tim: scoping, redesign 4 track, dan uji pre-compliance internal.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menghitung antrean dan durasi pengujian di lab akreditasi eksternal.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Konvergen dengan estimasi Pak Maman “~40%”.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angka ini saat menjawab: “sejauh apa persiapan tim sudah berjalan?”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536192"/>
            <a:ext cx="5413248" cy="3429000"/>
          </a:xfrm>
          <a:prstGeom prst="roundRect">
            <a:avLst>
              <a:gd name="adj" fmla="val 1867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7007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≈20%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keseluruhan s/d sertifikat terbit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816352"/>
            <a:ext cx="47914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bottom-up: 5 fase × 4 track (ATEX/IP/EMC/RF).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fase Uji Lab Terakreditasi — bobot terbesar 41,7%, durasi 8–12 minggu, ditentukan jadwal lab.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paling konservatif, untuk proyeksi end-to-end.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angka ini saat menjawab: “kapan sertifikat terbit?”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5138928"/>
            <a:ext cx="11055096" cy="914400"/>
          </a:xfrm>
          <a:prstGeom prst="roundRect">
            <a:avLst>
              <a:gd name="adj" fmla="val 7000"/>
            </a:avLst>
          </a:prstGeom>
          <a:solidFill>
            <a:srgbClr val="FBEEE4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dicampur tanpa menyebut definisinya.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 “42% siap” tanpa konteks mudah terbaca sebagai “42% menuju sertifikat” — padahal fase uji lab yang paling panjang belum dimulai sama sekali.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SERTIFIKASI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klasifikasi &amp; empat track paralel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4956048" cy="2788920"/>
          </a:xfrm>
          <a:prstGeom prst="roundRect">
            <a:avLst>
              <a:gd name="adj" fmla="val 2295"/>
            </a:avLst>
          </a:prstGeom>
          <a:solidFill>
            <a:srgbClr val="E7ECF8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691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klasifikasi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57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1  </a:t>
            </a:r>
            <a:pPr indent="0" marL="0"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2G · Grup II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768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ditetapkan proposal 21 Feb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68496" y="2112264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E6F2EB"/>
          </a:solidFill>
          <a:ln w="12700">
            <a:solidFill>
              <a:srgbClr val="E6F2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68496" y="21122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587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(≤135 °C)  </a:t>
            </a:r>
            <a:pPr indent="0" marL="0"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suhu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072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ditargetkan, belum diverifikasi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68496" y="2642616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68496" y="264261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Sementara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118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gas IIC  </a:t>
            </a:r>
            <a:pPr indent="0" marL="0"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mencakup H2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337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tim, bukan keputusan ExCB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68496" y="3172968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68496" y="31729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Sementara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648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d / Ex e / Ex i  </a:t>
            </a:r>
            <a:pPr indent="0" marL="0"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proteksi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8679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diputuskan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68496" y="370332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68496" y="370332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97296" y="1536192"/>
            <a:ext cx="5824728" cy="2788920"/>
          </a:xfrm>
          <a:prstGeom prst="roundRect">
            <a:avLst>
              <a:gd name="adj" fmla="val 229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071616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track paralel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071616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61504" y="2075688"/>
            <a:ext cx="1024128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61504" y="2075688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Tertinggal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071616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2014/34/EU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71616" y="254203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tertinggal — gambar teknik, BOM Ex, datasheet material, draft manual semua masih perlu disusun.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66/67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75688"/>
            <a:ext cx="1024128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59568" y="2075688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254203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desain selubung dari mitra casing; gasket &amp; cable gland belum ditentukan.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71616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61504" y="3136392"/>
            <a:ext cx="1024128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61504" y="313639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Termatang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071616" y="3383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61000-6-2 / -4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071616" y="360273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matang — tabel parameter lengkap sejak 19 Agu. Belum ada pre-scan/uji lab.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259568" y="3136392"/>
            <a:ext cx="1024128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59568" y="313639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869680" y="3383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/ SDPPI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869680" y="360273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E22-900MM22S sudah bersertifikat RF; berkas pengajuan belum disusun.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4517136"/>
            <a:ext cx="11055096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41248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sertifikasi = Node Sensor (GLD) saja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841248" y="4992624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 dan Gateway diasumsikan selalu berada di safe area, sehingga tidak masuk cakupan submission. Asumsi ini berasal dari konfirmasi internal, bukan hasil kajian klasifikasi area formal oleh Pertamina — perlu dikunci tertulis sebelum submission, karena kalau meleset, cakupan sertifikasi bertambah dua perangkat.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12 Jun 2026 · estimasi durasi total 5–8 bulan (≈Nov 2026 – Feb 2027) menurut proposal sertifikasi terpadu ATEX/IP/EMC/RF.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YANG SUDAH DI TANGAN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teknis yang sudah terkumpul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66160" cy="1389888"/>
          </a:xfrm>
          <a:prstGeom prst="roundRect">
            <a:avLst>
              <a:gd name="adj" fmla="val 460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365760" cy="36576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739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teknis submission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31136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halaman, format korporat resmi (No. LGU/GLD/IECEX-TDF/2026-001). Bagian 2 butir 1–6 dan Bagian 3 sudah terisi.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566160" cy="1389888"/>
          </a:xfrm>
          <a:prstGeom prst="roundRect">
            <a:avLst>
              <a:gd name="adj" fmla="val 460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792224"/>
            <a:ext cx="365760" cy="36576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65776" y="17739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blok skematik 9 lembar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231136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trace skematik EasyEDA asli — 204 komponen dengan bukti pin-to-net yang dapat ditelusuri.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4736" y="1572768"/>
            <a:ext cx="3566160" cy="1389888"/>
          </a:xfrm>
          <a:prstGeom prst="roundRect">
            <a:avLst>
              <a:gd name="adj" fmla="val 460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792224"/>
            <a:ext cx="365760" cy="36576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739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&amp; model 3D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231136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native EasyEDA/JLCPCB (routed copper) untuk papan utama, plus render 3D papan terpasang.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200400"/>
            <a:ext cx="3566160" cy="1389888"/>
          </a:xfrm>
          <a:prstGeom prst="roundRect">
            <a:avLst>
              <a:gd name="adj" fmla="val 460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419856"/>
            <a:ext cx="365760" cy="36576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4015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elektronik dua papan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3858768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Motherboard 89 baris / 214 komponen dan sensor board 14 baris / 24 komponen, lengkap manufacturer &amp; part number.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200400"/>
            <a:ext cx="3566160" cy="1389888"/>
          </a:xfrm>
          <a:prstGeom prst="roundRect">
            <a:avLst>
              <a:gd name="adj" fmla="val 460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419856"/>
            <a:ext cx="365760" cy="36576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08576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65776" y="34015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CAD bertoleransi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3858768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STEP dalam milimeter: leher selubung ⌀75 mm, tinggi probe 191,51 mm, pelat mounting 250×250 mm.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4736" y="3200400"/>
            <a:ext cx="3566160" cy="1389888"/>
          </a:xfrm>
          <a:prstGeom prst="roundRect">
            <a:avLst>
              <a:gd name="adj" fmla="val 460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3419856"/>
            <a:ext cx="365760" cy="365760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4015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Prototipe fisik &amp; foto produk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3858768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enclosure terakit (foto 26 Agu 2026) dan 7 foto produk yang sudah masuk dokumen submission.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864608"/>
            <a:ext cx="11055096" cy="1078992"/>
          </a:xfrm>
          <a:prstGeom prst="roundRect">
            <a:avLst>
              <a:gd name="adj" fmla="val 5932"/>
            </a:avLst>
          </a:prstGeom>
          <a:solidFill>
            <a:srgbClr val="E6F2EB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41248" y="4864608"/>
            <a:ext cx="10515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 rekayasa dan bukti perangkat keras sudah cukup kuat. Yang kurang bukan “barangnya belum ada”, melainkan dokumen berformat sertifikasi — kalkulasi, datasheet material, dan keputusan rekayasa yang harus diambil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CHECKLIST EXCB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berkas vs daftar persyaratan ExCB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5074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88736" y="1572768"/>
            <a:ext cx="5733288" cy="2286000"/>
          </a:xfrm>
          <a:prstGeom prst="roundRect">
            <a:avLst>
              <a:gd name="adj" fmla="val 2800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44768" y="1719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2.6 — desain &amp; manufaktur (a–i)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44768" y="20665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19088" y="2066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lengkap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802368" y="2066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144768" y="22539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22539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komponen Ex-critical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802368" y="22539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144768" y="24414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19088" y="24414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material non-logam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802368" y="2441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44768" y="26289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26289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proses manufaktur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802368" y="26289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144768" y="281635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28163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Kalkulasi proteksi ledakan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02368" y="28163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4768" y="300380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30038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Kalkulasi kelas suhu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802368" y="30038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144768" y="31912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19088" y="31912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 pakai &amp; instalasi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802368" y="3191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144768" y="33787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h)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419088" y="33787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nameplate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9802368" y="33787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144768" y="3566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i)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419088" y="35661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komponen Ex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802368" y="35661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6928" y="4041648"/>
            <a:ext cx="5413248" cy="1783080"/>
          </a:xfrm>
          <a:prstGeom prst="roundRect">
            <a:avLst>
              <a:gd name="adj" fmla="val 3590"/>
            </a:avLst>
          </a:prstGeom>
          <a:solidFill>
            <a:srgbClr val="FBEEE4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41248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belum ada sama sekali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41248" y="4535424"/>
            <a:ext cx="4864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dasar aplikasi &amp; organisasi: formulir ExCB, izin usaha, struktur organisasi, profil fasilitas manufaktur, ISO 9001. Murni administratif — tidak menunggu siapa pun, bisa jalan minggu ini.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208776" y="4041648"/>
            <a:ext cx="541324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83096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&amp; 3 sudah terisi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83096" y="4535424"/>
            <a:ext cx="4864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produk, spesifikasi, parameter teknis, foto, lingkungan instalasi, dan informasi sampel sudah tertulis — dengan status apa adanya, tanpa mengarang angka.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Hitungan butir diambil dari badge status di dokumen teknis sertifikasi rev 0.1 (HTML/PDF/DOCX, 23 halaman).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hal yang menahan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5096" cy="841248"/>
          </a:xfrm>
          <a:prstGeom prst="roundRect">
            <a:avLst>
              <a:gd name="adj" fmla="val 7609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37360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6184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proteksi belum diputuskan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184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d, Ex e, atau Ex i belum dipilih dan belum dikonfirmasi ke ExCB.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01584" y="16184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Menahan kalkulasi proteksi ledakan (2.6.e), dimensi flame-path pada gambar, dan arah desain ke mitra casing.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5096" cy="841248"/>
          </a:xfrm>
          <a:prstGeom prst="roundRect">
            <a:avLst>
              <a:gd name="adj" fmla="val 7609"/>
            </a:avLst>
          </a:prstGeom>
          <a:solidFill>
            <a:srgbClr val="FBEEE4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2670048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55117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suhu T4 belum diverifikasi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5511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pengukuran maupun kalkulasi hot-spot. Heater sensor MQ lazim bekerja di ~200–400 °C, sedangkan T4 berarti ≤135 °C.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01584" y="25511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teknis terbesar: kalau hot-spot gagal, desain sensing head harus diubah — bukan sekadar revisi dokumen.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11055096" cy="841248"/>
          </a:xfrm>
          <a:prstGeom prst="roundRect">
            <a:avLst>
              <a:gd name="adj" fmla="val 7609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3602736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348386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belum disusun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48386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aplikasi, izin usaha, struktur organisasi, profil fasilitas, ISO 9001.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101584" y="34838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tidak bisa dibuka meski berkas teknis lengkap. Ini satu-satunya item yang tidak bergantung pihak lain.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315968"/>
            <a:ext cx="11055096" cy="841248"/>
          </a:xfrm>
          <a:prstGeom prst="roundRect">
            <a:avLst>
              <a:gd name="adj" fmla="val 7609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535424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16736" y="44165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komponen bersertifikat Ex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41655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arrestor sinter-metal di elemen sensing belum masuk BOM; baterai Li-ion 18650 di node belum diverifikasi Ex.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101584" y="4416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Butir 2.6.i kosong. Sertifikat FCC/TELEC/CE pada ESP32-S3 dan modul LoRa tidak memenuhi syarat ini.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248656"/>
            <a:ext cx="11055096" cy="841248"/>
          </a:xfrm>
          <a:prstGeom prst="roundRect">
            <a:avLst>
              <a:gd name="adj" fmla="val 7609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" y="5468112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6384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16736" y="5349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yang menunggu mitra casing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5349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material non-logam, proses manufaktur, BOM Ex-critical (gasket, cable gland, potting), nameplate.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01584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pekerjaan yang berhenti, tapi jadwalnya di luar kendali kita — perlu komitmen tanggal dari mitra.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316736" y="1298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PENGHAMBAT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1298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SAAT INI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101584" y="1298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KERJA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Jalur kritis — apa yang harus lebih dulu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048256" cy="2240280"/>
          </a:xfrm>
          <a:prstGeom prst="roundRect">
            <a:avLst>
              <a:gd name="adj" fmla="val 3125"/>
            </a:avLst>
          </a:prstGeom>
          <a:solidFill>
            <a:srgbClr val="E7ECF8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38528"/>
            <a:ext cx="384048" cy="384048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32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Putuskan metode proteksi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d vs Ex i, dikonfirmasi ke ExCB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4 pekerjaan sekaligus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42616" y="2770632"/>
            <a:ext cx="155448" cy="182880"/>
          </a:xfrm>
          <a:prstGeom prst="rightArrow">
            <a:avLst/>
          </a:prstGeom>
          <a:solidFill>
            <a:srgbClr val="D5DCE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737360"/>
            <a:ext cx="2048256" cy="2240280"/>
          </a:xfrm>
          <a:prstGeom prst="roundRect">
            <a:avLst>
              <a:gd name="adj" fmla="val 312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35808" y="1938528"/>
            <a:ext cx="384048" cy="384048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358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432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hot-spot sensor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terburuk, terdokumentasi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atau koreksi klaim T4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770632"/>
            <a:ext cx="155448" cy="182880"/>
          </a:xfrm>
          <a:prstGeom prst="rightArrow">
            <a:avLst/>
          </a:prstGeom>
          <a:solidFill>
            <a:srgbClr val="D5DCE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1737360"/>
            <a:ext cx="2048256" cy="2240280"/>
          </a:xfrm>
          <a:prstGeom prst="roundRect">
            <a:avLst>
              <a:gd name="adj" fmla="val 312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5232" y="1938528"/>
            <a:ext cx="384048" cy="384048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2432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kalkulasi &amp; gambar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66944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Flame-path, kelas suhu, drawing pack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66944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2.6.a, e, 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41464" y="2770632"/>
            <a:ext cx="155448" cy="182880"/>
          </a:xfrm>
          <a:prstGeom prst="rightArrow">
            <a:avLst/>
          </a:prstGeom>
          <a:solidFill>
            <a:srgbClr val="D5DCE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737360"/>
            <a:ext cx="2048256" cy="2240280"/>
          </a:xfrm>
          <a:prstGeom prst="roundRect">
            <a:avLst>
              <a:gd name="adj" fmla="val 312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34656" y="1938528"/>
            <a:ext cx="384048" cy="384048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34656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16368" y="2432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BOM Ex &amp; material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16368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mitra casing + flame arrestor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2.6.b, c, d, h, 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90888" y="2770632"/>
            <a:ext cx="155448" cy="182880"/>
          </a:xfrm>
          <a:prstGeom prst="rightArrow">
            <a:avLst/>
          </a:prstGeom>
          <a:solidFill>
            <a:srgbClr val="D5DCE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64624" y="1737360"/>
            <a:ext cx="2048256" cy="2240280"/>
          </a:xfrm>
          <a:prstGeom prst="roundRect">
            <a:avLst>
              <a:gd name="adj" fmla="val 3125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84080" y="1938528"/>
            <a:ext cx="384048" cy="384048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765792" y="2432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uji ber-witness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765792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Disaksikan &amp; divalidasi Pertamina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765792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Termin 1 sekaligus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4224528"/>
            <a:ext cx="541324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41248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bisa jalan paralel sekarang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4718304"/>
            <a:ext cx="4864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Bagian 1 (legalitas, struktur organisasi, ISO 9001) — tidak bergantung keputusan rekayasa.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safety warning &amp; instruksi instalasi Ex (2.6.g butir a).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Penguncian tertulis asumsi CH/Gateway berada di safe area.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08776" y="4224528"/>
            <a:ext cx="5413248" cy="1700784"/>
          </a:xfrm>
          <a:prstGeom prst="roundRect">
            <a:avLst>
              <a:gd name="adj" fmla="val 3763"/>
            </a:avLst>
          </a:prstGeom>
          <a:solidFill>
            <a:srgbClr val="FBEEE4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483096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tidak bisa dipercepat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83096" y="4718304"/>
            <a:ext cx="4864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Uji Lab Terakreditasi: 8–12 minggu, bobot 41,7% dari total perjalanan.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&amp; penjadwalan lab eksternal — bukan fungsi kecepatan kerja tim.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setiap minggu tertunda di hulu menggeser tanggal sertifikat satu-untuk-satu.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 1 sertifikasi (40%) — belum layak diajukan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45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453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Prototipe enclosure tersedia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60934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F6F1DC"/>
          </a:solidFill>
          <a:ln w="12700">
            <a:solidFill>
              <a:srgbClr val="F6F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16093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05856" y="154533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perakitan 26 Agu ada; identitas unit, nomor seri, dan lembar identifikasi sampel belum.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939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939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Prototipe telah diuji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15798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215798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terbukti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705856" y="209397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uji fungsi sistem &amp; LoRa, tapi bukan uji enclosure (mekanik, termal, sealing, fault).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578608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6426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642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iterasi perbaikan desain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70662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70662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terbukti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05856" y="264261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“ATEX Casing v2” adalah model mounting, bukan riwayat iterasi berbasis hasil uji.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191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191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Disaksikan &amp; divalidasi Pertamina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325526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325526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terbukti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705856" y="319125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Notulen rapat ada, witness sheet dan pernyataan penerimaan hasil belum ada.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675888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37398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739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uji lab terakreditasi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06240" y="380390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E6F2EB"/>
          </a:solidFill>
          <a:ln w="12700">
            <a:solidFill>
              <a:srgbClr val="E6F2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0" y="380390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aman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705856" y="373989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klaim pengujian lab, jadi urutan kerja masih memungkinkan.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42885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4288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acara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6240" y="435254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06240" y="43525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705856" y="428853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Notulen pembahasan tidak setara berita acara validasi hasil uji.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4773168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48371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48371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pekerjaan Termin 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06240" y="4901184"/>
            <a:ext cx="1353312" cy="246888"/>
          </a:xfrm>
          <a:prstGeom prst="roundRect">
            <a:avLst>
              <a:gd name="adj" fmla="val 48148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06240" y="490118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705856" y="483717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gap analysis bukan laporan pelaksanaan pengujian.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5449824"/>
            <a:ext cx="11055096" cy="749808"/>
          </a:xfrm>
          <a:prstGeom prst="roundRect">
            <a:avLst>
              <a:gd name="adj" fmla="val 8537"/>
            </a:avLst>
          </a:prstGeom>
          <a:solidFill>
            <a:srgbClr val="FBEEE4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41248" y="544982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“≈42% kesiapan internal” bukan bukti acceptance milestone pembayaran.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template kerja (log uji &amp; iterasi, berita acara validasi, laporan pekerjaan) sudah tersedia di Paket Pertamina/02_Sertifikasi_ATEX_IECEx/ — tinggal diisi setelah sesi uji.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DIMINTA DARI RAPAT INI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keputusan — bukan empat tugas riset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20624" cy="420624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proteksi Ex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Ex d atau Ex i untuk dikonfirmasi ke ExCB.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3767328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7673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Perlu: pemilik keputusan teknis + tanggal konfirmasi ke ExCB.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627632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0752" y="1828800"/>
            <a:ext cx="420624" cy="420624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075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hot-spot sensor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PIC, alat ukur, dan tanggal pengukuran suhu titik terpanas.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30752" y="3767328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37673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Perlu: PIC + ketersediaan alat ukur suhu terkalibrasi.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19088" y="1627632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1828800"/>
            <a:ext cx="420624" cy="420624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5683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uji ber-witness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tanggal usulan sesi uji enclosure bersama Pertamina.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56832" y="3767328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37673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Perlu: tanggal usulan + nama perwakilan Pertamina yang berwenang.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45168" y="1627632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82912" y="1828800"/>
            <a:ext cx="420624" cy="420624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8291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582912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Bagian 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82912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 PIC pengumpulan legalitas, struktur organisasi, dan ISO 9001.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82912" y="3767328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7ECF8"/>
          </a:solidFill>
          <a:ln w="12700">
            <a:solidFill>
              <a:srgbClr val="E7EC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92640" y="37673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Perlu: PIC administratif + target selesai (bisa minggu ini).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4681728"/>
            <a:ext cx="11055096" cy="128016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 w="9525">
            <a:solidFill>
              <a:srgbClr val="D5DCEC"/>
            </a:solidFill>
            <a:prstDash val="solid"/>
          </a:ln>
          <a:effectLst>
            <a:outerShdw sx="100000" sy="100000" kx="0" ky="0" algn="bl" rotWithShape="0" blurRad="127000" dist="25400" dir="5400000">
              <a:srgbClr val="1A274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1248" y="4809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kerangka empat minggu setelah keputusan diambil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" y="5376672"/>
            <a:ext cx="2542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proteksi + Bagian 1 mulai dikumpulkan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520440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520440" y="5376672"/>
            <a:ext cx="2542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hot-spot + draft safety warning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199632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199632" y="5376672"/>
            <a:ext cx="2542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Kalkulasi &amp; drawing pack; koordinasi mitra casing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878824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878824" y="5376672"/>
            <a:ext cx="2542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internal, lalu ajukan tanggal sesi witness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ini usulan untuk dibahas, bukan komitmen jadwal — tanggal pasti bergantung ketersediaan alat ukur, mitra casing, dan perwakilan Pertamina.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023360"/>
            <a:ext cx="4206240" cy="4206240"/>
          </a:xfrm>
          <a:prstGeom prst="ellipse">
            <a:avLst/>
          </a:prstGeom>
          <a:solidFill>
            <a:srgbClr val="1E4499">
              <a:alpha val="28000"/>
            </a:srgbClr>
          </a:solidFill>
          <a:ln w="12700">
            <a:solidFill>
              <a:srgbClr val="1E4499">
                <a:alpha val="2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9F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YANG DIBAWA KELUAR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kalimat untuk dipakai seragam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0424160" cy="1024128"/>
          </a:xfrm>
          <a:prstGeom prst="roundRect">
            <a:avLst>
              <a:gd name="adj" fmla="val 6250"/>
            </a:avLst>
          </a:prstGeom>
          <a:solidFill>
            <a:srgbClr val="34302C"/>
          </a:solidFill>
          <a:ln w="9525">
            <a:solidFill>
              <a:srgbClr val="413C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9696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7510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Perangkatnya matang, berkasnya belum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58968" y="197510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Prototipe, skematik, PCB, BOM elektronik, dan gambar CAD sudah nyata. Yang belum adalah dokumen berformat sertifikasi dan dua keputusan rekayasa di hulu.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10424160" cy="1024128"/>
          </a:xfrm>
          <a:prstGeom prst="roundRect">
            <a:avLst>
              <a:gd name="adj" fmla="val 6250"/>
            </a:avLst>
          </a:prstGeom>
          <a:solidFill>
            <a:srgbClr val="34302C"/>
          </a:solidFill>
          <a:ln w="9525">
            <a:solidFill>
              <a:srgbClr val="413C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310128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31455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keputusan membuka empat pekerjaan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58968" y="3145536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proteksi (Ex d / Ex i) menahan kalkulasi, gambar flame-path, arah desain casing, dan sebagian BOM sekaligus.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10424160" cy="1024128"/>
          </a:xfrm>
          <a:prstGeom prst="roundRect">
            <a:avLst>
              <a:gd name="adj" fmla="val 6250"/>
            </a:avLst>
          </a:prstGeom>
          <a:solidFill>
            <a:srgbClr val="34302C"/>
          </a:solidFill>
          <a:ln w="9525">
            <a:solidFill>
              <a:srgbClr val="413C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480560"/>
            <a:ext cx="402336" cy="402336"/>
          </a:xfrm>
          <a:prstGeom prst="ellipse">
            <a:avLst/>
          </a:prstGeom>
          <a:solidFill>
            <a:srgbClr val="2B5FCB"/>
          </a:solidFill>
          <a:ln w="12700">
            <a:solidFill>
              <a:srgbClr val="2B5F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3159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1 sertifikasi butuh sesi uji, bukan dokumen tambahan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58968" y="431596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Kuncinya satu sesi uji enclosure yang disaksikan Pertamina — bukan menambah laporan status.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504688"/>
            <a:ext cx="10424160" cy="694944"/>
          </a:xfrm>
          <a:prstGeom prst="roundRect">
            <a:avLst>
              <a:gd name="adj" fmla="val 9211"/>
            </a:avLst>
          </a:prstGeom>
          <a:solidFill>
            <a:srgbClr val="3A2A1C"/>
          </a:solidFill>
          <a:ln w="9525">
            <a:solidFill>
              <a:srgbClr val="5B40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504688"/>
            <a:ext cx="9875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0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diklaim: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sudah tersertifikasi · sudah lulus lab terakreditasi · Termin 1 sertifikasi sudah dipenuhi · grup gas IIC sudah disetujui ExCB.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PT LAPI Ganesha Utama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Kesiapan Sertifikasi ATEX/IECEx — GLD V2</dc:title>
  <dc:subject>PptxGenJS Presentation</dc:subject>
  <dc:creator>LAPI Ganesha Utama</dc:creator>
  <cp:lastModifiedBy>LAPI Ganesha Utama</cp:lastModifiedBy>
  <cp:revision>1</cp:revision>
  <dcterms:created xsi:type="dcterms:W3CDTF">2026-09-17T01:49:22Z</dcterms:created>
  <dcterms:modified xsi:type="dcterms:W3CDTF">2026-09-17T01:49:22Z</dcterms:modified>
</cp:coreProperties>
</file>