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16"/>
    <p:sldId id="257" r:id="rId17"/>
    <p:sldId id="258" r:id="rId15"/>
    <p:sldId id="259" r:id="rId14"/>
    <p:sldId id="260" r:id="rId13"/>
    <p:sldId id="261" r:id="rId12"/>
    <p:sldId id="262" r:id="rId11"/>
    <p:sldId id="263" r:id="rId10"/>
    <p:sldId id="264" r:id="rId9"/>
    <p:sldId id="265" r:id="rId8"/>
    <p:sldId id="266" r:id="rId7"/>
    <p:sldId id="267" r:id="rId6"/>
    <p:sldId id="268" r:id="rId28"/>
  </p:sldIdLst>
  <p:sldSz cy="5143500" cx="9144000"/>
  <p:notesSz cx="6858000" cy="9144000"/>
  <p:embeddedFontLst>
    <p:embeddedFont>
      <p:font typeface="Play"/>
      <p:regular r:id="rId18"/>
      <p:bold r:id="rId19"/>
    </p:embeddedFont>
    <p:embeddedFont>
      <p:font typeface="Roboto"/>
      <p:regular r:id="rId20"/>
      <p:bold r:id="rId21"/>
      <p:italic r:id="rId22"/>
      <p:boldItalic r:id="rId23"/>
    </p:embeddedFont>
    <p:embeddedFont>
      <p:font typeface="Inter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847CA0B-084C-4B91-A1F8-A495A893E8B3}">
  <a:tblStyle styleId="{6847CA0B-084C-4B91-A1F8-A495A893E8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0.xml"/><Relationship Id="rId9" Type="http://schemas.openxmlformats.org/officeDocument/2006/relationships/slide" Target="slides/slide9.xml"/><Relationship Id="rId10" Type="http://schemas.openxmlformats.org/officeDocument/2006/relationships/slide" Target="slides/slide8.xml"/><Relationship Id="rId11" Type="http://schemas.openxmlformats.org/officeDocument/2006/relationships/slide" Target="slides/slide7.xml"/><Relationship Id="rId12" Type="http://schemas.openxmlformats.org/officeDocument/2006/relationships/slide" Target="slides/slide6.xml"/><Relationship Id="rId13" Type="http://schemas.openxmlformats.org/officeDocument/2006/relationships/slide" Target="slides/slide5.xml"/><Relationship Id="rId14" Type="http://schemas.openxmlformats.org/officeDocument/2006/relationships/slide" Target="slides/slide4.xml"/><Relationship Id="rId15" Type="http://schemas.openxmlformats.org/officeDocument/2006/relationships/slide" Target="slides/slide3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font" Target="fonts/Play-regular.fntdata"/><Relationship Id="rId19" Type="http://schemas.openxmlformats.org/officeDocument/2006/relationships/font" Target="fonts/Play-bold.fntdata"/><Relationship Id="rId20" Type="http://schemas.openxmlformats.org/officeDocument/2006/relationships/font" Target="fonts/Roboto-regular.fntdata"/><Relationship Id="rId21" Type="http://schemas.openxmlformats.org/officeDocument/2006/relationships/font" Target="fonts/Roboto-bold.fntdata"/><Relationship Id="rId22" Type="http://schemas.openxmlformats.org/officeDocument/2006/relationships/font" Target="fonts/Roboto-italic.fntdata"/><Relationship Id="rId23" Type="http://schemas.openxmlformats.org/officeDocument/2006/relationships/font" Target="fonts/Roboto-boldItalic.fntdata"/><Relationship Id="rId24" Type="http://schemas.openxmlformats.org/officeDocument/2006/relationships/font" Target="fonts/Inter-regular.fntdata"/><Relationship Id="rId25" Type="http://schemas.openxmlformats.org/officeDocument/2006/relationships/font" Target="fonts/Inter-bold.fntdata"/><Relationship Id="rId26" Type="http://schemas.openxmlformats.org/officeDocument/2006/relationships/font" Target="fonts/Inter-italic.fntdata"/><Relationship Id="rId27" Type="http://schemas.openxmlformats.org/officeDocument/2006/relationships/font" Target="fonts/Inter-boldItalic.fntdata"/><Relationship Id="rId28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373389" y="1333500"/>
            <a:ext cx="7776600" cy="8982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b="1" sz="4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73380" y="2314574"/>
            <a:ext cx="6858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00B0F0"/>
              </a:buClr>
              <a:buSzPts val="1800"/>
              <a:buFont typeface="Inter"/>
              <a:buNone/>
              <a:defRPr sz="1800">
                <a:solidFill>
                  <a:srgbClr val="00B0F0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14" name="Google Shape;14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5531" y="352425"/>
            <a:ext cx="847370" cy="4658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">
  <p:cSld name="Divid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1516388" y="1020335"/>
            <a:ext cx="6858000" cy="14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b="1" sz="4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5531" y="352425"/>
            <a:ext cx="847370" cy="4658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small text">
  <p:cSld name="Title-small text">
    <p:bg>
      <p:bgPr>
        <a:solidFill>
          <a:schemeClr val="lt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>
            <p:ph type="title"/>
          </p:nvPr>
        </p:nvSpPr>
        <p:spPr>
          <a:xfrm>
            <a:off x="288829" y="1164220"/>
            <a:ext cx="2312700" cy="56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Roboto"/>
              <a:buNone/>
              <a:defRPr b="1" sz="27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2715016" y="1164220"/>
            <a:ext cx="5410200" cy="5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350"/>
              <a:buFont typeface="Inter"/>
              <a:buNone/>
              <a:defRPr sz="135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Font typeface="Inter"/>
              <a:buNone/>
              <a:defRPr sz="15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Font typeface="Inter"/>
              <a:buNone/>
              <a:defRPr sz="135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pic>
        <p:nvPicPr>
          <p:cNvPr id="21" name="Google Shape;21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2235" y="314979"/>
            <a:ext cx="962102" cy="5289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Graphic 1">
  <p:cSld name="2_Graphic 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288829" y="1164220"/>
            <a:ext cx="2312700" cy="5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E64AD"/>
              </a:buClr>
              <a:buSzPts val="2700"/>
              <a:buFont typeface="Inter"/>
              <a:buNone/>
              <a:defRPr b="1" sz="2700">
                <a:solidFill>
                  <a:srgbClr val="2E64AD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2715016" y="1164220"/>
            <a:ext cx="5060700" cy="21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350"/>
              <a:buFont typeface="Inter"/>
              <a:buNone/>
              <a:defRPr sz="135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Font typeface="Inter"/>
              <a:buNone/>
              <a:defRPr sz="15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Font typeface="Inter"/>
              <a:buNone/>
              <a:defRPr sz="135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pic>
        <p:nvPicPr>
          <p:cNvPr id="25" name="Google Shape;2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4634" y="4028543"/>
            <a:ext cx="2889395" cy="1164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09951" y="-24632"/>
            <a:ext cx="1183315" cy="1164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2235" y="314979"/>
            <a:ext cx="962102" cy="5289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Blank Logo">
  <p:cSld name="2_Blank Logo">
    <p:bg>
      <p:bgPr>
        <a:solidFill>
          <a:srgbClr val="18467F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88819" y="1164225"/>
            <a:ext cx="5982000" cy="5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F0"/>
              </a:buClr>
              <a:buSzPts val="2700"/>
              <a:buFont typeface="Inter"/>
              <a:buNone/>
              <a:defRPr b="1" sz="2700">
                <a:solidFill>
                  <a:srgbClr val="00B0F0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288829" y="1865379"/>
            <a:ext cx="3526500" cy="21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350"/>
              <a:buFont typeface="Inter"/>
              <a:buNone/>
              <a:defRPr sz="135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Font typeface="Inter"/>
              <a:buNone/>
              <a:defRPr sz="15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Font typeface="Inter"/>
              <a:buNone/>
              <a:defRPr sz="135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pic>
        <p:nvPicPr>
          <p:cNvPr id="31" name="Google Shape;31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5531" y="352425"/>
            <a:ext cx="847370" cy="4658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Image">
  <p:cSld name="Big Image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288823" y="1164225"/>
            <a:ext cx="3526500" cy="5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E64AD"/>
              </a:buClr>
              <a:buSzPts val="2700"/>
              <a:buFont typeface="Inter"/>
              <a:buNone/>
              <a:defRPr b="1" sz="2700">
                <a:solidFill>
                  <a:srgbClr val="2E64AD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288829" y="1865379"/>
            <a:ext cx="3526500" cy="21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350"/>
              <a:buFont typeface="Inter"/>
              <a:buNone/>
              <a:defRPr sz="135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Font typeface="Inter"/>
              <a:buNone/>
              <a:defRPr sz="15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Font typeface="Inter"/>
              <a:buNone/>
              <a:defRPr sz="135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Font typeface="Inter"/>
              <a:buNone/>
              <a:defRPr sz="1200">
                <a:solidFill>
                  <a:srgbClr val="757575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35" name="Google Shape;35;p7"/>
          <p:cNvSpPr/>
          <p:nvPr>
            <p:ph idx="2" type="pic"/>
          </p:nvPr>
        </p:nvSpPr>
        <p:spPr>
          <a:xfrm>
            <a:off x="4105141" y="1"/>
            <a:ext cx="5038800" cy="5143500"/>
          </a:xfrm>
          <a:prstGeom prst="rect">
            <a:avLst/>
          </a:prstGeom>
          <a:noFill/>
          <a:ln>
            <a:noFill/>
          </a:ln>
        </p:spPr>
      </p:sp>
      <p:pic>
        <p:nvPicPr>
          <p:cNvPr id="36" name="Google Shape;36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2235" y="314979"/>
            <a:ext cx="962102" cy="5289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Logo">
  <p:cSld name="Blank Logo">
    <p:bg>
      <p:bgPr>
        <a:solidFill>
          <a:srgbClr val="18467F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oogle Shape;38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5531" y="352425"/>
            <a:ext cx="847370" cy="4658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 Logo">
  <p:cSld name="1_Blank Logo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2235" y="314979"/>
            <a:ext cx="962102" cy="5289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900"/>
            </a:lvl1pPr>
            <a:lvl2pPr indent="0" lvl="1" marL="0" algn="r">
              <a:spcBef>
                <a:spcPts val="0"/>
              </a:spcBef>
              <a:buNone/>
              <a:defRPr sz="900"/>
            </a:lvl2pPr>
            <a:lvl3pPr indent="0" lvl="2" marL="0" algn="r">
              <a:spcBef>
                <a:spcPts val="0"/>
              </a:spcBef>
              <a:buNone/>
              <a:defRPr sz="900"/>
            </a:lvl3pPr>
            <a:lvl4pPr indent="0" lvl="3" marL="0" algn="r">
              <a:spcBef>
                <a:spcPts val="0"/>
              </a:spcBef>
              <a:buNone/>
              <a:defRPr sz="900"/>
            </a:lvl4pPr>
            <a:lvl5pPr indent="0" lvl="4" marL="0" algn="r">
              <a:spcBef>
                <a:spcPts val="0"/>
              </a:spcBef>
              <a:buNone/>
              <a:defRPr sz="900"/>
            </a:lvl5pPr>
            <a:lvl6pPr indent="0" lvl="5" marL="0" algn="r">
              <a:spcBef>
                <a:spcPts val="0"/>
              </a:spcBef>
              <a:buNone/>
              <a:defRPr sz="900"/>
            </a:lvl6pPr>
            <a:lvl7pPr indent="0" lvl="6" marL="0" algn="r">
              <a:spcBef>
                <a:spcPts val="0"/>
              </a:spcBef>
              <a:buNone/>
              <a:defRPr sz="900"/>
            </a:lvl7pPr>
            <a:lvl8pPr indent="0" lvl="7" marL="0" algn="r">
              <a:spcBef>
                <a:spcPts val="0"/>
              </a:spcBef>
              <a:buNone/>
              <a:defRPr sz="900"/>
            </a:lvl8pPr>
            <a:lvl9pPr indent="0" lvl="8" marL="0" algn="r">
              <a:spcBef>
                <a:spcPts val="0"/>
              </a:spcBef>
              <a:buNone/>
              <a:defRPr sz="9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">
  <p:cSld name="1_Blank">
    <p:bg>
      <p:bgPr>
        <a:solidFill>
          <a:srgbClr val="18467F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 1">
  <p:cSld name="1_Blank_1">
    <p:bg>
      <p:bgPr>
        <a:solidFill>
          <a:srgbClr val="18467F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5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5531" y="352425"/>
            <a:ext cx="847370" cy="4658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Blank">
  <p:cSld name="2_Blank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900"/>
            </a:lvl1pPr>
            <a:lvl2pPr indent="0" lvl="1" marL="0" algn="r">
              <a:spcBef>
                <a:spcPts val="0"/>
              </a:spcBef>
              <a:buNone/>
              <a:defRPr sz="900"/>
            </a:lvl2pPr>
            <a:lvl3pPr indent="0" lvl="2" marL="0" algn="r">
              <a:spcBef>
                <a:spcPts val="0"/>
              </a:spcBef>
              <a:buNone/>
              <a:defRPr sz="900"/>
            </a:lvl3pPr>
            <a:lvl4pPr indent="0" lvl="3" marL="0" algn="r">
              <a:spcBef>
                <a:spcPts val="0"/>
              </a:spcBef>
              <a:buNone/>
              <a:defRPr sz="900"/>
            </a:lvl4pPr>
            <a:lvl5pPr indent="0" lvl="4" marL="0" algn="r">
              <a:spcBef>
                <a:spcPts val="0"/>
              </a:spcBef>
              <a:buNone/>
              <a:defRPr sz="900"/>
            </a:lvl5pPr>
            <a:lvl6pPr indent="0" lvl="5" marL="0" algn="r">
              <a:spcBef>
                <a:spcPts val="0"/>
              </a:spcBef>
              <a:buNone/>
              <a:defRPr sz="900"/>
            </a:lvl6pPr>
            <a:lvl7pPr indent="0" lvl="6" marL="0" algn="r">
              <a:spcBef>
                <a:spcPts val="0"/>
              </a:spcBef>
              <a:buNone/>
              <a:defRPr sz="900"/>
            </a:lvl7pPr>
            <a:lvl8pPr indent="0" lvl="7" marL="0" algn="r">
              <a:spcBef>
                <a:spcPts val="0"/>
              </a:spcBef>
              <a:buNone/>
              <a:defRPr sz="900"/>
            </a:lvl8pPr>
            <a:lvl9pPr indent="0" lvl="8" marL="0" algn="r">
              <a:spcBef>
                <a:spcPts val="0"/>
              </a:spcBef>
              <a:buNone/>
              <a:defRPr sz="9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8" name="Google Shape;48;p13"/>
          <p:cNvSpPr txBox="1"/>
          <p:nvPr>
            <p:ph type="ctrTitle"/>
          </p:nvPr>
        </p:nvSpPr>
        <p:spPr>
          <a:xfrm>
            <a:off x="1891134" y="2122617"/>
            <a:ext cx="5045700" cy="8982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467F"/>
              </a:buClr>
              <a:buSzPts val="4500"/>
              <a:buFont typeface="Inter"/>
              <a:buNone/>
              <a:defRPr b="1" sz="4500">
                <a:solidFill>
                  <a:srgbClr val="18467F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Font typeface="Inter"/>
              <a:buNone/>
              <a:defRPr sz="135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Font typeface="Inter"/>
              <a:buNone/>
              <a:defRPr sz="135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Font typeface="Inter"/>
              <a:buNone/>
              <a:defRPr sz="135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Font typeface="Inter"/>
              <a:buNone/>
              <a:defRPr sz="135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Font typeface="Inter"/>
              <a:buNone/>
              <a:defRPr sz="135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Font typeface="Inter"/>
              <a:buNone/>
              <a:defRPr sz="135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Font typeface="Inter"/>
              <a:buNone/>
              <a:defRPr sz="135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Font typeface="Inter"/>
              <a:buNone/>
              <a:defRPr sz="135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9" name="Google Shape;49;p13"/>
          <p:cNvSpPr txBox="1"/>
          <p:nvPr>
            <p:ph idx="1" type="subTitle"/>
          </p:nvPr>
        </p:nvSpPr>
        <p:spPr>
          <a:xfrm>
            <a:off x="1891134" y="3103691"/>
            <a:ext cx="50457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None/>
              <a:defRPr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Inter"/>
              <a:buNone/>
              <a:defRPr sz="15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Inter"/>
              <a:buNone/>
              <a:defRPr sz="135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None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None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None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None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None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None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pic>
        <p:nvPicPr>
          <p:cNvPr id="50" name="Google Shape;50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5531" y="352425"/>
            <a:ext cx="847370" cy="4658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050"/>
              <a:buNone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4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image" Target="../media/image22.png"/><Relationship Id="rId4" Type="http://schemas.openxmlformats.org/officeDocument/2006/relationships/image" Target="../media/image15.png"/><Relationship Id="rId5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417320"/>
            <a:ext cx="6035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00">
                <a:solidFill>
                  <a:srgbClr val="38C0EF"/>
                </a:solidFill>
                <a:latin typeface="Play"/>
              </a:rPr>
              <a:t>GAS LEAK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1700784"/>
            <a:ext cx="6400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Play"/>
              </a:rPr>
              <a:t>Sistem GLD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2606040"/>
            <a:ext cx="5349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8E8"/>
                </a:solidFill>
                <a:latin typeface="Arial"/>
              </a:rPr>
              <a:t>Deteksi dini kebocoran gas — multi-gas, AI yang bisa terus belajar,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8E8"/>
                </a:solidFill>
                <a:latin typeface="Arial"/>
              </a:rPr>
              <a:t>dan jaringan mesh privat yang menyembuhkan dirinya sendiri.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310128"/>
            <a:ext cx="5669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AFC6E0"/>
                </a:solidFill>
                <a:latin typeface="Arial"/>
              </a:rPr>
              <a:t>Executive Presentation  ·  IoT Multi-Sensor &amp; AI Edge untuk Industri Migas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4456" y="512064"/>
            <a:ext cx="2715768" cy="3858768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38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ld_case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318" y="566928"/>
            <a:ext cx="1784043" cy="37490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4407407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1">
                <a:solidFill>
                  <a:srgbClr val="E8E8E8"/>
                </a:solidFill>
                <a:latin typeface="Arial"/>
              </a:rPr>
              <a:t>Unit GLD aktual — bukan render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7955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2D64AC"/>
                </a:solidFill>
                <a:latin typeface="Play"/>
              </a:rPr>
              <a:t>Metode Deteksi Konvensional Sudah Tidak Cukup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737360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B747D"/>
                </a:solidFill>
                <a:latin typeface="Arial"/>
              </a:rPr>
              <a:t>Empat keterbatasan yang terus berulang di lapangan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2103120"/>
            <a:ext cx="1901952" cy="2267712"/>
          </a:xfrm>
          <a:prstGeom prst="roundRect">
            <a:avLst>
              <a:gd name="adj" fmla="val 6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85216" y="2304288"/>
            <a:ext cx="475488" cy="475488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333" y="2418405"/>
            <a:ext cx="247253" cy="2472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2889503"/>
            <a:ext cx="153619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33765"/>
                </a:solidFill>
                <a:latin typeface="Play"/>
              </a:rPr>
              <a:t>Patroli Manual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91839"/>
            <a:ext cx="15361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6B747D"/>
                </a:solidFill>
                <a:latin typeface="Arial"/>
              </a:rPr>
              <a:t>Bergantung jadwal &amp; panca indera petugas — jeda waktu antar-ronda membuka celah kebocoran tak terdeteksi.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09444" y="2103120"/>
            <a:ext cx="1901952" cy="2267712"/>
          </a:xfrm>
          <a:prstGeom prst="roundRect">
            <a:avLst>
              <a:gd name="adj" fmla="val 6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10612" y="2304288"/>
            <a:ext cx="475488" cy="475488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729" y="2418405"/>
            <a:ext cx="247253" cy="24725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592324" y="2889503"/>
            <a:ext cx="153619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33765"/>
                </a:solidFill>
                <a:latin typeface="Play"/>
              </a:rPr>
              <a:t>Sensor Gas Tunggal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2324" y="3291839"/>
            <a:ext cx="15361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6B747D"/>
                </a:solidFill>
                <a:latin typeface="Arial"/>
              </a:rPr>
              <a:t>Satu titik hanya mengenali satu jenis gas; risiko campuran gas lain lolos begitu saja.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2103120"/>
            <a:ext cx="1901952" cy="2267712"/>
          </a:xfrm>
          <a:prstGeom prst="roundRect">
            <a:avLst>
              <a:gd name="adj" fmla="val 6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36007" y="2304288"/>
            <a:ext cx="475488" cy="475488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2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125" y="2418405"/>
            <a:ext cx="247253" cy="2472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17720" y="2889503"/>
            <a:ext cx="153619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33765"/>
                </a:solidFill>
                <a:latin typeface="Play"/>
              </a:rPr>
              <a:t>Blind Spot &amp; Delay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291839"/>
            <a:ext cx="15361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6B747D"/>
                </a:solidFill>
                <a:latin typeface="Arial"/>
              </a:rPr>
              <a:t>Area sulit jangkau tak termonitor real-time; respons insiden baru dimulai setelah laporan manual.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0236" y="2103120"/>
            <a:ext cx="1901952" cy="2267712"/>
          </a:xfrm>
          <a:prstGeom prst="roundRect">
            <a:avLst>
              <a:gd name="adj" fmla="val 6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61403" y="2304288"/>
            <a:ext cx="475488" cy="475488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-2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521" y="2418405"/>
            <a:ext cx="247253" cy="24725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43116" y="2889503"/>
            <a:ext cx="153619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33765"/>
                </a:solidFill>
                <a:latin typeface="Play"/>
              </a:rPr>
              <a:t>Jaringan Bergantung Provider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3116" y="3291839"/>
            <a:ext cx="15361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6B747D"/>
                </a:solidFill>
                <a:latin typeface="Arial"/>
              </a:rPr>
              <a:t>Instalasi kabel tetap atau koneksi telko publik rentan putus dan mahal diperluas ke area luas.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63240" y="4443984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50" b="0" i="1">
                <a:solidFill>
                  <a:srgbClr val="757575"/>
                </a:solidFill>
                <a:latin typeface="Arial"/>
              </a:rPr>
              <a:t>Sumber: pengamatan lapangan &amp; requirement klien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443984"/>
            <a:ext cx="368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 i="1">
                <a:solidFill>
                  <a:srgbClr val="757575"/>
                </a:solidFill>
                <a:latin typeface="Arial"/>
              </a:rPr>
              <a:t>GLD — Gas Leak Detection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7955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2D64AC"/>
                </a:solidFill>
                <a:latin typeface="Play"/>
              </a:rPr>
              <a:t>GLD: Satu Sistem, Empat Lapis yang Saling Menutup Celah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737360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B747D"/>
                </a:solidFill>
                <a:latin typeface="Arial"/>
              </a:rPr>
              <a:t>Node sensor edge-AI → jaringan mesh privat → gateway → dashboard real-time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" y="2103120"/>
            <a:ext cx="1801368" cy="1792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212848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8C0EF"/>
                </a:solidFill>
                <a:latin typeface="Play"/>
              </a:rPr>
              <a:t>01</a:t>
            </a:r>
          </a:p>
        </p:txBody>
      </p:sp>
      <p:sp>
        <p:nvSpPr>
          <p:cNvPr id="8" name="Oval 7"/>
          <p:cNvSpPr/>
          <p:nvPr/>
        </p:nvSpPr>
        <p:spPr>
          <a:xfrm>
            <a:off x="1184148" y="2523744"/>
            <a:ext cx="457200" cy="457200"/>
          </a:xfrm>
          <a:prstGeom prst="ellipse">
            <a:avLst/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876" y="2633472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31089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3765"/>
                </a:solidFill>
                <a:latin typeface="Play"/>
              </a:rPr>
              <a:t>Sensor 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0156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 i="0">
                <a:solidFill>
                  <a:srgbClr val="6B747D"/>
                </a:solidFill>
                <a:latin typeface="Arial"/>
              </a:rPr>
              <a:t>8× sensor gas + AI edge on-chip di tiap titik pasang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8004" y="2834639"/>
            <a:ext cx="822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2D64AC"/>
                </a:solidFill>
                <a:latin typeface="Play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04872" y="2103120"/>
            <a:ext cx="1801368" cy="1792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9464" y="2212848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8C0EF"/>
                </a:solidFill>
                <a:latin typeface="Play"/>
              </a:rPr>
              <a:t>02</a:t>
            </a:r>
          </a:p>
        </p:txBody>
      </p:sp>
      <p:sp>
        <p:nvSpPr>
          <p:cNvPr id="15" name="Oval 14"/>
          <p:cNvSpPr/>
          <p:nvPr/>
        </p:nvSpPr>
        <p:spPr>
          <a:xfrm>
            <a:off x="3076956" y="2523744"/>
            <a:ext cx="457200" cy="457200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684" y="263347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551176" y="31089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3765"/>
                </a:solidFill>
                <a:latin typeface="Play"/>
              </a:rPr>
              <a:t>LoRa Mesh Privat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176" y="340156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 i="0">
                <a:solidFill>
                  <a:srgbClr val="6B747D"/>
                </a:solidFill>
                <a:latin typeface="Arial"/>
              </a:rPr>
              <a:t>Star-mesh multi-hop antar Cluster Head, self-healing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0812" y="2834639"/>
            <a:ext cx="822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2D64AC"/>
                </a:solidFill>
                <a:latin typeface="Play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2103120"/>
            <a:ext cx="1801368" cy="1792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1" y="2212848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8C0EF"/>
                </a:solidFill>
                <a:latin typeface="Play"/>
              </a:rPr>
              <a:t>03</a:t>
            </a:r>
          </a:p>
        </p:txBody>
      </p:sp>
      <p:sp>
        <p:nvSpPr>
          <p:cNvPr id="22" name="Oval 21"/>
          <p:cNvSpPr/>
          <p:nvPr/>
        </p:nvSpPr>
        <p:spPr>
          <a:xfrm>
            <a:off x="4969764" y="2523744"/>
            <a:ext cx="457200" cy="457200"/>
          </a:xfrm>
          <a:prstGeom prst="ellipse">
            <a:avLst/>
          </a:prstGeom>
          <a:solidFill>
            <a:srgbClr val="123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-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492" y="263347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443983" y="31089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3765"/>
                </a:solidFill>
                <a:latin typeface="Play"/>
              </a:rPr>
              <a:t>Gateway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340156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 i="0">
                <a:solidFill>
                  <a:srgbClr val="6B747D"/>
                </a:solidFill>
                <a:latin typeface="Arial"/>
              </a:rPr>
              <a:t>Agregasi data lapangan, jembatan ke server lokal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3619" y="2834639"/>
            <a:ext cx="822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2D64AC"/>
                </a:solidFill>
                <a:latin typeface="Play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0488" y="2103120"/>
            <a:ext cx="1801368" cy="1792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79" y="2212848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8C0EF"/>
                </a:solidFill>
                <a:latin typeface="Play"/>
              </a:rPr>
              <a:t>04</a:t>
            </a:r>
          </a:p>
        </p:txBody>
      </p:sp>
      <p:sp>
        <p:nvSpPr>
          <p:cNvPr id="29" name="Oval 28"/>
          <p:cNvSpPr/>
          <p:nvPr/>
        </p:nvSpPr>
        <p:spPr>
          <a:xfrm>
            <a:off x="6862572" y="2523744"/>
            <a:ext cx="457200" cy="457200"/>
          </a:xfrm>
          <a:prstGeom prst="ellipse">
            <a:avLst/>
          </a:prstGeom>
          <a:solidFill>
            <a:srgbClr val="13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-3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2300" y="2633472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36792" y="31089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3765"/>
                </a:solidFill>
                <a:latin typeface="Play"/>
              </a:rPr>
              <a:t>Dashboard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340156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 i="0">
                <a:solidFill>
                  <a:srgbClr val="6B747D"/>
                </a:solidFill>
                <a:latin typeface="Arial"/>
              </a:rPr>
              <a:t>Peta, alarm, tren, dan riwayat kesehatan perangkat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2064" y="4023359"/>
            <a:ext cx="7607808" cy="548640"/>
          </a:xfrm>
          <a:prstGeom prst="roundRect">
            <a:avLst>
              <a:gd name="adj" fmla="val 14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gld_case_v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069079"/>
            <a:ext cx="217566" cy="457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17320" y="4078223"/>
            <a:ext cx="6537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B747D"/>
                </a:solidFill>
                <a:latin typeface="Arial"/>
              </a:rPr>
              <a:t>Prototipe hardware nyata — unit GLD hasil rekayasa tim, bukan render atau mockup.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7955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2D64AC"/>
                </a:solidFill>
                <a:latin typeface="Play"/>
              </a:rPr>
              <a:t>Bukan Satu Gas — Satu Titik Pasang Mengenali Banyak Gas Sekaligus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2103120"/>
            <a:ext cx="2761488" cy="2286000"/>
          </a:xfrm>
          <a:prstGeom prst="roundRect">
            <a:avLst>
              <a:gd name="adj" fmla="val 7000"/>
            </a:avLst>
          </a:prstGeom>
          <a:solidFill>
            <a:srgbClr val="13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677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38C0EF"/>
                </a:solidFill>
                <a:latin typeface="Play"/>
              </a:rPr>
              <a:t>8×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2607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sensor gas dalam satu node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3273552"/>
            <a:ext cx="2304288" cy="0"/>
          </a:xfrm>
          <a:prstGeom prst="line">
            <a:avLst/>
          </a:prstGeom>
          <a:ln w="12700">
            <a:solidFill>
              <a:srgbClr val="3E5B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3364991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 i="0">
                <a:solidFill>
                  <a:srgbClr val="E8E8E8"/>
                </a:solidFill>
                <a:latin typeface="Arial"/>
              </a:rPr>
              <a:t>AI mengklasifikasikan jenis gas dari pola kombinasi sensor — bukan sekadar ambang batas tunggal.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913631"/>
            <a:ext cx="384048" cy="384048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099" y="4005803"/>
            <a:ext cx="199704" cy="1997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8992" y="39044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Arial"/>
              </a:rPr>
              <a:t>Akurasi klasifikasi on-chip 99,20%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30" b="0" i="0">
                <a:solidFill>
                  <a:srgbClr val="E8E8E8"/>
                </a:solidFill>
                <a:latin typeface="Arial"/>
              </a:rPr>
              <a:t>(ESP32-S3, edge AI, int8)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2103120"/>
            <a:ext cx="2395728" cy="932688"/>
          </a:xfrm>
          <a:prstGeom prst="roundRect">
            <a:avLst>
              <a:gd name="adj" fmla="val 9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11296" y="2249424"/>
            <a:ext cx="365760" cy="365760"/>
          </a:xfrm>
          <a:prstGeom prst="ellipse">
            <a:avLst/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078" y="2337206"/>
            <a:ext cx="190195" cy="1901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86784" y="2231136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3765"/>
                </a:solidFill>
                <a:latin typeface="Play"/>
              </a:rPr>
              <a:t>LPG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6784" y="250545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 i="0">
                <a:solidFill>
                  <a:srgbClr val="6B747D"/>
                </a:solidFill>
                <a:latin typeface="Arial"/>
              </a:rPr>
              <a:t>Gas mudah terbakar utama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88736" y="2103120"/>
            <a:ext cx="2395728" cy="932688"/>
          </a:xfrm>
          <a:prstGeom prst="roundRect">
            <a:avLst>
              <a:gd name="adj" fmla="val 9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35040" y="2249424"/>
            <a:ext cx="365760" cy="365760"/>
          </a:xfrm>
          <a:prstGeom prst="ellipse">
            <a:avLst/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-4-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2822" y="2337206"/>
            <a:ext cx="190195" cy="19019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10528" y="2231136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3765"/>
                </a:solidFill>
                <a:latin typeface="Play"/>
              </a:rPr>
              <a:t>Metana / CO₂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250545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 i="0">
                <a:solidFill>
                  <a:srgbClr val="6B747D"/>
                </a:solidFill>
                <a:latin typeface="Arial"/>
              </a:rPr>
              <a:t>Gas proses &amp; lingkungan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2" y="3163824"/>
            <a:ext cx="2395728" cy="932688"/>
          </a:xfrm>
          <a:prstGeom prst="roundRect">
            <a:avLst>
              <a:gd name="adj" fmla="val 9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11296" y="3310128"/>
            <a:ext cx="365760" cy="365760"/>
          </a:xfrm>
          <a:prstGeom prst="ellipse">
            <a:avLst/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-4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9078" y="3397910"/>
            <a:ext cx="190195" cy="19019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986784" y="3291840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3765"/>
                </a:solidFill>
                <a:latin typeface="Play"/>
              </a:rPr>
              <a:t>H₂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86784" y="356616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 i="0">
                <a:solidFill>
                  <a:srgbClr val="6B747D"/>
                </a:solidFill>
                <a:latin typeface="Arial"/>
              </a:rPr>
              <a:t>Hidrogen — deteksi dini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88736" y="3163824"/>
            <a:ext cx="2395728" cy="932688"/>
          </a:xfrm>
          <a:prstGeom prst="roundRect">
            <a:avLst>
              <a:gd name="adj" fmla="val 9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035040" y="3310128"/>
            <a:ext cx="365760" cy="365760"/>
          </a:xfrm>
          <a:prstGeom prst="ellipse">
            <a:avLst/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-4-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2822" y="3397910"/>
            <a:ext cx="190195" cy="19019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510528" y="3291840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3765"/>
                </a:solidFill>
                <a:latin typeface="Play"/>
              </a:rPr>
              <a:t>Udara Bersih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356616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 i="0">
                <a:solidFill>
                  <a:srgbClr val="6B747D"/>
                </a:solidFill>
                <a:latin typeface="Arial"/>
              </a:rPr>
              <a:t>Baseline referensi akurat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64992" y="4224528"/>
            <a:ext cx="4919472" cy="365760"/>
          </a:xfrm>
          <a:prstGeom prst="roundRect">
            <a:avLst>
              <a:gd name="adj" fmla="val 22000"/>
            </a:avLst>
          </a:prstGeom>
          <a:solidFill>
            <a:srgbClr val="E9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9584" y="4224528"/>
            <a:ext cx="45902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 i="0">
                <a:solidFill>
                  <a:srgbClr val="2D64AC"/>
                </a:solidFill>
                <a:latin typeface="Arial"/>
              </a:rPr>
              <a:t>Roadmap perluasan kelas: Benzena, CO, dan H₂S untuk kebutuhan alarm toksik langsung.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4992" y="4626864"/>
            <a:ext cx="4919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757575"/>
                </a:solidFill>
                <a:latin typeface="Arial"/>
              </a:rPr>
              <a:t>CNN Dual-Branch, 4 kelas tervalidasi; perluasan kelas sedang berjalan  ·  GLD — Gas Leak Detection System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7955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2D64AC"/>
                </a:solidFill>
                <a:latin typeface="Play"/>
              </a:rPr>
              <a:t>AI yang Bisa Terus "Diajari" — Bukan Ambang Batas yang Kaku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773936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>
                <a:solidFill>
                  <a:srgbClr val="6B747D"/>
                </a:solidFill>
                <a:latin typeface="Arial"/>
              </a:rPr>
              <a:t>Sensor konvensional berhenti di satu ambang tetap. Model GLD dilatih dari data lapangan nyata dan dapat diperbarui saat kondisi atau jenis gas baru muncul — tanpa mengganti perangkat keras.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2231136"/>
            <a:ext cx="2514600" cy="1207008"/>
          </a:xfrm>
          <a:prstGeom prst="roundRect">
            <a:avLst>
              <a:gd name="adj" fmla="val 9000"/>
            </a:avLst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359152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Play"/>
              </a:rPr>
              <a:t>99,20%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2889504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Akurasi klasifikasi on-chip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D8E8F5"/>
                </a:solidFill>
                <a:latin typeface="Arial"/>
              </a:rPr>
              <a:t>(int8, tervalidasi lapangan)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72384" y="2231136"/>
            <a:ext cx="2514600" cy="1207008"/>
          </a:xfrm>
          <a:prstGeom prst="roundRect">
            <a:avLst>
              <a:gd name="adj" fmla="val 9000"/>
            </a:avLst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2359152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Play"/>
              </a:rPr>
              <a:t>9,14 KB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2889504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Ukuran model — cukup ringan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D8E8F5"/>
                </a:solidFill>
                <a:latin typeface="Arial"/>
              </a:rPr>
              <a:t>berjalan langsung di 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2231136"/>
            <a:ext cx="2514600" cy="1207008"/>
          </a:xfrm>
          <a:prstGeom prst="roundRect">
            <a:avLst>
              <a:gd name="adj" fmla="val 9000"/>
            </a:avLst>
          </a:prstGeom>
          <a:solidFill>
            <a:srgbClr val="13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2359152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Play"/>
              </a:rPr>
              <a:t>4→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889504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Kelas gas saat ini, terus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D8E8F5"/>
                </a:solidFill>
                <a:latin typeface="Arial"/>
              </a:rPr>
              <a:t>bertambah lewat re-training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3566160"/>
            <a:ext cx="7863840" cy="621792"/>
          </a:xfrm>
          <a:prstGeom prst="roundRect">
            <a:avLst>
              <a:gd name="adj" fmla="val 14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" y="3685032"/>
            <a:ext cx="384048" cy="384048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1" y="3777203"/>
            <a:ext cx="199704" cy="1997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78992" y="3621024"/>
            <a:ext cx="6949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B747D"/>
                </a:solidFill>
                <a:latin typeface="Arial"/>
              </a:rPr>
              <a:t>Inferensi berjalan langsung di chip ESP32-S3 pada tiap sensor node (edge AI) — keputusan deteksi tidak menunggu koneksi ke server pusat, sehingga tetap responsif walau jaringan sibuk.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4443984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50" b="0" i="1">
                <a:solidFill>
                  <a:srgbClr val="757575"/>
                </a:solidFill>
                <a:latin typeface="Arial"/>
              </a:rPr>
              <a:t>Arsitektur: CNN Dual-Branch (sensor + datasheet-sensitivity)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4443984"/>
            <a:ext cx="368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 i="1">
                <a:solidFill>
                  <a:srgbClr val="757575"/>
                </a:solidFill>
                <a:latin typeface="Arial"/>
              </a:rPr>
              <a:t>GLD — Gas Leak Detection System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7955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2D64AC"/>
                </a:solidFill>
                <a:latin typeface="Play"/>
              </a:rPr>
              <a:t>Jaringan Mesh Privat yang Menyembuhkan Dirinya Sendiri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737360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B747D"/>
                </a:solidFill>
                <a:latin typeface="Arial"/>
              </a:rPr>
              <a:t>Data tetap sampai ke server meski satu titik gagal — dan jaringannya milik sendiri, bukan sewa infrastruktur publik.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2103120"/>
            <a:ext cx="3703320" cy="2340864"/>
          </a:xfrm>
          <a:prstGeom prst="roundRect">
            <a:avLst>
              <a:gd name="adj" fmla="val 6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420977" y="2487168"/>
            <a:ext cx="814731" cy="786384"/>
          </a:xfrm>
          <a:prstGeom prst="line">
            <a:avLst/>
          </a:prstGeom>
          <a:ln w="20320">
            <a:solidFill>
              <a:srgbClr val="2D64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35708" y="2487168"/>
            <a:ext cx="814730" cy="786384"/>
          </a:xfrm>
          <a:prstGeom prst="line">
            <a:avLst/>
          </a:prstGeom>
          <a:ln w="17780">
            <a:solidFill>
              <a:srgbClr val="B9C2C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20977" y="3273552"/>
            <a:ext cx="1629461" cy="0"/>
          </a:xfrm>
          <a:prstGeom prst="line">
            <a:avLst/>
          </a:prstGeom>
          <a:ln w="25400">
            <a:solidFill>
              <a:srgbClr val="1CD8F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28446" y="3273552"/>
            <a:ext cx="592531" cy="804672"/>
          </a:xfrm>
          <a:prstGeom prst="line">
            <a:avLst/>
          </a:prstGeom>
          <a:ln w="13970">
            <a:solidFill>
              <a:srgbClr val="2D64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20977" y="3273552"/>
            <a:ext cx="222199" cy="804672"/>
          </a:xfrm>
          <a:prstGeom prst="line">
            <a:avLst/>
          </a:prstGeom>
          <a:ln w="13970">
            <a:solidFill>
              <a:srgbClr val="2D64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680106" y="3273552"/>
            <a:ext cx="370332" cy="804672"/>
          </a:xfrm>
          <a:prstGeom prst="line">
            <a:avLst/>
          </a:prstGeom>
          <a:ln w="13970">
            <a:solidFill>
              <a:srgbClr val="B9C2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50438" y="3273552"/>
            <a:ext cx="518465" cy="804672"/>
          </a:xfrm>
          <a:prstGeom prst="line">
            <a:avLst/>
          </a:prstGeom>
          <a:ln w="13970">
            <a:solidFill>
              <a:srgbClr val="B9C2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034539" y="2285999"/>
            <a:ext cx="402336" cy="402336"/>
          </a:xfrm>
          <a:prstGeom prst="ellipse">
            <a:avLst/>
          </a:prstGeom>
          <a:solidFill>
            <a:srgbClr val="13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3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100" y="2382560"/>
            <a:ext cx="209214" cy="209214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247241" y="3099816"/>
            <a:ext cx="347472" cy="347472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0634" y="3183209"/>
            <a:ext cx="180685" cy="180685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2876702" y="3099816"/>
            <a:ext cx="347472" cy="347472"/>
          </a:xfrm>
          <a:prstGeom prst="ellipse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6702" y="308152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20" name="Oval 19"/>
          <p:cNvSpPr/>
          <p:nvPr/>
        </p:nvSpPr>
        <p:spPr>
          <a:xfrm>
            <a:off x="746150" y="3995928"/>
            <a:ext cx="164592" cy="164592"/>
          </a:xfrm>
          <a:prstGeom prst="ellipse">
            <a:avLst/>
          </a:prstGeom>
          <a:solidFill>
            <a:srgbClr val="FFFFFF"/>
          </a:solidFill>
          <a:ln>
            <a:solidFill>
              <a:srgbClr val="2D6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0880" y="3995928"/>
            <a:ext cx="164592" cy="164592"/>
          </a:xfrm>
          <a:prstGeom prst="ellipse">
            <a:avLst/>
          </a:prstGeom>
          <a:solidFill>
            <a:srgbClr val="FFFFFF"/>
          </a:solidFill>
          <a:ln>
            <a:solidFill>
              <a:srgbClr val="2D6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597810" y="3995928"/>
            <a:ext cx="164592" cy="164592"/>
          </a:xfrm>
          <a:prstGeom prst="ellipse">
            <a:avLst/>
          </a:prstGeom>
          <a:solidFill>
            <a:srgbClr val="FFFFFF"/>
          </a:solidFill>
          <a:ln>
            <a:solidFill>
              <a:srgbClr val="2D6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486607" y="3995928"/>
            <a:ext cx="164592" cy="164592"/>
          </a:xfrm>
          <a:prstGeom prst="ellipse">
            <a:avLst/>
          </a:prstGeom>
          <a:solidFill>
            <a:srgbClr val="FFFFFF"/>
          </a:solidFill>
          <a:ln>
            <a:solidFill>
              <a:srgbClr val="2D6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2103120"/>
            <a:ext cx="3703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33765"/>
                </a:solidFill>
                <a:latin typeface="Arial"/>
              </a:rPr>
              <a:t>Gateway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206240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60" b="0" i="1">
                <a:solidFill>
                  <a:srgbClr val="6B747D"/>
                </a:solidFill>
                <a:latin typeface="Arial"/>
              </a:rPr>
              <a:t>1 titik CH gagal → mesh otomatis reroute (garis cyan) — data tetap sampai</a:t>
            </a:r>
          </a:p>
        </p:txBody>
      </p:sp>
      <p:sp>
        <p:nvSpPr>
          <p:cNvPr id="26" name="Oval 25"/>
          <p:cNvSpPr/>
          <p:nvPr/>
        </p:nvSpPr>
        <p:spPr>
          <a:xfrm>
            <a:off x="4306824" y="2157984"/>
            <a:ext cx="420624" cy="420624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-6-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773" y="2258933"/>
            <a:ext cx="218724" cy="2187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873752" y="2103120"/>
            <a:ext cx="3886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33765"/>
                </a:solidFill>
                <a:latin typeface="Play"/>
              </a:rPr>
              <a:t>Self-Healing Multi-Hop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2" y="2359152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6B747D"/>
                </a:solidFill>
                <a:latin typeface="Arial"/>
              </a:rPr>
              <a:t>Cluster Head saling menopang; jalur alternatif terbentuk otomatis saat satu node down — terbukti pada mesh 8-CH lintas area luas.</a:t>
            </a:r>
          </a:p>
        </p:txBody>
      </p:sp>
      <p:sp>
        <p:nvSpPr>
          <p:cNvPr id="30" name="Oval 29"/>
          <p:cNvSpPr/>
          <p:nvPr/>
        </p:nvSpPr>
        <p:spPr>
          <a:xfrm>
            <a:off x="4306824" y="2962656"/>
            <a:ext cx="420624" cy="420624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6-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773" y="3063605"/>
            <a:ext cx="218724" cy="2187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873752" y="2907791"/>
            <a:ext cx="3886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33765"/>
                </a:solidFill>
                <a:latin typeface="Play"/>
              </a:rPr>
              <a:t>Jaringan Privat, Bukan Publik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73752" y="3163824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6B747D"/>
                </a:solidFill>
                <a:latin typeface="Arial"/>
              </a:rPr>
              <a:t>LoRa mesh milik sendiri — tidak bergantung sinyal seluler/internet ISP, cocok untuk area kilang yang terisolasi sinyal publik.</a:t>
            </a:r>
          </a:p>
        </p:txBody>
      </p:sp>
      <p:sp>
        <p:nvSpPr>
          <p:cNvPr id="34" name="Oval 33"/>
          <p:cNvSpPr/>
          <p:nvPr/>
        </p:nvSpPr>
        <p:spPr>
          <a:xfrm>
            <a:off x="4306824" y="3767327"/>
            <a:ext cx="420624" cy="420624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-6-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773" y="3868277"/>
            <a:ext cx="218724" cy="2187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873752" y="3712463"/>
            <a:ext cx="3886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33765"/>
                </a:solidFill>
                <a:latin typeface="Play"/>
              </a:rPr>
              <a:t>Alarm Push Real-Time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73752" y="3968496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6B747D"/>
                </a:solidFill>
                <a:latin typeface="Arial"/>
              </a:rPr>
              <a:t>Kejadian bocor gas langsung didorong ke server tanpa menunggu siklus polling — sudah diuji dan terbukti berfungsi di lapangan.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051560"/>
            <a:ext cx="7955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2D64AC"/>
                </a:solidFill>
                <a:latin typeface="Play"/>
              </a:rPr>
              <a:t>Arsitektur Jaringan: Dari Sensor ke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481328"/>
            <a:ext cx="8138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6B747D"/>
                </a:solidFill>
                <a:latin typeface="Arial"/>
              </a:rPr>
              <a:t>Enam lapis yang bekerja berurutan — dari sensor di titik potensi bocor hingga peringatan real-time di layar operator.</a:t>
            </a:r>
          </a:p>
        </p:txBody>
      </p:sp>
      <p:pic>
        <p:nvPicPr>
          <p:cNvPr id="6" name="Picture 5" descr="network_arch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810512"/>
            <a:ext cx="6126480" cy="31301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4048" y="1810512"/>
            <a:ext cx="6126480" cy="3130192"/>
          </a:xfrm>
          <a:prstGeom prst="roundRect">
            <a:avLst>
              <a:gd name="adj" fmla="val 0"/>
            </a:avLst>
          </a:prstGeom>
          <a:noFill/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93408" y="1810512"/>
            <a:ext cx="2066543" cy="945861"/>
          </a:xfrm>
          <a:prstGeom prst="roundRect">
            <a:avLst>
              <a:gd name="adj" fmla="val 1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21424" y="1938528"/>
            <a:ext cx="329184" cy="329184"/>
          </a:xfrm>
          <a:prstGeom prst="ellipse">
            <a:avLst/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6-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0428" y="2017532"/>
            <a:ext cx="171175" cy="1711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1424" y="2322576"/>
            <a:ext cx="18105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33765"/>
                </a:solidFill>
                <a:latin typeface="Play"/>
              </a:rPr>
              <a:t>Mesh Self-Healing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1424" y="2560320"/>
            <a:ext cx="1810511" cy="1594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 i="0">
                <a:solidFill>
                  <a:srgbClr val="6B747D"/>
                </a:solidFill>
                <a:latin typeface="Arial"/>
              </a:rPr>
              <a:t>Jalur alternatif otomatis bila satu Cluster Head gagal.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93408" y="2902677"/>
            <a:ext cx="2066543" cy="945861"/>
          </a:xfrm>
          <a:prstGeom prst="roundRect">
            <a:avLst>
              <a:gd name="adj" fmla="val 1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21424" y="3030693"/>
            <a:ext cx="329184" cy="329184"/>
          </a:xfrm>
          <a:prstGeom prst="ellipse">
            <a:avLst/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428" y="3109697"/>
            <a:ext cx="171175" cy="1711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21424" y="3414741"/>
            <a:ext cx="18105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33765"/>
                </a:solidFill>
                <a:latin typeface="Play"/>
              </a:rPr>
              <a:t>Server Lokal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1424" y="3652485"/>
            <a:ext cx="1810511" cy="1594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 i="0">
                <a:solidFill>
                  <a:srgbClr val="6B747D"/>
                </a:solidFill>
                <a:latin typeface="Arial"/>
              </a:rPr>
              <a:t>Data diproses on-site — tanpa wajib bergantung cloud.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93408" y="3994842"/>
            <a:ext cx="2066543" cy="945861"/>
          </a:xfrm>
          <a:prstGeom prst="roundRect">
            <a:avLst>
              <a:gd name="adj" fmla="val 1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21424" y="4122858"/>
            <a:ext cx="329184" cy="329184"/>
          </a:xfrm>
          <a:prstGeom prst="ellipse">
            <a:avLst/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-6-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0428" y="4201862"/>
            <a:ext cx="171175" cy="17117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21424" y="4506906"/>
            <a:ext cx="18105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33765"/>
                </a:solidFill>
                <a:latin typeface="Play"/>
              </a:rPr>
              <a:t>Alarm Real-Time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1424" y="4744650"/>
            <a:ext cx="1810511" cy="1594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 i="0">
                <a:solidFill>
                  <a:srgbClr val="6B747D"/>
                </a:solidFill>
                <a:latin typeface="Arial"/>
              </a:rPr>
              <a:t>Dashboard, peta, tren, dan riwayat perangkat langsung ter-update.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7955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2D64AC"/>
                </a:solidFill>
                <a:latin typeface="Play"/>
              </a:rPr>
              <a:t>GLD vs. Metode Konvensional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2103120"/>
          <a:ext cx="8375904" cy="22274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3246120"/>
                <a:gridCol w="3346704"/>
              </a:tblGrid>
              <a:tr h="318211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Aspek</a:t>
                      </a:r>
                    </a:p>
                  </a:txBody>
                  <a:tcPr marL="73152" marR="73152" marT="18288" marB="18288" anchor="ctr">
                    <a:solidFill>
                      <a:srgbClr val="1337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Metode Konvensional</a:t>
                      </a:r>
                    </a:p>
                  </a:txBody>
                  <a:tcPr marL="73152" marR="73152" marT="18288" marB="18288" anchor="ctr">
                    <a:solidFill>
                      <a:srgbClr val="1337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Sistem GLD</a:t>
                      </a:r>
                    </a:p>
                  </a:txBody>
                  <a:tcPr marL="73152" marR="73152" marT="18288" marB="18288" anchor="ctr">
                    <a:solidFill>
                      <a:srgbClr val="133765"/>
                    </a:solidFill>
                  </a:tcPr>
                </a:tc>
              </a:tr>
              <a:tr h="318211"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133765"/>
                          </a:solidFill>
                          <a:latin typeface="Arial"/>
                        </a:rPr>
                        <a:t>Cakupan gas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6B747D"/>
                          </a:solidFill>
                          <a:latin typeface="Arial"/>
                        </a:rPr>
                        <a:t>Satu jenis gas / titik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2D64AC"/>
                          </a:solidFill>
                          <a:latin typeface="Arial"/>
                        </a:rPr>
                        <a:t>Multi-gas dalam satu node (AI classification)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8211"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133765"/>
                          </a:solidFill>
                          <a:latin typeface="Arial"/>
                        </a:rPr>
                        <a:t>Deteksi &amp; respons</a:t>
                      </a:r>
                    </a:p>
                  </a:txBody>
                  <a:tcPr marL="73152" marR="73152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6B747D"/>
                          </a:solidFill>
                          <a:latin typeface="Arial"/>
                        </a:rPr>
                        <a:t>Patroli berkala, ada jeda waktu</a:t>
                      </a:r>
                    </a:p>
                  </a:txBody>
                  <a:tcPr marL="73152" marR="73152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2D64AC"/>
                          </a:solidFill>
                          <a:latin typeface="Arial"/>
                        </a:rPr>
                        <a:t>Monitoring 24/7, alarm push real-time</a:t>
                      </a:r>
                    </a:p>
                  </a:txBody>
                  <a:tcPr marL="73152" marR="73152" marT="18288" marB="18288" anchor="ctr">
                    <a:solidFill>
                      <a:srgbClr val="E8E8E8"/>
                    </a:solidFill>
                  </a:tcPr>
                </a:tc>
              </a:tr>
              <a:tr h="318211"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133765"/>
                          </a:solidFill>
                          <a:latin typeface="Arial"/>
                        </a:rPr>
                        <a:t>Jaringan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6B747D"/>
                          </a:solidFill>
                          <a:latin typeface="Arial"/>
                        </a:rPr>
                        <a:t>Kabel tetap / bergantung provider publik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2D64AC"/>
                          </a:solidFill>
                          <a:latin typeface="Arial"/>
                        </a:rPr>
                        <a:t>Mesh LoRa privat, self-healing multi-hop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8211"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133765"/>
                          </a:solidFill>
                          <a:latin typeface="Arial"/>
                        </a:rPr>
                        <a:t>Ketahanan titik gagal</a:t>
                      </a:r>
                    </a:p>
                  </a:txBody>
                  <a:tcPr marL="73152" marR="73152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6B747D"/>
                          </a:solidFill>
                          <a:latin typeface="Arial"/>
                        </a:rPr>
                        <a:t>Titik putus = data hilang</a:t>
                      </a:r>
                    </a:p>
                  </a:txBody>
                  <a:tcPr marL="73152" marR="73152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2D64AC"/>
                          </a:solidFill>
                          <a:latin typeface="Arial"/>
                        </a:rPr>
                        <a:t>1 node gagal → otomatis reroute</a:t>
                      </a:r>
                    </a:p>
                  </a:txBody>
                  <a:tcPr marL="73152" marR="73152" marT="18288" marB="18288" anchor="ctr">
                    <a:solidFill>
                      <a:srgbClr val="E8E8E8"/>
                    </a:solidFill>
                  </a:tcPr>
                </a:tc>
              </a:tr>
              <a:tr h="318211"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133765"/>
                          </a:solidFill>
                          <a:latin typeface="Arial"/>
                        </a:rPr>
                        <a:t>Adaptasi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6B747D"/>
                          </a:solidFill>
                          <a:latin typeface="Arial"/>
                        </a:rPr>
                        <a:t>Ambang batas tetap, sulit diubah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2D64AC"/>
                          </a:solidFill>
                          <a:latin typeface="Arial"/>
                        </a:rPr>
                        <a:t>Model AI dapat dilatih ulang seiring kebutuhan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8211"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133765"/>
                          </a:solidFill>
                          <a:latin typeface="Arial"/>
                        </a:rPr>
                        <a:t>Skalabilitas</a:t>
                      </a:r>
                    </a:p>
                  </a:txBody>
                  <a:tcPr marL="73152" marR="73152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0" i="0">
                          <a:solidFill>
                            <a:srgbClr val="6B747D"/>
                          </a:solidFill>
                          <a:latin typeface="Arial"/>
                        </a:rPr>
                        <a:t>Penambahan titik mahal &amp; lambat</a:t>
                      </a:r>
                    </a:p>
                  </a:txBody>
                  <a:tcPr marL="73152" marR="73152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1" i="0">
                          <a:solidFill>
                            <a:srgbClr val="2D64AC"/>
                          </a:solidFill>
                          <a:latin typeface="Arial"/>
                        </a:rPr>
                        <a:t>Modular, terbukti scale 8-CH multi-hop</a:t>
                      </a:r>
                    </a:p>
                  </a:txBody>
                  <a:tcPr marL="73152" marR="73152" marT="18288" marB="18288" anchor="ctr"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063240" y="4443984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50" b="0" i="1">
                <a:solidFill>
                  <a:srgbClr val="757575"/>
                </a:solidFill>
                <a:latin typeface="Arial"/>
              </a:rPr>
              <a:t>Ringkasan kualitatif; angka detail lihat slide sebelumnya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4443984"/>
            <a:ext cx="368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 i="1">
                <a:solidFill>
                  <a:srgbClr val="757575"/>
                </a:solidFill>
                <a:latin typeface="Arial"/>
              </a:rPr>
              <a:t>GLD — Gas Leak Detection System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051560"/>
            <a:ext cx="7955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2D64AC"/>
                </a:solidFill>
                <a:latin typeface="Play"/>
              </a:rPr>
              <a:t>Bukan Konsep di Atas Kertas — Sudah Diuji di Lapangan</a:t>
            </a:r>
          </a:p>
        </p:txBody>
      </p:sp>
      <p:pic>
        <p:nvPicPr>
          <p:cNvPr id="5" name="Picture 4" descr="cluster_head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00200"/>
            <a:ext cx="1298448" cy="2697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" y="4315968"/>
            <a:ext cx="1298448" cy="3657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4334256"/>
            <a:ext cx="12984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00" b="0" i="1">
                <a:solidFill>
                  <a:srgbClr val="757575"/>
                </a:solidFill>
                <a:latin typeface="Arial"/>
              </a:rPr>
              <a:t>Instalasi Cluster Head + solar panel — RU VII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83664" y="1600200"/>
            <a:ext cx="3374136" cy="1234440"/>
          </a:xfrm>
          <a:prstGeom prst="roundRect">
            <a:avLst>
              <a:gd name="adj" fmla="val 8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29968" y="1728216"/>
            <a:ext cx="329184" cy="329184"/>
          </a:xfrm>
          <a:prstGeom prst="ellipse">
            <a:avLst/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972" y="1807220"/>
            <a:ext cx="171175" cy="1711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50592" y="1728216"/>
            <a:ext cx="26609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3765"/>
                </a:solidFill>
                <a:latin typeface="Play"/>
              </a:rPr>
              <a:t>RU IV — Cilacap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50592" y="1984248"/>
            <a:ext cx="1051560" cy="219456"/>
          </a:xfrm>
          <a:prstGeom prst="roundRect">
            <a:avLst>
              <a:gd name="adj" fmla="val 50000"/>
            </a:avLst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Pilot Aktif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2313432"/>
            <a:ext cx="308152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6B747D"/>
                </a:solidFill>
                <a:latin typeface="Arial"/>
              </a:rPr>
              <a:t>Rantai end-to-end GLD→CH→Gateway→Server terbukti berjalan; alarm push otomatis teruji; model LPG 8-sensor akurasi ≥92%.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85816" y="1600200"/>
            <a:ext cx="3374136" cy="1234440"/>
          </a:xfrm>
          <a:prstGeom prst="roundRect">
            <a:avLst>
              <a:gd name="adj" fmla="val 8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2120" y="1728216"/>
            <a:ext cx="329184" cy="329184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1124" y="1807220"/>
            <a:ext cx="171175" cy="1711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52744" y="1728216"/>
            <a:ext cx="26609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3765"/>
                </a:solidFill>
                <a:latin typeface="Play"/>
              </a:rPr>
              <a:t>RU VII — Kasim/Sorong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52744" y="1984248"/>
            <a:ext cx="1691640" cy="219456"/>
          </a:xfrm>
          <a:prstGeom prst="roundRect">
            <a:avLst>
              <a:gd name="adj" fmla="val 50000"/>
            </a:avLst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Kolaborasi Field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313432"/>
            <a:ext cx="308152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6B747D"/>
                </a:solidFill>
                <a:latin typeface="Arial"/>
              </a:rPr>
              <a:t>Field test kolaboratif dengan tim RU VII; instalasi solar panel + Cluster Head; titik uji lapangan kedua di luar lab kampus.</a:t>
            </a:r>
          </a:p>
        </p:txBody>
      </p:sp>
      <p:pic>
        <p:nvPicPr>
          <p:cNvPr id="20" name="Picture 19" descr="ruvii_aerial_b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2980944"/>
            <a:ext cx="6035040" cy="1918557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2304288" y="2980944"/>
            <a:ext cx="6035040" cy="1918557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4048" y="4919472"/>
            <a:ext cx="4206240" cy="20116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4937760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 i="1">
                <a:solidFill>
                  <a:srgbClr val="757575"/>
                </a:solidFill>
                <a:latin typeface="Arial"/>
              </a:rPr>
              <a:t>RU IV = ruang lingkup pilot aktif; RU VII = kolaborasi field test terpisah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937760"/>
            <a:ext cx="327355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757575"/>
                </a:solidFill>
                <a:latin typeface="Arial"/>
              </a:rPr>
              <a:t>GLD — Gas Leak Detection System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7955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>
                <a:solidFill>
                  <a:srgbClr val="2D64AC"/>
                </a:solidFill>
                <a:latin typeface="Play"/>
              </a:rPr>
              <a:t>Siap Memenuhi Permintaan Skala Besar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737360"/>
            <a:ext cx="8138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B747D"/>
                </a:solidFill>
                <a:latin typeface="Arial"/>
              </a:rPr>
              <a:t>Direkayasa &amp; diuji langsung oleh LAPI Ganesha Utama bersama Lab IoT dan Lab Fisika ITB — dan didukung mitra manufaktur untuk produksi volume besar.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2103120"/>
            <a:ext cx="8375904" cy="1188720"/>
          </a:xfrm>
          <a:prstGeom prst="roundRect">
            <a:avLst>
              <a:gd name="adj" fmla="val 6000"/>
            </a:avLst>
          </a:prstGeom>
          <a:solidFill>
            <a:srgbClr val="13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-9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4560"/>
            <a:ext cx="822960" cy="12526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72768" y="2231136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Play"/>
              </a:rPr>
              <a:t>Mitra Manufaktur Skala Besar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2542032"/>
            <a:ext cx="6858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8C0EF"/>
                </a:solidFill>
                <a:latin typeface="Arial"/>
              </a:rPr>
              <a:t>PT Samindo — bagian ekosistem manufaktur Samsung Indonesia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2798063"/>
            <a:ext cx="68580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80" b="0" i="0">
                <a:solidFill>
                  <a:srgbClr val="E8E8E8"/>
                </a:solidFill>
                <a:latin typeface="Arial"/>
              </a:rPr>
              <a:t>Kesiapan lini produksi manufaktur elektronik skala industri memastikan permintaan unit dalam jumlah besar dapat dipenuhi dengan konsistensi kualitas dan waktu pengiriman yang terjaga.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" y="3419856"/>
            <a:ext cx="2706624" cy="932688"/>
          </a:xfrm>
          <a:prstGeom prst="roundRect">
            <a:avLst>
              <a:gd name="adj" fmla="val 1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48640" y="3602736"/>
            <a:ext cx="365760" cy="365760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9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" y="3690518"/>
            <a:ext cx="190195" cy="19019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4127" y="358444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33765"/>
                </a:solidFill>
                <a:latin typeface="Play"/>
              </a:rPr>
              <a:t>R&amp;D Terverifikasi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3858768"/>
            <a:ext cx="1920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 i="0">
                <a:solidFill>
                  <a:srgbClr val="6B747D"/>
                </a:solidFill>
                <a:latin typeface="Arial"/>
              </a:rPr>
              <a:t>Diuji langsung Lab IoT &amp; Fisika ITB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18688" y="3419856"/>
            <a:ext cx="2706624" cy="932688"/>
          </a:xfrm>
          <a:prstGeom prst="roundRect">
            <a:avLst>
              <a:gd name="adj" fmla="val 1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83280" y="3602736"/>
            <a:ext cx="365760" cy="365760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9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062" y="3690518"/>
            <a:ext cx="190195" cy="19019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58768" y="358444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33765"/>
                </a:solidFill>
                <a:latin typeface="Play"/>
              </a:rPr>
              <a:t>Volume Fleksibel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8768" y="3858768"/>
            <a:ext cx="1920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 i="0">
                <a:solidFill>
                  <a:srgbClr val="6B747D"/>
                </a:solidFill>
                <a:latin typeface="Arial"/>
              </a:rPr>
              <a:t>Skala dari pilot hingga multi-kilang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53328" y="3419856"/>
            <a:ext cx="2706624" cy="932688"/>
          </a:xfrm>
          <a:prstGeom prst="roundRect">
            <a:avLst>
              <a:gd name="adj" fmla="val 1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7920" y="3602736"/>
            <a:ext cx="365760" cy="365760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-9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5702" y="3690518"/>
            <a:ext cx="190195" cy="19019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93408" y="358444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33765"/>
                </a:solidFill>
                <a:latin typeface="Play"/>
              </a:rPr>
              <a:t>Kualitas Terjaga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3858768"/>
            <a:ext cx="1920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 i="0">
                <a:solidFill>
                  <a:srgbClr val="6B747D"/>
                </a:solidFill>
                <a:latin typeface="Arial"/>
              </a:rPr>
              <a:t>Standar manufaktur elektronik nasional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7955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>
                <a:solidFill>
                  <a:srgbClr val="2D64AC"/>
                </a:solidFill>
                <a:latin typeface="Play"/>
              </a:rPr>
              <a:t>Peta Jalan Rollout — 6 Refinery Unit Pertamina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737360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B747D"/>
                </a:solidFill>
                <a:latin typeface="Arial"/>
              </a:rPr>
              <a:t>Program 9 bulan (Jun 2026 – Feb 2027), dimulai dari pilot RU IV Cilacap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2103120"/>
            <a:ext cx="1319784" cy="1417320"/>
          </a:xfrm>
          <a:prstGeom prst="roundRect">
            <a:avLst>
              <a:gd name="adj" fmla="val 1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9931" y="2231136"/>
            <a:ext cx="128016" cy="128016"/>
          </a:xfrm>
          <a:prstGeom prst="ellipse">
            <a:avLst/>
          </a:prstGeom>
          <a:solidFill>
            <a:srgbClr val="B9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468879"/>
            <a:ext cx="1319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33765"/>
                </a:solidFill>
                <a:latin typeface="Play"/>
              </a:rPr>
              <a:t>RU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724912"/>
            <a:ext cx="1319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19" b="0" i="0">
                <a:solidFill>
                  <a:srgbClr val="6B747D"/>
                </a:solidFill>
                <a:latin typeface="Arial"/>
              </a:rPr>
              <a:t>Dumai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09544"/>
            <a:ext cx="1173480" cy="219456"/>
          </a:xfrm>
          <a:prstGeom prst="roundRect">
            <a:avLst>
              <a:gd name="adj" fmla="val 50000"/>
            </a:avLst>
          </a:prstGeom>
          <a:solidFill>
            <a:srgbClr val="B9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80" b="1" i="0">
                <a:solidFill>
                  <a:srgbClr val="133765"/>
                </a:solidFill>
                <a:latin typeface="Arial"/>
              </a:rPr>
              <a:t>Roadmap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95272" y="2103120"/>
            <a:ext cx="1319784" cy="1417320"/>
          </a:xfrm>
          <a:prstGeom prst="roundRect">
            <a:avLst>
              <a:gd name="adj" fmla="val 1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91156" y="2231136"/>
            <a:ext cx="128016" cy="128016"/>
          </a:xfrm>
          <a:prstGeom prst="ellipse">
            <a:avLst/>
          </a:prstGeom>
          <a:solidFill>
            <a:srgbClr val="B9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95272" y="2468879"/>
            <a:ext cx="1319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33765"/>
                </a:solidFill>
                <a:latin typeface="Play"/>
              </a:rPr>
              <a:t>RU 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5272" y="2724912"/>
            <a:ext cx="1319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19" b="0" i="0">
                <a:solidFill>
                  <a:srgbClr val="6B747D"/>
                </a:solidFill>
                <a:latin typeface="Arial"/>
              </a:rPr>
              <a:t>Plaju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68424" y="3209544"/>
            <a:ext cx="1173480" cy="219456"/>
          </a:xfrm>
          <a:prstGeom prst="roundRect">
            <a:avLst>
              <a:gd name="adj" fmla="val 50000"/>
            </a:avLst>
          </a:prstGeom>
          <a:solidFill>
            <a:srgbClr val="B9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80" b="1" i="0">
                <a:solidFill>
                  <a:srgbClr val="133765"/>
                </a:solidFill>
                <a:latin typeface="Arial"/>
              </a:rPr>
              <a:t>Roadmap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6496" y="2103120"/>
            <a:ext cx="1319784" cy="1417320"/>
          </a:xfrm>
          <a:prstGeom prst="roundRect">
            <a:avLst>
              <a:gd name="adj" fmla="val 10000"/>
            </a:avLst>
          </a:prstGeom>
          <a:solidFill>
            <a:srgbClr val="13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02380" y="2231136"/>
            <a:ext cx="128016" cy="128016"/>
          </a:xfrm>
          <a:prstGeom prst="ellipse">
            <a:avLst/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6496" y="2468879"/>
            <a:ext cx="1319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Play"/>
              </a:rPr>
              <a:t>RU IV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6496" y="2724912"/>
            <a:ext cx="1319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19" b="0" i="0">
                <a:solidFill>
                  <a:srgbClr val="E8E8E8"/>
                </a:solidFill>
                <a:latin typeface="Arial"/>
              </a:rPr>
              <a:t>Cilacap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9648" y="3209544"/>
            <a:ext cx="1173480" cy="219456"/>
          </a:xfrm>
          <a:prstGeom prst="roundRect">
            <a:avLst>
              <a:gd name="adj" fmla="val 50000"/>
            </a:avLst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80" b="1" i="0">
                <a:solidFill>
                  <a:srgbClr val="FFFFFF"/>
                </a:solidFill>
                <a:latin typeface="Arial"/>
              </a:rPr>
              <a:t>Pilot Aktif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2103120"/>
            <a:ext cx="1319784" cy="1417320"/>
          </a:xfrm>
          <a:prstGeom prst="roundRect">
            <a:avLst>
              <a:gd name="adj" fmla="val 1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13604" y="2231136"/>
            <a:ext cx="128016" cy="128016"/>
          </a:xfrm>
          <a:prstGeom prst="ellipse">
            <a:avLst/>
          </a:prstGeom>
          <a:solidFill>
            <a:srgbClr val="B9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468879"/>
            <a:ext cx="1319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33765"/>
                </a:solidFill>
                <a:latin typeface="Play"/>
              </a:rPr>
              <a:t>RU 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724912"/>
            <a:ext cx="1319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19" b="0" i="0">
                <a:solidFill>
                  <a:srgbClr val="6B747D"/>
                </a:solidFill>
                <a:latin typeface="Arial"/>
              </a:rPr>
              <a:t>Balikpapan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90872" y="3209544"/>
            <a:ext cx="1173480" cy="219456"/>
          </a:xfrm>
          <a:prstGeom prst="roundRect">
            <a:avLst>
              <a:gd name="adj" fmla="val 50000"/>
            </a:avLst>
          </a:prstGeom>
          <a:solidFill>
            <a:srgbClr val="B9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80" b="1" i="0">
                <a:solidFill>
                  <a:srgbClr val="133765"/>
                </a:solidFill>
                <a:latin typeface="Arial"/>
              </a:rPr>
              <a:t>Roadmap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28944" y="2103120"/>
            <a:ext cx="1319784" cy="1417320"/>
          </a:xfrm>
          <a:prstGeom prst="roundRect">
            <a:avLst>
              <a:gd name="adj" fmla="val 1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24828" y="2231136"/>
            <a:ext cx="128016" cy="128016"/>
          </a:xfrm>
          <a:prstGeom prst="ellipse">
            <a:avLst/>
          </a:prstGeom>
          <a:solidFill>
            <a:srgbClr val="B9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28944" y="2468879"/>
            <a:ext cx="1319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33765"/>
                </a:solidFill>
                <a:latin typeface="Play"/>
              </a:rPr>
              <a:t>RU VI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28944" y="2724912"/>
            <a:ext cx="1319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19" b="0" i="0">
                <a:solidFill>
                  <a:srgbClr val="6B747D"/>
                </a:solidFill>
                <a:latin typeface="Arial"/>
              </a:rPr>
              <a:t>Balongan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02096" y="3209544"/>
            <a:ext cx="1173480" cy="219456"/>
          </a:xfrm>
          <a:prstGeom prst="roundRect">
            <a:avLst>
              <a:gd name="adj" fmla="val 50000"/>
            </a:avLst>
          </a:prstGeom>
          <a:solidFill>
            <a:srgbClr val="B9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80" b="1" i="0">
                <a:solidFill>
                  <a:srgbClr val="133765"/>
                </a:solidFill>
                <a:latin typeface="Arial"/>
              </a:rPr>
              <a:t>Roadmap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40168" y="2103120"/>
            <a:ext cx="1319784" cy="1417320"/>
          </a:xfrm>
          <a:prstGeom prst="roundRect">
            <a:avLst>
              <a:gd name="adj" fmla="val 10000"/>
            </a:avLst>
          </a:prstGeom>
          <a:solidFill>
            <a:srgbClr val="13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36052" y="2231136"/>
            <a:ext cx="128016" cy="128016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40168" y="2468879"/>
            <a:ext cx="1319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Play"/>
              </a:rPr>
              <a:t>RU VII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40168" y="2724912"/>
            <a:ext cx="1319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19" b="0" i="0">
                <a:solidFill>
                  <a:srgbClr val="E8E8E8"/>
                </a:solidFill>
                <a:latin typeface="Arial"/>
              </a:rPr>
              <a:t>Kasim/Sorong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13320" y="3209544"/>
            <a:ext cx="1173480" cy="219456"/>
          </a:xfrm>
          <a:prstGeom prst="roundRect">
            <a:avLst>
              <a:gd name="adj" fmla="val 50000"/>
            </a:avLst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80" b="1" i="0">
                <a:solidFill>
                  <a:srgbClr val="FFFFFF"/>
                </a:solidFill>
                <a:latin typeface="Arial"/>
              </a:rPr>
              <a:t>Field Test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3648456"/>
            <a:ext cx="8375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D64AC"/>
                </a:solidFill>
                <a:latin typeface="Arial"/>
              </a:rPr>
              <a:t>28 sensor gas  ·  22 Cluster Head  ·  7 Gateway — total deployment skala nasional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443984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50" b="0" i="1">
                <a:solidFill>
                  <a:srgbClr val="757575"/>
                </a:solidFill>
                <a:latin typeface="Arial"/>
              </a:rPr>
              <a:t>Sumber: Dokumen Kebutuhan Peralatan per RU v1.0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43984"/>
            <a:ext cx="368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 i="1">
                <a:solidFill>
                  <a:srgbClr val="757575"/>
                </a:solidFill>
                <a:latin typeface="Arial"/>
              </a:rPr>
              <a:t>GLD — Gas Leak Detection System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7955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 i="0">
                <a:solidFill>
                  <a:srgbClr val="2D64AC"/>
                </a:solidFill>
                <a:latin typeface="Play"/>
              </a:rPr>
              <a:t>Mengapa GLD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920240"/>
            <a:ext cx="4096512" cy="1078992"/>
          </a:xfrm>
          <a:prstGeom prst="roundRect">
            <a:avLst>
              <a:gd name="adj" fmla="val 9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2203704"/>
            <a:ext cx="512064" cy="512064"/>
          </a:xfrm>
          <a:prstGeom prst="ellipse">
            <a:avLst/>
          </a:prstGeom>
          <a:solidFill>
            <a:srgbClr val="38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-3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2326599"/>
            <a:ext cx="266273" cy="2662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07008" y="2066544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33765"/>
                </a:solidFill>
                <a:latin typeface="Play"/>
              </a:rPr>
              <a:t>Multi-Gas dalam Satu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377440"/>
            <a:ext cx="3127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>
                <a:solidFill>
                  <a:srgbClr val="6B747D"/>
                </a:solidFill>
                <a:latin typeface="Arial"/>
              </a:rPr>
              <a:t>Satu titik pasang mengenali banyak jenis gas sekaligus lewat klasifikasi 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920240"/>
            <a:ext cx="4096512" cy="1078992"/>
          </a:xfrm>
          <a:prstGeom prst="roundRect">
            <a:avLst>
              <a:gd name="adj" fmla="val 9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28032" y="2203704"/>
            <a:ext cx="512064" cy="512064"/>
          </a:xfrm>
          <a:prstGeom prst="ellipse">
            <a:avLst/>
          </a:prstGeom>
          <a:solidFill>
            <a:srgbClr val="2D6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5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0927" y="2326599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0" y="2066544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33765"/>
                </a:solidFill>
                <a:latin typeface="Play"/>
              </a:rPr>
              <a:t>AI yang Terus Belajar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377440"/>
            <a:ext cx="3127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>
                <a:solidFill>
                  <a:srgbClr val="6B747D"/>
                </a:solidFill>
                <a:latin typeface="Arial"/>
              </a:rPr>
              <a:t>Model dapat dilatih ulang untuk gas &amp; kondisi baru, tanpa ganti perangkat keras.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3145536"/>
            <a:ext cx="4096512" cy="1078992"/>
          </a:xfrm>
          <a:prstGeom prst="roundRect">
            <a:avLst>
              <a:gd name="adj" fmla="val 9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" y="3429000"/>
            <a:ext cx="512064" cy="512064"/>
          </a:xfrm>
          <a:prstGeom prst="ellipse">
            <a:avLst/>
          </a:prstGeom>
          <a:solidFill>
            <a:srgbClr val="123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3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3551895"/>
            <a:ext cx="266273" cy="26627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07008" y="3291840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33765"/>
                </a:solidFill>
                <a:latin typeface="Play"/>
              </a:rPr>
              <a:t>Mesh Privat Self-Healing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3602736"/>
            <a:ext cx="3127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>
                <a:solidFill>
                  <a:srgbClr val="6B747D"/>
                </a:solidFill>
                <a:latin typeface="Arial"/>
              </a:rPr>
              <a:t>Jaringan sendiri, tahan titik-gagal, data tetap sampai — sekaligus jadi infrastruktur komunikasi site.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145536"/>
            <a:ext cx="4096512" cy="1078992"/>
          </a:xfrm>
          <a:prstGeom prst="roundRect">
            <a:avLst>
              <a:gd name="adj" fmla="val 9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28032" y="3429000"/>
            <a:ext cx="512064" cy="512064"/>
          </a:xfrm>
          <a:prstGeom prst="ellipse">
            <a:avLst/>
          </a:prstGeom>
          <a:solidFill>
            <a:srgbClr val="13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-9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0927" y="3551895"/>
            <a:ext cx="266273" cy="266273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486400" y="3291840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33765"/>
                </a:solidFill>
                <a:latin typeface="Play"/>
              </a:rPr>
              <a:t>Siap Skala Nasional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602736"/>
            <a:ext cx="3127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>
                <a:solidFill>
                  <a:srgbClr val="6B747D"/>
                </a:solidFill>
                <a:latin typeface="Arial"/>
              </a:rPr>
              <a:t>Teruji di lebih dari satu lokasi kilang, didukung mitra manufaktur untuk volume besar.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75488" y="1691640"/>
            <a:ext cx="8046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"/>
              </a:rPr>
              <a:t>Mari Diskusikan Kebutuhan Deteksi Gas di Site Anda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2542032"/>
            <a:ext cx="6949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E8E8E8"/>
                </a:solidFill>
                <a:latin typeface="Arial"/>
              </a:rPr>
              <a:t>Tim LAPI Ganesha Utama — bersama Lab IoT &amp; Lab Fisika ITB — siap membahas pilot, integrasi, hingga rencana skala produksi bersama mitra manufaktur.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3776" y="3310128"/>
            <a:ext cx="5998464" cy="0"/>
          </a:xfrm>
          <a:prstGeom prst="line">
            <a:avLst/>
          </a:prstGeom>
          <a:ln w="12700">
            <a:solidFill>
              <a:srgbClr val="3E5B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75488" y="343814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LAPI Ganesha Utama  ·  Lab IoT &amp; Lab Fisika ITB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712463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AFC6E0"/>
                </a:solidFill>
                <a:latin typeface="Arial"/>
              </a:rPr>
              <a:t>Gas Leak Detection System  ·  contact@[isi kontak tim]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Kinarya ITB">
      <a:dk1>
        <a:srgbClr val="000000"/>
      </a:dk1>
      <a:lt1>
        <a:srgbClr val="FFFFFF"/>
      </a:lt1>
      <a:dk2>
        <a:srgbClr val="133765"/>
      </a:dk2>
      <a:lt2>
        <a:srgbClr val="E8E8E8"/>
      </a:lt2>
      <a:accent1>
        <a:srgbClr val="38C0EF"/>
      </a:accent1>
      <a:accent2>
        <a:srgbClr val="1CD8FF"/>
      </a:accent2>
      <a:accent3>
        <a:srgbClr val="2D64AC"/>
      </a:accent3>
      <a:accent4>
        <a:srgbClr val="18457F"/>
      </a:accent4>
      <a:accent5>
        <a:srgbClr val="12348E"/>
      </a:accent5>
      <a:accent6>
        <a:srgbClr val="002B5F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