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1.png"/><Relationship Id="rId6" Type="http://schemas.openxmlformats.org/officeDocument/2006/relationships/image" Target="../media/image-8-2.png"/><Relationship Id="rId7" Type="http://schemas.openxmlformats.org/officeDocument/2006/relationships/image" Target="../media/image-8-2.png"/><Relationship Id="rId8" Type="http://schemas.openxmlformats.org/officeDocument/2006/relationships/image" Target="../media/image-8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188720"/>
            <a:ext cx="1188720" cy="731520"/>
          </a:xfrm>
          <a:prstGeom prst="line">
            <a:avLst/>
          </a:prstGeom>
          <a:noFill/>
          <a:ln w="12700">
            <a:solidFill>
              <a:srgbClr val="17607D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1920240"/>
            <a:ext cx="640080" cy="1371600"/>
          </a:xfrm>
          <a:prstGeom prst="line">
            <a:avLst/>
          </a:prstGeom>
          <a:noFill/>
          <a:ln w="12700">
            <a:solidFill>
              <a:srgbClr val="17607D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10332720" y="3291840"/>
            <a:ext cx="1188720" cy="822960"/>
          </a:xfrm>
          <a:prstGeom prst="line">
            <a:avLst/>
          </a:prstGeom>
          <a:noFill/>
          <a:ln w="12700">
            <a:solidFill>
              <a:srgbClr val="17607D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 flipV="1">
            <a:off x="9052560" y="3566160"/>
            <a:ext cx="1280160" cy="548640"/>
          </a:xfrm>
          <a:prstGeom prst="line">
            <a:avLst/>
          </a:prstGeom>
          <a:noFill/>
          <a:ln w="12700">
            <a:solidFill>
              <a:srgbClr val="17607D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052560" y="1188720"/>
            <a:ext cx="640080" cy="2377440"/>
          </a:xfrm>
          <a:prstGeom prst="line">
            <a:avLst/>
          </a:prstGeom>
          <a:noFill/>
          <a:ln w="12700">
            <a:solidFill>
              <a:srgbClr val="17607D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9509760" y="4114800"/>
            <a:ext cx="822960" cy="1005840"/>
          </a:xfrm>
          <a:prstGeom prst="line">
            <a:avLst/>
          </a:prstGeom>
          <a:noFill/>
          <a:ln w="12700">
            <a:solidFill>
              <a:srgbClr val="17607D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8412480" y="4663440"/>
            <a:ext cx="1097280" cy="457200"/>
          </a:xfrm>
          <a:prstGeom prst="line">
            <a:avLst/>
          </a:prstGeom>
          <a:noFill/>
          <a:ln w="12700">
            <a:solidFill>
              <a:srgbClr val="17607D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8412480" y="3566160"/>
            <a:ext cx="640080" cy="1097280"/>
          </a:xfrm>
          <a:prstGeom prst="line">
            <a:avLst/>
          </a:prstGeom>
          <a:noFill/>
          <a:ln w="12700">
            <a:solidFill>
              <a:srgbClr val="17607D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0" y="1920240"/>
            <a:ext cx="274320" cy="3474720"/>
          </a:xfrm>
          <a:prstGeom prst="line">
            <a:avLst/>
          </a:prstGeom>
          <a:noFill/>
          <a:ln w="12700">
            <a:solidFill>
              <a:srgbClr val="17607D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11155680" y="3291840"/>
            <a:ext cx="365760" cy="2103120"/>
          </a:xfrm>
          <a:prstGeom prst="line">
            <a:avLst/>
          </a:prstGeom>
          <a:noFill/>
          <a:ln w="12700">
            <a:solidFill>
              <a:srgbClr val="17607D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2720" y="4114800"/>
            <a:ext cx="822960" cy="1280160"/>
          </a:xfrm>
          <a:prstGeom prst="line">
            <a:avLst/>
          </a:prstGeom>
          <a:noFill/>
          <a:ln w="12700">
            <a:solidFill>
              <a:srgbClr val="17607D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37776" y="113385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26496" y="186537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66576" y="323697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77856" y="405993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8997696" y="351129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9454896" y="506577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00816" y="534009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8357616" y="460857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19659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 DETECTION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23317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GLD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822960" y="3611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dini kebocoran gas — multi-gas, AI yang bisa terus belajar,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jaringan mesh privat yang menyembuhkan dirinya sendiri.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5989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  ·  IoT Multi-Sensor &amp; AI Edge untuk Industri Migas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Metode Deteksi Konvensional Sudah Tidak Cukup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keterbatasan yang terus berulang di lapangan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0B2E4F"/>
          </a:solidFill>
          <a:ln/>
        </p:spPr>
      </p:sp>
      <p:sp>
        <p:nvSpPr>
          <p:cNvPr id="5" name="Shape 3"/>
          <p:cNvSpPr/>
          <p:nvPr/>
        </p:nvSpPr>
        <p:spPr>
          <a:xfrm>
            <a:off x="1499616" y="2514600"/>
            <a:ext cx="822960" cy="822960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6" name="Image 0" descr="/tmp/claude-0/-home-user-GLD-V2-Report-2026/8b852038-2eb2-55a5-9182-130dcc240a6c/scratchpad/gld_pitch/icons_out/pa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271576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56616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Patroli Manual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96112" y="4206240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Bergantung jadwal &amp; panca indera petugas — jeda waktu antar-ronda membuka celah kebocoran tak terdeteksi.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38144" y="21488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0B2E4F"/>
          </a:solidFill>
          <a:ln/>
        </p:spPr>
      </p:sp>
      <p:sp>
        <p:nvSpPr>
          <p:cNvPr id="10" name="Shape 7"/>
          <p:cNvSpPr/>
          <p:nvPr/>
        </p:nvSpPr>
        <p:spPr>
          <a:xfrm>
            <a:off x="4297680" y="2514600"/>
            <a:ext cx="822960" cy="822960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11" name="Image 1" descr="/tmp/claude-0/-home-user-GLD-V2-Report-2026/8b852038-2eb2-55a5-9182-130dcc240a6c/scratchpad/gld_pitch/icons_out/si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271576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66744" y="356616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Gas Tunggal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3694176" y="4206240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titik hanya mengenali satu jenis gas; risiko campuran gas lain lolos begitu saja.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6208" y="21488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0B2E4F"/>
          </a:solidFill>
          <a:ln/>
        </p:spPr>
      </p:sp>
      <p:sp>
        <p:nvSpPr>
          <p:cNvPr id="15" name="Shape 11"/>
          <p:cNvSpPr/>
          <p:nvPr/>
        </p:nvSpPr>
        <p:spPr>
          <a:xfrm>
            <a:off x="7095744" y="2514600"/>
            <a:ext cx="822960" cy="822960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16" name="Image 2" descr="/tmp/claude-0/-home-user-GLD-V2-Report-2026/8b852038-2eb2-55a5-9182-130dcc240a6c/scratchpad/gld_pitch/icons_out/bli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271576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64808" y="356616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 Spot &amp; Delay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6492240" y="4206240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sulit jangkau tak termonitor real-time; respons insiden baru dimulai setelah laporan manual.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34272" y="21488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0B2E4F"/>
          </a:solidFill>
          <a:ln/>
        </p:spPr>
      </p:sp>
      <p:sp>
        <p:nvSpPr>
          <p:cNvPr id="20" name="Shape 15"/>
          <p:cNvSpPr/>
          <p:nvPr/>
        </p:nvSpPr>
        <p:spPr>
          <a:xfrm>
            <a:off x="9893808" y="2514600"/>
            <a:ext cx="822960" cy="822960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21" name="Image 3" descr="/tmp/claude-0/-home-user-GLD-V2-Report-2026/8b852038-2eb2-55a5-9182-130dcc240a6c/scratchpad/gld_pitch/icons_out/n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976" y="271576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62872" y="356616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Jaringan Bergantung Provider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9290304" y="4206240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Instalasi kabel tetap atau koneksi telko publik rentan putus dan mahal diperluas ke area luas.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pengamatan lapangan &amp; requirement klien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GLD — Gas Leak Detection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GLD: Satu Sistem, Empat Lapis yang Saling Menutup Celah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sensor edge-AI → jaringan mesh privat → gateway → dashboard real-time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514600"/>
            <a:ext cx="2395728" cy="3246120"/>
          </a:xfrm>
          <a:prstGeom prst="roundRect">
            <a:avLst>
              <a:gd name="adj" fmla="val 3817"/>
            </a:avLst>
          </a:prstGeom>
          <a:solidFill>
            <a:srgbClr val="081F38"/>
          </a:solidFill>
          <a:ln w="12700">
            <a:solidFill>
              <a:srgbClr val="1760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6609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27048" y="3017520"/>
            <a:ext cx="713232" cy="713232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7" name="Image 0" descr="/tmp/claude-0/-home-user-GLD-V2-Report-2026/8b852038-2eb2-55a5-9182-130dcc240a6c/scratchpad/gld_pitch/icons_out/sen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318211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86791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Node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4325112"/>
            <a:ext cx="20299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sensor gas + AI edge on-chip di tiap titik pasang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099816" y="3817620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3465576" y="2514600"/>
            <a:ext cx="2395728" cy="3246120"/>
          </a:xfrm>
          <a:prstGeom prst="roundRect">
            <a:avLst>
              <a:gd name="adj" fmla="val 3817"/>
            </a:avLst>
          </a:prstGeom>
          <a:solidFill>
            <a:srgbClr val="081F38"/>
          </a:solidFill>
          <a:ln w="12700">
            <a:solidFill>
              <a:srgbClr val="17607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48456" y="26609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06824" y="3017520"/>
            <a:ext cx="713232" cy="713232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14" name="Image 1" descr="/tmp/claude-0/-home-user-GLD-V2-Report-2026/8b852038-2eb2-55a5-9182-130dcc240a6c/scratchpad/gld_pitch/icons_out/me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318211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48456" y="386791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Mesh Privat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648456" y="4325112"/>
            <a:ext cx="20299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Star-mesh multi-hop antar Cluster Head, self-healing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879592" y="3817620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6245352" y="2514600"/>
            <a:ext cx="2395728" cy="3246120"/>
          </a:xfrm>
          <a:prstGeom prst="roundRect">
            <a:avLst>
              <a:gd name="adj" fmla="val 3817"/>
            </a:avLst>
          </a:prstGeom>
          <a:solidFill>
            <a:srgbClr val="081F38"/>
          </a:solidFill>
          <a:ln w="12700">
            <a:solidFill>
              <a:srgbClr val="17607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28232" y="26609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086600" y="3017520"/>
            <a:ext cx="713232" cy="713232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21" name="Image 2" descr="/tmp/claude-0/-home-user-GLD-V2-Report-2026/8b852038-2eb2-55a5-9182-130dcc240a6c/scratchpad/gld_pitch/icons_out/gatew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182112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28232" y="386791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28232" y="4325112"/>
            <a:ext cx="20299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 data lapangan, jembatan ke server lokal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659368" y="3817620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5" name="Shape 20"/>
          <p:cNvSpPr/>
          <p:nvPr/>
        </p:nvSpPr>
        <p:spPr>
          <a:xfrm>
            <a:off x="9025128" y="2514600"/>
            <a:ext cx="2395728" cy="3246120"/>
          </a:xfrm>
          <a:prstGeom prst="roundRect">
            <a:avLst>
              <a:gd name="adj" fmla="val 3817"/>
            </a:avLst>
          </a:prstGeom>
          <a:solidFill>
            <a:srgbClr val="081F38"/>
          </a:solidFill>
          <a:ln w="12700">
            <a:solidFill>
              <a:srgbClr val="17607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208008" y="26609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9866376" y="3017520"/>
            <a:ext cx="713232" cy="713232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28" name="Image 3" descr="/tmp/claude-0/-home-user-GLD-V2-Report-2026/8b852038-2eb2-55a5-9182-130dcc240a6c/scratchpad/gld_pitch/icons_out/da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0968" y="3182112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08008" y="386791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9208008" y="4325112"/>
            <a:ext cx="20299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Peta, alarm, tren, dan riwayat kesehatan perangkat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kematangan TRL-7 — teknologi teruji di kilang, bukan lagi prototipe laboratorium.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Bukan Satu Gas — Satu Titik Pasang Mengenali Banyak Gas Sekaligus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931920" cy="4572000"/>
          </a:xfrm>
          <a:prstGeom prst="roundRect">
            <a:avLst>
              <a:gd name="adj" fmla="val 2326"/>
            </a:avLst>
          </a:prstGeom>
          <a:solidFill>
            <a:srgbClr val="0B2E4F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288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8×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gas dalam satu node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3291840" cy="0"/>
          </a:xfrm>
          <a:prstGeom prst="line">
            <a:avLst/>
          </a:prstGeom>
          <a:noFill/>
          <a:ln w="12700">
            <a:solidFill>
              <a:srgbClr val="176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03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mengklasifikasikan jenis gas dari pola kombinasi sensor — bukan sekadar ambang batas tunggal.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4846320"/>
            <a:ext cx="640080" cy="640080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9" name="Image 0" descr="/tmp/claude-0/-home-user-GLD-V2-Report-2026/8b852038-2eb2-55a5-9182-130dcc240a6c/scratchpad/gld_pitch/icons_out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499262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4892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klasifikasi on-chip 99,20%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(ESP32-S3, edge AI, int8)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892040" y="155448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11496" y="1773936"/>
            <a:ext cx="566928" cy="566928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13" name="Image 1" descr="/tmp/claude-0/-home-user-GLD-V2-Report-2026/8b852038-2eb2-55a5-9182-130dcc240a6c/scratchpad/gld_pitch/icons_out/fi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90195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24728" y="177393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LPG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824728" y="213969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mudah terbakar utama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321040" y="155448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40496" y="1773936"/>
            <a:ext cx="566928" cy="566928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18" name="Image 2" descr="/tmp/claude-0/-home-user-GLD-V2-Report-2026/8b852038-2eb2-55a5-9182-130dcc240a6c/scratchpad/gld_pitch/icons_out/wi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190195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53728" y="177393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Metana / CO₂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9253728" y="213969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proses &amp; lingkungan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892040" y="342900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111496" y="3648456"/>
            <a:ext cx="566928" cy="566928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23" name="Image 3" descr="/tmp/claude-0/-home-user-GLD-V2-Report-2026/8b852038-2eb2-55a5-9182-130dcc240a6c/scratchpad/gld_pitch/icons_out/drop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377647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824728" y="36484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H₂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824728" y="40142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Hidrogen — deteksi dini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321040" y="342900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540496" y="3648456"/>
            <a:ext cx="566928" cy="566928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28" name="Image 4" descr="/tmp/claude-0/-home-user-GLD-V2-Report-2026/8b852038-2eb2-55a5-9182-130dcc240a6c/scratchpad/gld_pitch/icons_out/radia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3776472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253728" y="36484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Udara Bersih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9253728" y="40142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referensi akurat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892040" y="5413248"/>
            <a:ext cx="6675120" cy="621792"/>
          </a:xfrm>
          <a:prstGeom prst="roundRect">
            <a:avLst>
              <a:gd name="adj" fmla="val 11765"/>
            </a:avLst>
          </a:prstGeom>
          <a:solidFill>
            <a:srgbClr val="FDF3E3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093208" y="5413248"/>
            <a:ext cx="6272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C97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perluasan kelas: Benzena, CO, dan H₂S untuk kebutuhan alarm toksik langsung.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Dual-Branch, 4 kelas tervalidasi; perluasan kelas sedang berjalan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GLD — Gas Leak Detection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60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yang Bisa Terus "Diajari" — Bukan Ambang Batas yang Kaku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konvensional berhenti di satu ambang tetap. Model GLD dilatih dari data lapangan nyata dan dapat diperbarui saat kondisi atau jenis gas baru muncul — tanpa mengganti perangkat keras.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3246120" cy="2286000"/>
          </a:xfrm>
          <a:prstGeom prst="roundRect">
            <a:avLst>
              <a:gd name="adj" fmla="val 4000"/>
            </a:avLst>
          </a:prstGeom>
          <a:solidFill>
            <a:srgbClr val="0B2E4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8346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99,20%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96112" y="3886200"/>
            <a:ext cx="2734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klasifikasi on-chip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(int8, tervalidasi lapangan)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06240" y="2514600"/>
            <a:ext cx="3246120" cy="2286000"/>
          </a:xfrm>
          <a:prstGeom prst="roundRect">
            <a:avLst>
              <a:gd name="adj" fmla="val 4000"/>
            </a:avLst>
          </a:prstGeom>
          <a:solidFill>
            <a:srgbClr val="0B2E4F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28346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9,14 KB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62272" y="3886200"/>
            <a:ext cx="2734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model — cukup ringan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langsung di edge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0" y="2514600"/>
            <a:ext cx="3246120" cy="2286000"/>
          </a:xfrm>
          <a:prstGeom prst="roundRect">
            <a:avLst>
              <a:gd name="adj" fmla="val 4000"/>
            </a:avLst>
          </a:prstGeom>
          <a:solidFill>
            <a:srgbClr val="0B2E4F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8346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4→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028432" y="3886200"/>
            <a:ext cx="2734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gas saat ini, terus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bertambah lewat re-training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81F38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5257800"/>
            <a:ext cx="685800" cy="685800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15" name="Image 0" descr="/tmp/claude-0/-home-user-GLD-V2-Report-2026/8b852038-2eb2-55a5-9182-130dcc240a6c/scratchpad/gld_pitch/icons_out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5413248"/>
            <a:ext cx="374904" cy="37490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37360" y="52120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Inferensi berjalan langsung di chip ESP32-S3 pada tiap sensor node (edge AI) — keputusan deteksi tidak menunggu koneksi ke server pusat, sehingga tetap responsif walau jaringan sibuk.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Arsitektur: CNN Dual-Branch (sensor + datasheet-sensitivity)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GLD — Gas Leak Detection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Jaringan Mesh Privat yang Menyembuhkan Dirinya Sendiri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tetap sampai ke server meski satu titik gagal — dan jaringannya milik sendiri, bukan sewa infrastruktur publik.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 flipH="1">
            <a:off x="1371600" y="2468880"/>
            <a:ext cx="1737360" cy="1280160"/>
          </a:xfrm>
          <a:prstGeom prst="line">
            <a:avLst/>
          </a:prstGeom>
          <a:noFill/>
          <a:ln w="19050">
            <a:solidFill>
              <a:srgbClr val="17607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108960" y="2468880"/>
            <a:ext cx="1737360" cy="1280160"/>
          </a:xfrm>
          <a:prstGeom prst="line">
            <a:avLst/>
          </a:prstGeom>
          <a:noFill/>
          <a:ln w="19050">
            <a:solidFill>
              <a:srgbClr val="17607D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371600" y="3749040"/>
            <a:ext cx="640080" cy="1828800"/>
          </a:xfrm>
          <a:prstGeom prst="line">
            <a:avLst/>
          </a:prstGeom>
          <a:noFill/>
          <a:ln w="19050">
            <a:solidFill>
              <a:srgbClr val="17607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flipH="1">
            <a:off x="4206240" y="3749040"/>
            <a:ext cx="640080" cy="1828800"/>
          </a:xfrm>
          <a:prstGeom prst="line">
            <a:avLst/>
          </a:prstGeom>
          <a:noFill/>
          <a:ln w="19050">
            <a:solidFill>
              <a:srgbClr val="17607D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371600" y="3749040"/>
            <a:ext cx="3474720" cy="9144"/>
          </a:xfrm>
          <a:prstGeom prst="line">
            <a:avLst/>
          </a:prstGeom>
          <a:noFill/>
          <a:ln w="19050">
            <a:solidFill>
              <a:srgbClr val="17607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011680" y="5577840"/>
            <a:ext cx="2194560" cy="9144"/>
          </a:xfrm>
          <a:prstGeom prst="line">
            <a:avLst/>
          </a:prstGeom>
          <a:noFill/>
          <a:ln w="19050">
            <a:solidFill>
              <a:srgbClr val="17607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71600" y="3749040"/>
            <a:ext cx="2834640" cy="182880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16352" y="2176272"/>
            <a:ext cx="585216" cy="585216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12" name="Image 0" descr="/tmp/claude-0/-home-user-GLD-V2-Report-2026/8b852038-2eb2-55a5-9182-130dcc240a6c/scratchpad/gld_pitch/icons_out/gate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2304288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468880" y="2788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115568" y="3493008"/>
            <a:ext cx="512064" cy="512064"/>
          </a:xfrm>
          <a:prstGeom prst="ellipse">
            <a:avLst/>
          </a:prstGeom>
          <a:solidFill>
            <a:srgbClr val="081F38"/>
          </a:solidFill>
          <a:ln w="25400">
            <a:solidFill>
              <a:srgbClr val="F2A93B"/>
            </a:solidFill>
            <a:prstDash val="solid"/>
          </a:ln>
        </p:spPr>
      </p:sp>
      <p:pic>
        <p:nvPicPr>
          <p:cNvPr id="15" name="Image 1" descr="/tmp/claude-0/-home-user-GLD-V2-Report-2026/8b852038-2eb2-55a5-9182-130dcc240a6c/scratchpad/gld_pitch/icons_out/nod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3602736"/>
            <a:ext cx="292608" cy="2926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590288" y="3493008"/>
            <a:ext cx="512064" cy="512064"/>
          </a:xfrm>
          <a:prstGeom prst="ellipse">
            <a:avLst/>
          </a:prstGeom>
          <a:solidFill>
            <a:srgbClr val="7A2E2E"/>
          </a:solidFill>
          <a:ln w="25400">
            <a:solidFill>
              <a:srgbClr val="D96C6C"/>
            </a:solidFill>
            <a:prstDash val="solid"/>
          </a:ln>
        </p:spPr>
      </p:sp>
      <p:pic>
        <p:nvPicPr>
          <p:cNvPr id="17" name="Image 2" descr="/tmp/claude-0/-home-user-GLD-V2-Report-2026/8b852038-2eb2-55a5-9182-130dcc240a6c/scratchpad/gld_pitch/icons_out/nod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360273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90288" y="3493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1755648" y="5321808"/>
            <a:ext cx="512064" cy="512064"/>
          </a:xfrm>
          <a:prstGeom prst="ellipse">
            <a:avLst/>
          </a:prstGeom>
          <a:solidFill>
            <a:srgbClr val="081F38"/>
          </a:solidFill>
          <a:ln w="25400">
            <a:solidFill>
              <a:srgbClr val="F2A93B"/>
            </a:solidFill>
            <a:prstDash val="solid"/>
          </a:ln>
        </p:spPr>
      </p:sp>
      <p:pic>
        <p:nvPicPr>
          <p:cNvPr id="20" name="Image 3" descr="/tmp/claude-0/-home-user-GLD-V2-Report-2026/8b852038-2eb2-55a5-9182-130dcc240a6c/scratchpad/gld_pitch/icons_out/nod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431536"/>
            <a:ext cx="292608" cy="29260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950208" y="5321808"/>
            <a:ext cx="512064" cy="512064"/>
          </a:xfrm>
          <a:prstGeom prst="ellipse">
            <a:avLst/>
          </a:prstGeom>
          <a:solidFill>
            <a:srgbClr val="081F38"/>
          </a:solidFill>
          <a:ln w="25400">
            <a:solidFill>
              <a:srgbClr val="F2A93B"/>
            </a:solidFill>
            <a:prstDash val="solid"/>
          </a:ln>
        </p:spPr>
      </p:sp>
      <p:pic>
        <p:nvPicPr>
          <p:cNvPr id="22" name="Image 4" descr="/tmp/claude-0/-home-user-GLD-V2-Report-2026/8b852038-2eb2-55a5-9182-130dcc240a6c/scratchpad/gld_pitch/icons_out/nod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9936" y="5431536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59893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titik CH gagal → mesh otomatis reroute (garis amber) — data tetap sampai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309360" y="2057400"/>
            <a:ext cx="685800" cy="685800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25" name="Image 5" descr="/tmp/claude-0/-home-user-GLD-V2-Report-2026/8b852038-2eb2-55a5-9182-130dcc240a6c/scratchpad/gld_pitch/icons_out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2212848"/>
            <a:ext cx="374904" cy="37490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78040" y="19659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Multi-Hop</a:t>
            </a:r>
            <a:endParaRPr lang="en-US" sz="1550" dirty="0"/>
          </a:p>
        </p:txBody>
      </p:sp>
      <p:sp>
        <p:nvSpPr>
          <p:cNvPr id="27" name="Text 19"/>
          <p:cNvSpPr/>
          <p:nvPr/>
        </p:nvSpPr>
        <p:spPr>
          <a:xfrm>
            <a:off x="7178040" y="235000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Head saling menopang; jalur alternatif terbentuk otomatis saat satu node down — terbukti pada mesh 8-CH lintas area luas.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309360" y="3547872"/>
            <a:ext cx="685800" cy="685800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29" name="Image 6" descr="/tmp/claude-0/-home-user-GLD-V2-Report-2026/8b852038-2eb2-55a5-9182-130dcc240a6c/scratchpad/gld_pitch/icons_out/hou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808" y="3703320"/>
            <a:ext cx="374904" cy="37490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178040" y="34564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Jaringan Privat, Bukan Publik</a:t>
            </a:r>
            <a:endParaRPr lang="en-US" sz="1550" dirty="0"/>
          </a:p>
        </p:txBody>
      </p:sp>
      <p:sp>
        <p:nvSpPr>
          <p:cNvPr id="31" name="Text 22"/>
          <p:cNvSpPr/>
          <p:nvPr/>
        </p:nvSpPr>
        <p:spPr>
          <a:xfrm>
            <a:off x="7178040" y="38404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mesh milik sendiri — tidak bergantung sinyal seluler/internet ISP, cocok untuk area kilang yang terisolasi sinyal publik.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6309360" y="5038344"/>
            <a:ext cx="685800" cy="685800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33" name="Image 7" descr="/tmp/claude-0/-home-user-GLD-V2-Report-2026/8b852038-2eb2-55a5-9182-130dcc240a6c/scratchpad/gld_pitch/icons_out/bel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4808" y="5193792"/>
            <a:ext cx="374904" cy="37490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178040" y="494690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Push Real-Time</a:t>
            </a:r>
            <a:endParaRPr lang="en-US" sz="1550" dirty="0"/>
          </a:p>
        </p:txBody>
      </p:sp>
      <p:sp>
        <p:nvSpPr>
          <p:cNvPr id="35" name="Text 25"/>
          <p:cNvSpPr/>
          <p:nvPr/>
        </p:nvSpPr>
        <p:spPr>
          <a:xfrm>
            <a:off x="7178040" y="533095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Kejadian bocor gas langsung didorong ke server tanpa menunggu siklus polling — sudah diuji dan terbukti berfungsi di lapangan.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GLD vs. Metode Konvensional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4846320"/>
        </p:xfrm>
        <a:graphic>
          <a:graphicData uri="http://schemas.openxmlformats.org/drawingml/2006/table">
            <a:tbl>
              <a:tblPr/>
              <a:tblGrid>
                <a:gridCol w="2377440"/>
                <a:gridCol w="4251960"/>
                <a:gridCol w="4251960"/>
              </a:tblGrid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Metode Konvensional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 GLD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Cakupan gas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2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 jenis gas / titik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60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Multi-gas dalam satu node (AI classification)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Deteksi &amp; respons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2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Patroli berkala, ada jeda waktu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60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24/7, alarm push real-time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Jaringan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2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Kabel tetap / bergantung provider publik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60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 LoRa privat, self-healing multi-hop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Ketahanan titik gagal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2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Titik putus = data hilang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60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node gagal → otomatis reroute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2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Ambang batas tetap, sulit diubah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60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AI dapat dilatih ulang seiring kebutuhan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Skalabilitas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2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Penambahan titik mahal &amp; lambat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60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Modular, terbukti scale 8-CH multi-hop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Bukan Konsep di Atas Kertas — Sudah Diuji di Lapangan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4572000"/>
          </a:xfrm>
          <a:prstGeom prst="roundRect">
            <a:avLst>
              <a:gd name="adj" fmla="val 2000"/>
            </a:avLst>
          </a:prstGeom>
          <a:solidFill>
            <a:srgbClr val="081F38"/>
          </a:solidFill>
          <a:ln w="12700">
            <a:solidFill>
              <a:srgbClr val="17607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874520"/>
            <a:ext cx="640080" cy="640080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5" name="Image 0" descr="/tmp/claude-0/-home-user-GLD-V2-Report-2026/8b852038-2eb2-55a5-9182-130dcc240a6c/scratchpad/gld_pitch/icons_out/l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0299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84708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 IV — Cilacap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737360" y="2267712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8" name="Text 5"/>
          <p:cNvSpPr/>
          <p:nvPr/>
        </p:nvSpPr>
        <p:spPr>
          <a:xfrm>
            <a:off x="1737360" y="22677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Aktif</a:t>
            </a:r>
            <a:endParaRPr lang="en-US" sz="1100" dirty="0"/>
          </a:p>
        </p:txBody>
      </p:sp>
      <p:pic>
        <p:nvPicPr>
          <p:cNvPr id="9" name="Image 1" descr="/tmp/claude-0/-home-user-GLD-V2-Report-2026/8b852038-2eb2-55a5-9182-130dcc240a6c/scratchpad/gld_pitch/icons_out/check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5351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53312" y="292608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Rantai end-to-end GLD → Cluster Head → Gateway → Server terbukti berjalan</a:t>
            </a:r>
            <a:endParaRPr lang="en-US" sz="1250" dirty="0"/>
          </a:p>
        </p:txBody>
      </p:sp>
      <p:pic>
        <p:nvPicPr>
          <p:cNvPr id="11" name="Image 2" descr="/tmp/claude-0/-home-user-GLD-V2-Report-2026/8b852038-2eb2-55a5-9182-130dcc240a6c/scratchpad/gld_pitch/icons_out/check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1363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53312" y="388620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deteksi LPG 8-sensor akurasi ≥92% pada dataset lapangan</a:t>
            </a:r>
            <a:endParaRPr lang="en-US" sz="1250" dirty="0"/>
          </a:p>
        </p:txBody>
      </p:sp>
      <p:pic>
        <p:nvPicPr>
          <p:cNvPr id="13" name="Image 3" descr="/tmp/claude-0/-home-user-GLD-V2-Report-2026/8b852038-2eb2-55a5-9182-130dcc240a6c/scratchpad/gld_pitch/icons_out/check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873752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53312" y="484632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push otomatis teruji: GLD disemprot gas → server menerima alarm tanpa menunggu polling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6263640" y="1554480"/>
            <a:ext cx="5257800" cy="4572000"/>
          </a:xfrm>
          <a:prstGeom prst="roundRect">
            <a:avLst>
              <a:gd name="adj" fmla="val 2000"/>
            </a:avLst>
          </a:prstGeom>
          <a:solidFill>
            <a:srgbClr val="081F38"/>
          </a:solidFill>
          <a:ln w="12700">
            <a:solidFill>
              <a:srgbClr val="17607D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583680" y="1874520"/>
            <a:ext cx="640080" cy="640080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17" name="Image 4" descr="/tmp/claude-0/-home-user-GLD-V2-Report-2026/8b852038-2eb2-55a5-9182-130dcc240a6c/scratchpad/gld_pitch/icons_out/lo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2029968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360920" y="184708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 VII — Kasim/Sorong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7360920" y="2267712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20" name="Text 13"/>
          <p:cNvSpPr/>
          <p:nvPr/>
        </p:nvSpPr>
        <p:spPr>
          <a:xfrm>
            <a:off x="7360920" y="22677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Kolaborasi Field Test</a:t>
            </a:r>
            <a:endParaRPr lang="en-US" sz="1100" dirty="0"/>
          </a:p>
        </p:txBody>
      </p:sp>
      <p:pic>
        <p:nvPicPr>
          <p:cNvPr id="21" name="Image 5" descr="/tmp/claude-0/-home-user-GLD-V2-Report-2026/8b852038-2eb2-55a5-9182-130dcc240a6c/scratchpad/gld_pitch/icons_out/check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2953512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76872" y="292608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 kolaboratif dengan tim RU VII pada tahun sebelumnya</a:t>
            </a:r>
            <a:endParaRPr lang="en-US" sz="1250" dirty="0"/>
          </a:p>
        </p:txBody>
      </p:sp>
      <p:pic>
        <p:nvPicPr>
          <p:cNvPr id="23" name="Image 6" descr="/tmp/claude-0/-home-user-GLD-V2-Report-2026/8b852038-2eb2-55a5-9182-130dcc240a6c/scratchpad/gld_pitch/icons_out/check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3913632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76872" y="388620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titik uji lapangan kedua di luar lingkungan lab kampus</a:t>
            </a:r>
            <a:endParaRPr lang="en-US" sz="1250" dirty="0"/>
          </a:p>
        </p:txBody>
      </p:sp>
      <p:pic>
        <p:nvPicPr>
          <p:cNvPr id="25" name="Image 7" descr="/tmp/claude-0/-home-user-GLD-V2-Report-2026/8b852038-2eb2-55a5-9182-130dcc240a6c/scratchpad/gld_pitch/icons_out/check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4873752"/>
            <a:ext cx="256032" cy="25603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76872" y="484632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Memperkuat rekam jejak sistem di lebih dari satu lokasi kilang nyata</a:t>
            </a:r>
            <a:endParaRPr lang="en-US" sz="1250" dirty="0"/>
          </a:p>
        </p:txBody>
      </p:sp>
      <p:sp>
        <p:nvSpPr>
          <p:cNvPr id="27" name="Text 1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IV = ruang lingkup pilot aktif; RU VII = kolaborasi field test terpisah</a:t>
            </a:r>
            <a:endParaRPr lang="en-US" sz="1000" dirty="0"/>
          </a:p>
        </p:txBody>
      </p:sp>
      <p:sp>
        <p:nvSpPr>
          <p:cNvPr id="28" name="Text 18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GLD — Gas Leak Detection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Siap Memenuhi Permintaan Skala Besar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Dirancang &amp; divalidasi TRL-7 oleh LAPI Ganesha Utama bersama Lab IoT dan Lab Fisika ITB — dan didukung mitra manufaktur untuk produksi volume besar.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881360" cy="2423160"/>
          </a:xfrm>
          <a:prstGeom prst="roundRect">
            <a:avLst>
              <a:gd name="adj" fmla="val 3774"/>
            </a:avLst>
          </a:prstGeom>
          <a:solidFill>
            <a:srgbClr val="0B2E4F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514600"/>
            <a:ext cx="1280160" cy="1280160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6" name="Image 0" descr="/tmp/claude-0/-home-user-GLD-V2-Report-2026/8b852038-2eb2-55a5-9182-130dcc240a6c/scratchpad/gld_pitch/icons_out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80720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2468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Mitra Manufaktur Skala Besar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60604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Samindo — bagian ekosistem manufaktur Samsung Indonesia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606040" y="3364992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Kesiapan lini produksi manufaktur elektronik skala industri memastikan permintaan unit dalam jumlah besar — untuk rollout multi-RU maupun ekspansi ke klien baru — dapat dipenuhi dengan konsistensi kualitas dan waktu pengiriman yang terjaga.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49377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5230368"/>
            <a:ext cx="640080" cy="64008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12" name="Image 1" descr="/tmp/claude-0/-home-user-GLD-V2-Report-2026/8b852038-2eb2-55a5-9182-130dcc240a6c/scratchpad/gld_pitch/icons_out/indust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537667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51572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TRL-7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600200" y="55138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industri, teruji lapangan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89120" y="49377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90288" y="5230368"/>
            <a:ext cx="640080" cy="64008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17" name="Image 2" descr="/tmp/claude-0/-home-user-GLD-V2-Report-2026/8b852038-2eb2-55a5-9182-130dcc240a6c/scratchpad/gld_pitch/icons_out/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537667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9240" y="51572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Fleksibel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349240" y="55138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dari pilot hingga multi-kilang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138160" y="49377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39328" y="5230368"/>
            <a:ext cx="640080" cy="64008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22" name="Image 3" descr="/tmp/claude-0/-home-user-GLD-V2-Report-2026/8b852038-2eb2-55a5-9182-130dcc240a6c/scratchpad/gld_pitch/icons_out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537667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98280" y="51572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Kualitas Terjaga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098280" y="55138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manufaktur elektronik nasional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Peta Jalan Rollout — 6 Refinery Unit Pertamina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9 bulan (Jun 2026 – Feb 2027), dimulai dari pilot RU IV Cilacap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3604" y="2404872"/>
            <a:ext cx="164592" cy="164592"/>
          </a:xfrm>
          <a:prstGeom prst="ellipse">
            <a:avLst/>
          </a:prstGeom>
          <a:solidFill>
            <a:srgbClr val="C7D2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97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 II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0815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42336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FF3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233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51176" y="214884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4700" y="2404872"/>
            <a:ext cx="164592" cy="164592"/>
          </a:xfrm>
          <a:prstGeom prst="ellipse">
            <a:avLst/>
          </a:prstGeom>
          <a:solidFill>
            <a:srgbClr val="C7D2D8"/>
          </a:solidFill>
          <a:ln/>
        </p:spPr>
      </p:sp>
      <p:sp>
        <p:nvSpPr>
          <p:cNvPr id="12" name="Text 10"/>
          <p:cNvSpPr/>
          <p:nvPr/>
        </p:nvSpPr>
        <p:spPr>
          <a:xfrm>
            <a:off x="2642616" y="2697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 III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42616" y="30815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Plaju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88336" y="42336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FF3F6"/>
          </a:solidFill>
          <a:ln/>
        </p:spPr>
      </p:sp>
      <p:sp>
        <p:nvSpPr>
          <p:cNvPr id="15" name="Text 13"/>
          <p:cNvSpPr/>
          <p:nvPr/>
        </p:nvSpPr>
        <p:spPr>
          <a:xfrm>
            <a:off x="2688336" y="4233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62272" y="214884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25796" y="2404872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553712" y="2697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 IV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53712" y="30815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Cilacap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99432" y="42336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599432" y="4233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Aktif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73368" y="214884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6892" y="2404872"/>
            <a:ext cx="164592" cy="164592"/>
          </a:xfrm>
          <a:prstGeom prst="ellipse">
            <a:avLst/>
          </a:prstGeom>
          <a:solidFill>
            <a:srgbClr val="C7D2D8"/>
          </a:solidFill>
          <a:ln/>
        </p:spPr>
      </p:sp>
      <p:sp>
        <p:nvSpPr>
          <p:cNvPr id="24" name="Text 22"/>
          <p:cNvSpPr/>
          <p:nvPr/>
        </p:nvSpPr>
        <p:spPr>
          <a:xfrm>
            <a:off x="6464808" y="2697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 V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64808" y="30815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Balikpapan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10528" y="42336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FF3F6"/>
          </a:solidFill>
          <a:ln/>
        </p:spPr>
      </p:sp>
      <p:sp>
        <p:nvSpPr>
          <p:cNvPr id="27" name="Text 25"/>
          <p:cNvSpPr/>
          <p:nvPr/>
        </p:nvSpPr>
        <p:spPr>
          <a:xfrm>
            <a:off x="6510528" y="4233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84464" y="214884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47988" y="2404872"/>
            <a:ext cx="164592" cy="164592"/>
          </a:xfrm>
          <a:prstGeom prst="ellipse">
            <a:avLst/>
          </a:prstGeom>
          <a:solidFill>
            <a:srgbClr val="C7D2D8"/>
          </a:solidFill>
          <a:ln/>
        </p:spPr>
      </p:sp>
      <p:sp>
        <p:nvSpPr>
          <p:cNvPr id="30" name="Text 28"/>
          <p:cNvSpPr/>
          <p:nvPr/>
        </p:nvSpPr>
        <p:spPr>
          <a:xfrm>
            <a:off x="8375904" y="2697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 VI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375904" y="30815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Balongan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421624" y="42336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FF3F6"/>
          </a:solidFill>
          <a:ln/>
        </p:spPr>
      </p:sp>
      <p:sp>
        <p:nvSpPr>
          <p:cNvPr id="33" name="Text 31"/>
          <p:cNvSpPr/>
          <p:nvPr/>
        </p:nvSpPr>
        <p:spPr>
          <a:xfrm>
            <a:off x="8421624" y="4233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195560" y="214884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59084" y="2404872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6" name="Text 34"/>
          <p:cNvSpPr/>
          <p:nvPr/>
        </p:nvSpPr>
        <p:spPr>
          <a:xfrm>
            <a:off x="10287000" y="2697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 VII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287000" y="30815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Kasim/Sorong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332720" y="42336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9" name="Text 37"/>
          <p:cNvSpPr/>
          <p:nvPr/>
        </p:nvSpPr>
        <p:spPr>
          <a:xfrm>
            <a:off x="10332720" y="4233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08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sensor gas · 22 Cluster Head · 7 Gateway — total deployment skala nasional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Dokumen Kebutuhan Peralatan per RU v1.0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GLD — Gas Leak Detection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GLD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081F38"/>
          </a:solidFill>
          <a:ln w="12700">
            <a:solidFill>
              <a:srgbClr val="17607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" y="1892808"/>
            <a:ext cx="777240" cy="777240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5" name="Image 0" descr="/tmp/claude-0/-home-user-GLD-V2-Report-2026/8b852038-2eb2-55a5-9182-130dcc240a6c/scratchpad/gld_pitch/icons_out/sen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07568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874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Multi-Gas dalam Satu Node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920240" y="2377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titik pasang mengenali banyak jenis gas sekaligus lewat klasifikasi AI.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081F38"/>
          </a:solidFill>
          <a:ln w="12700">
            <a:solidFill>
              <a:srgbClr val="17607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56248" y="1892808"/>
            <a:ext cx="777240" cy="777240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10" name="Image 1" descr="/tmp/claude-0/-home-user-GLD-V2-Report-2026/8b852038-2eb2-55a5-9182-130dcc240a6c/scratchpad/gld_pitch/icons_out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07568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43800" y="1874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yang Terus Belajar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543800" y="2377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dapat dilatih ulang untuk gas &amp; kondisi baru, tanpa ganti perangkat keras.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25196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081F38"/>
          </a:solidFill>
          <a:ln w="12700">
            <a:solidFill>
              <a:srgbClr val="17607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32688" y="4544568"/>
            <a:ext cx="777240" cy="777240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15" name="Image 2" descr="/tmp/claude-0/-home-user-GLD-V2-Report-2026/8b852038-2eb2-55a5-9182-130dcc240a6c/scratchpad/gld_pitch/icons_out/m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72744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4526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 Privat Self-Healing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920240" y="50292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 sendiri, tahan titik-gagal, data tetap sampai — sekaligus jadi infrastruktur komunikasi site.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63640" y="425196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081F38"/>
          </a:solidFill>
          <a:ln w="12700">
            <a:solidFill>
              <a:srgbClr val="17607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56248" y="4544568"/>
            <a:ext cx="777240" cy="777240"/>
          </a:xfrm>
          <a:prstGeom prst="ellipse">
            <a:avLst/>
          </a:prstGeom>
          <a:solidFill>
            <a:srgbClr val="17607D"/>
          </a:solidFill>
          <a:ln/>
        </p:spPr>
      </p:sp>
      <p:pic>
        <p:nvPicPr>
          <p:cNvPr id="20" name="Image 3" descr="/tmp/claude-0/-home-user-GLD-V2-Report-2026/8b852038-2eb2-55a5-9182-130dcc240a6c/scratchpad/gld_pitch/icons_out/indust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727448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43800" y="4526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Siap Skala Nasional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543800" y="50292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TRL-7, teruji multi-lokasi, didukung mitra manufaktur untuk volume besar.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280160" y="640080"/>
            <a:ext cx="1097280" cy="457200"/>
          </a:xfrm>
          <a:prstGeom prst="line">
            <a:avLst/>
          </a:prstGeom>
          <a:noFill/>
          <a:ln w="12700">
            <a:solidFill>
              <a:srgbClr val="17607D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40080" y="1097280"/>
            <a:ext cx="640080" cy="1005840"/>
          </a:xfrm>
          <a:prstGeom prst="line">
            <a:avLst/>
          </a:prstGeom>
          <a:noFill/>
          <a:ln w="12700">
            <a:solidFill>
              <a:srgbClr val="17607D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5394960"/>
            <a:ext cx="731520" cy="822960"/>
          </a:xfrm>
          <a:prstGeom prst="line">
            <a:avLst/>
          </a:prstGeom>
          <a:noFill/>
          <a:ln w="12700">
            <a:solidFill>
              <a:srgbClr val="17607D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0058400" y="5394960"/>
            <a:ext cx="731520" cy="640080"/>
          </a:xfrm>
          <a:prstGeom prst="line">
            <a:avLst/>
          </a:prstGeom>
          <a:noFill/>
          <a:ln w="12700">
            <a:solidFill>
              <a:srgbClr val="17607D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05156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Shape 5"/>
          <p:cNvSpPr/>
          <p:nvPr/>
        </p:nvSpPr>
        <p:spPr>
          <a:xfrm>
            <a:off x="2331720" y="59436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205740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Shape 7"/>
          <p:cNvSpPr/>
          <p:nvPr/>
        </p:nvSpPr>
        <p:spPr>
          <a:xfrm>
            <a:off x="10744200" y="534924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Shape 8"/>
          <p:cNvSpPr/>
          <p:nvPr/>
        </p:nvSpPr>
        <p:spPr>
          <a:xfrm>
            <a:off x="11475720" y="617220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12680" y="598932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 Diskusikan Kebutuhan Deteksi Gas di Site Anda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LAPI Ganesha Utama — bersama Lab IoT &amp; Lab Fisika ITB — siap membahas pilot, integrasi, hingga rencana skala produksi bersama mitra manufaktur.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754880"/>
            <a:ext cx="7772400" cy="0"/>
          </a:xfrm>
          <a:prstGeom prst="line">
            <a:avLst/>
          </a:prstGeom>
          <a:noFill/>
          <a:ln w="12700">
            <a:solidFill>
              <a:srgbClr val="1760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937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 Ganesha Utama  ·  Lab IoT &amp; Lab Fisika ITB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303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 Detection System — TRL-7  ·  contact@[isi kontak tim]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2026-08-27T14:41:52Z</dcterms:created>
  <dcterms:modified xsi:type="dcterms:W3CDTF">2026-08-27T14:41:52Z</dcterms:modified>
</cp:coreProperties>
</file>