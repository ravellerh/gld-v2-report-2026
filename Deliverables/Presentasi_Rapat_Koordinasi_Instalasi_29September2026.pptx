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tegaskan tujuan rapat adalah koordinasi lanjutan pasca site survey untuk menyepakati langkah menuju mobilisasi &amp; instalasi RU IV Cilacap. Sampaikan bahwa ada 4 keputusan konkret yang perlu diambil bersama hari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urutan: mulai dari status singkat, lalu langsung ke action items per pihak, ditutup dengan keputusan konkret supaya rapat 1 jam ini efisien dan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bahwa keempat jalur berjalan paralel, bukan berurutan. Instalasi permanen di lokasi non-ATEX (perimeter SRU) tidak perlu menunggu sertifikasi ATEX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overclaim: metode proteksi Ex d masih rekomendasi tim, belum keputusan ExCB. T4 adalah temuan paling kritis karena bisa memaksa perubahan desain, bukan cuma dokumen.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item merah (vendor, TRA/JSA, orientasi bracket) adalah fokus keputusan slide berikutnya — ini yang paling menahan jadwal mobilisasi.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item P1 di atas adalah blocker keras untuk mobilisasi — tanpa vendor ditunjuk dan TRA/JSA disahkan, tanggal instalasi tidak bisa ditetapkan.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prinsip pembagian kerja: vendor eksekusi fisik + HSE ketinggian, LGU supervisi teknis/QA + elektrikal spesifik GLD.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adalah output konkret yang harus dibawa keluar dari rapat ini. Jangan tutup rapat tanpa jawaban/tanggal untuk keempatnya, sekalipun jawabannya 'perlu waktu N hari'.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menegaskan kembali 4 keputusan dan siapa PIC masing-masing tindak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737360"/>
            <a:ext cx="5669280" cy="5669280"/>
          </a:xfrm>
          <a:prstGeom prst="ellipse">
            <a:avLst/>
          </a:prstGeom>
          <a:solidFill>
            <a:srgbClr val="1E4499">
              <a:alpha val="32000"/>
            </a:srgbClr>
          </a:solidFill>
          <a:ln w="12700">
            <a:solidFill>
              <a:srgbClr val="1E4499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2B5FCB">
              <a:alpha val="20000"/>
            </a:srgbClr>
          </a:solidFill>
          <a:ln w="12700">
            <a:solidFill>
              <a:srgbClr val="2B5FCB">
                <a:alpha val="2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841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F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LAPI GANESHA UTAMA  ·  LAB IoT &amp; FISIKA ITB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258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Rapat Koordinasi Persiapan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Instalasi RU IV Cilacap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0040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 pasca site survey — field testing multi-modality gas leak detector, co-research Pertamina Patra Niaga &amp; Institut Teknologi Bandung melalui LAPI Ganesha Utama.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4187952"/>
            <a:ext cx="5852160" cy="548640"/>
          </a:xfrm>
          <a:prstGeom prst="roundRect">
            <a:avLst>
              <a:gd name="adj" fmla="val 16667"/>
            </a:avLst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41879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Selasa, 29 September 2026  ·  09.00–10.00 WIB  ·  Microsoft Teams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92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Surat Perintah Kerja SP-002/KPI43400/2026-S0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hal yang akan kita bahas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57200" cy="45720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5453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proyek &amp; sertifikasi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911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 — posisi Kurva-S proyek keseluruhan, persiapan instalasi, dan sertifikasi ATEX/IECEx.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51760"/>
            <a:ext cx="457200" cy="45720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5968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perlu disiapkan Pertamina RU IV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962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Perizinan, HSE, lokasi, catu daya, jadwal — dengan prioritas jelas.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457200" cy="45720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6484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perlu disiapkan Vendor Instalasi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40142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Legalitas, personel, material, verifikasi lapangan, koordinasi hari-H.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457200" cy="45720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700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yang diambil hari ini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50657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keputusan konkret yang menentukan jadwal mobilisasi.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Posisi hari ini — tiga jalur paralel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keseluruhan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67328" y="1609344"/>
            <a:ext cx="5760720" cy="201168"/>
          </a:xfrm>
          <a:prstGeom prst="roundRect">
            <a:avLst>
              <a:gd name="adj" fmla="val 22727"/>
            </a:avLst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67328" y="1609344"/>
            <a:ext cx="2822753" cy="201168"/>
          </a:xfrm>
          <a:prstGeom prst="roundRect">
            <a:avLst>
              <a:gd name="adj" fmla="val 22727"/>
            </a:avLst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2902" y="1563624"/>
            <a:ext cx="0" cy="292608"/>
          </a:xfrm>
          <a:prstGeom prst="line">
            <a:avLst/>
          </a:prstGeom>
          <a:noFill/>
          <a:ln w="15875">
            <a:solidFill>
              <a:srgbClr val="262321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767328" y="186537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rencana 52% (data 17 Sep) — sisi rekayasa lab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ATEX/IECEx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9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67328" y="2505456"/>
            <a:ext cx="5760720" cy="201168"/>
          </a:xfrm>
          <a:prstGeom prst="roundRect">
            <a:avLst>
              <a:gd name="adj" fmla="val 22727"/>
            </a:avLst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7328" y="2505456"/>
            <a:ext cx="1152144" cy="201168"/>
          </a:xfrm>
          <a:prstGeom prst="roundRect">
            <a:avLst>
              <a:gd name="adj" fmla="val 22727"/>
            </a:avLst>
          </a:prstGeom>
          <a:solidFill>
            <a:srgbClr val="1C93C6"/>
          </a:solidFill>
          <a:ln w="12700">
            <a:solidFill>
              <a:srgbClr val="1C93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2459736"/>
            <a:ext cx="0" cy="292608"/>
          </a:xfrm>
          <a:prstGeom prst="line">
            <a:avLst/>
          </a:prstGeom>
          <a:noFill/>
          <a:ln w="15875">
            <a:solidFill>
              <a:srgbClr val="26232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767328" y="276148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5 Sep, metodologi bottom-up 4-track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46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instalasi RU IV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6210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4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67328" y="3401568"/>
            <a:ext cx="5760720" cy="201168"/>
          </a:xfrm>
          <a:prstGeom prst="roundRect">
            <a:avLst>
              <a:gd name="adj" fmla="val 22727"/>
            </a:avLst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67328" y="3401568"/>
            <a:ext cx="2189074" cy="201168"/>
          </a:xfrm>
          <a:prstGeom prst="roundRect">
            <a:avLst>
              <a:gd name="adj" fmla="val 22727"/>
            </a:avLst>
          </a:prstGeom>
          <a:solidFill>
            <a:srgbClr val="8A4A15"/>
          </a:solidFill>
          <a:ln w="12700">
            <a:solidFill>
              <a:srgbClr val="8A4A1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67328" y="3355848"/>
            <a:ext cx="0" cy="292608"/>
          </a:xfrm>
          <a:prstGeom prst="line">
            <a:avLst/>
          </a:prstGeom>
          <a:noFill/>
          <a:ln w="15875">
            <a:solidFill>
              <a:srgbClr val="262321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3767328" y="3657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LGU&amp;ITB 100% (rekayasa) · Pertamina &amp; Vendor 0%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Termin 1 — Field Testing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5171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767328" y="4297680"/>
            <a:ext cx="5760720" cy="201168"/>
          </a:xfrm>
          <a:prstGeom prst="roundRect">
            <a:avLst>
              <a:gd name="adj" fmla="val 22727"/>
            </a:avLst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4297680"/>
            <a:ext cx="5760720" cy="201168"/>
          </a:xfrm>
          <a:prstGeom prst="roundRect">
            <a:avLst>
              <a:gd name="adj" fmla="val 22727"/>
            </a:avLst>
          </a:prstGeom>
          <a:solidFill>
            <a:srgbClr val="1F7A43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67328" y="4251960"/>
            <a:ext cx="0" cy="292608"/>
          </a:xfrm>
          <a:prstGeom prst="line">
            <a:avLst/>
          </a:prstGeom>
          <a:noFill/>
          <a:ln w="15875">
            <a:solidFill>
              <a:srgbClr val="262321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3767328" y="45537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pemenuhan &amp; draf BAST lengkap; evaluasi oleh Pertamina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09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milestone lapangan baru tercatat sejak 17 September — dua minggu terakhir fokus ke penyusunan dokumen sertifikasi ATEX. Detail: Laporan_Kesiapan_Meeting_Pertamina_29September2026.pdf.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Sertifikasi ATEX/IECEx — ringkas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maju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488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Manufacturer resmi dikonfirmasi: PT Galaksi Megatama Indonesia (legalitas lengkap)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346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Berat 2,378 kg, IP66, cable gland M20×1,5, suhu −20°C s/d +60°C, kelembapan 5–95% RH — status Final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204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Formulir aplikasi resmi diterima dari lembaga sertifikasi GTS (Shanghai)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2062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Metode proteksi direkomendasikan tim: Ex d (flameproof enclosure)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554480"/>
            <a:ext cx="5486400" cy="4023360"/>
          </a:xfrm>
          <a:prstGeom prst="roundRect">
            <a:avLst>
              <a:gd name="adj" fmla="val 1591"/>
            </a:avLst>
          </a:prstGeom>
          <a:solidFill>
            <a:srgbClr val="FBEEE4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4808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Penghambat utama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Kelas suhu T4 (≤135°C) belum diverifikasi — nol pengukuran hot-spot heater sensor MQ (~200–400°C)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BOM &amp; kalkulasi proteksi ledakan menunggu data desain final dari mitra casing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703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Bagian 1 (legalitas lengkap PT Galaksi) masih sebagian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09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berjalan paralel dengan persiapan instalasi — tidak menghambat instalasi di lokasi non-ATEX (perimeter SRU).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Instalasi RU IV Cilacap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6424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536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lokasi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76288" y="1641348"/>
            <a:ext cx="4572000" cy="246888"/>
          </a:xfrm>
          <a:prstGeom prst="roundRect">
            <a:avLst>
              <a:gd name="adj" fmla="val 48148"/>
            </a:avLst>
          </a:prstGeom>
          <a:solidFill>
            <a:srgbClr val="E6F2EB"/>
          </a:solidFill>
          <a:ln w="12700">
            <a:solidFill>
              <a:srgbClr val="E6F2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76288" y="16413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(9–10 Agustus 2026)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9933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desain bracket mounting (CAD)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76288" y="2098548"/>
            <a:ext cx="4572000" cy="246888"/>
          </a:xfrm>
          <a:prstGeom prst="roundRect">
            <a:avLst>
              <a:gd name="adj" fmla="val 48148"/>
            </a:avLst>
          </a:prstGeom>
          <a:solidFill>
            <a:srgbClr val="E6F2EB"/>
          </a:solidFill>
          <a:ln w="12700">
            <a:solidFill>
              <a:srgbClr val="E6F2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76288" y="20985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— sudah diserahkan ke calon vendor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1106424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24505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Penugasan resmi vendor instalasi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76288" y="2555748"/>
            <a:ext cx="45720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25557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— menunggu penunjukan Pertamina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2907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TRA/JSA spesifik titik pasang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76288" y="3012948"/>
            <a:ext cx="45720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30129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disahkan — draft LGU tersedia sbg acuan awal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1106424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area tertulis resmi (perimeter SRU)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76288" y="3470148"/>
            <a:ext cx="457200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76288" y="34701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proses — lokasi sudah pasti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" y="3822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 bracket (vertikal/horizontal)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76288" y="3927348"/>
            <a:ext cx="45720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76288" y="39273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dikonfirmasi vendor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279392"/>
            <a:ext cx="1106424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" y="42793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fisik &amp; commissioning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76288" y="4384548"/>
            <a:ext cx="45720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76288" y="43845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dimulai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1536192"/>
            <a:ext cx="0" cy="3200400"/>
          </a:xfrm>
          <a:prstGeom prst="line">
            <a:avLst/>
          </a:prstGeom>
          <a:noFill/>
          <a:ln w="38100">
            <a:solidFill>
              <a:srgbClr val="1ABB9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6309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kerja yang sudah diputuskan: uji chamber gas di kantor kilang (non-area proses) + instalasi permanen di lokasi non-ATEX (perimeter SRU, dikonfirmasi Pertamina).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PERTAMINA RU 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harus disiapkan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64240" cy="530352"/>
          </a:xfrm>
          <a:prstGeom prst="rect">
            <a:avLst/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77924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779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53619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Mengesahkan TRA/JSA spesifik titik pasang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56248" y="153619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SIMOPS, listrik 24VDC, kerja tinggi, energize/commissioning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" y="2208276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20827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206654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Menerbitkan izin kerja (SIKA/PTW), izin masuk personel &amp; barang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206654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sebelum mobilisasi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11064240" cy="530352"/>
          </a:xfrm>
          <a:prstGeom prst="rect">
            <a:avLst/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2738628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" y="273862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344168" y="259689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Menugaskan resmi vendor instalasi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259689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konfirmasi kompetensi HSE kerja di ketinggian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" y="3268980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326898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344168" y="312724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Menerbitkan dokumen klasifikasi area tertulis resmi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312724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titik pasang di perimeter SRU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11064240" cy="530352"/>
          </a:xfrm>
          <a:prstGeom prst="rect">
            <a:avLst/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3799332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37993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344168" y="365760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Menyepakati daftar kontak PIC &amp; jalur stop-work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56248" y="36576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Operasi, HSE, control room, 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4088" y="4329684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" y="43296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344168" y="418795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titik pasang detail &amp; akses struktur existing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56248" y="418795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kabel, tinggi kerja, akses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718304"/>
            <a:ext cx="11064240" cy="530352"/>
          </a:xfrm>
          <a:prstGeom prst="rect">
            <a:avLst/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" y="4860036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" y="486003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344168" y="471830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kabel &amp; PSU 24VDC ≥1A per unit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556248" y="47183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ke titik pasang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4088" y="5390388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" y="53903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344168" y="524865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Menyepakati jadwal mobilisasi &amp; fastener grade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56248" y="524865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LGU &amp; vendor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309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lengkap 5 kategori: Laporan_Kesiapan_Meeting_Pertamina_29September2026.pdf §4.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VENDOR INSTALASI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harus disiapkan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64240" cy="530352"/>
          </a:xfrm>
          <a:prstGeom prst="rect">
            <a:avLst/>
          </a:prstGeom>
          <a:solidFill>
            <a:srgbClr val="F5EBE1"/>
          </a:solidFill>
          <a:ln w="12700">
            <a:solidFill>
              <a:srgbClr val="F5EB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77924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779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53619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bersertifikat kerja di ketinggian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56248" y="153619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HSE ketinggian — tanggung jawab vendor, bukan LGU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" y="2208276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20827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206654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Berpartisipasi dalam pengesahan TRA/JSA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206654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pelaksana fisik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11064240" cy="530352"/>
          </a:xfrm>
          <a:prstGeom prst="rect">
            <a:avLst/>
          </a:prstGeom>
          <a:solidFill>
            <a:srgbClr val="F5EBE1"/>
          </a:solidFill>
          <a:ln w="12700">
            <a:solidFill>
              <a:srgbClr val="F5EB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2738628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" y="273862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344168" y="259689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lapangan &amp; konfirmasi tertulis orientasi bracket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259689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Vertikal vs handrail horizontal — sebelum fabrikasi massal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" y="3268980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CE7E4"/>
          </a:solidFill>
          <a:ln w="12700">
            <a:solidFill>
              <a:srgbClr val="FCE7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326898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344168" y="312724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pengelasan/pengeboran struktur permanen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312724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Kecuali disetujui tertulis RU IV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11064240" cy="530352"/>
          </a:xfrm>
          <a:prstGeom prst="rect">
            <a:avLst/>
          </a:prstGeom>
          <a:solidFill>
            <a:srgbClr val="F5EBE1"/>
          </a:solidFill>
          <a:ln w="12700">
            <a:solidFill>
              <a:srgbClr val="F5EB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3799332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37993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344168" y="365760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Fabrikasi bracket L+U-bolt sesuai basis desain LGU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56248" y="36576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2"/DN50, plat 250×250mm — menunggu shop drawing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4088" y="4329684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" y="43296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344168" y="418795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pra-mobilisasi unit GLD &amp; jalur kabel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56248" y="418795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 + 1 cadangan, serial number, firmware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718304"/>
            <a:ext cx="11064240" cy="530352"/>
          </a:xfrm>
          <a:prstGeom prst="rect">
            <a:avLst/>
          </a:prstGeom>
          <a:solidFill>
            <a:srgbClr val="F5EBE1"/>
          </a:solidFill>
          <a:ln w="12700">
            <a:solidFill>
              <a:srgbClr val="F5EB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" y="4860036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" y="486003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344168" y="471830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 supervisor lapangan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556248" y="47183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komunikasi ke QA LGU &amp; PIC HSE RU IV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4088" y="5390388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" y="53903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344168" y="524865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Menyepakati jadwal mobilisasi &amp; rencana rollback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56248" y="524865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RU IV dan LGU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309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lengkap 6 kategori: Laporan_Kesiapan_Meeting_Pertamina_29September2026.pdf §5 &amp; Daftar_Persiapan_Vendor_Instalasi_RU-IV_Cilacap.pdf.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KEPUTUSAN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diambil hari ini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diambil hari ini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457200" cy="457200"/>
          </a:xfrm>
          <a:prstGeom prst="ellipse">
            <a:avLst/>
          </a:prstGeom>
          <a:solidFill>
            <a:srgbClr val="1ABB9C"/>
          </a:solidFill>
          <a:ln w="12700">
            <a:solidFill>
              <a:srgbClr val="1ABB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Penunjukan resmi vendor instalasi + konfirmasi kompetensi HSE kerja di ketinggian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457200" cy="457200"/>
          </a:xfrm>
          <a:prstGeom prst="ellipse">
            <a:avLst/>
          </a:prstGeom>
          <a:solidFill>
            <a:srgbClr val="1ABB9C"/>
          </a:solidFill>
          <a:ln w="12700">
            <a:solidFill>
              <a:srgbClr val="1ABB9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560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pengesahan TRA/JSA — PIC review dari RU IV/HSE dan target tanggal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457200" cy="457200"/>
          </a:xfrm>
          <a:prstGeom prst="ellipse">
            <a:avLst/>
          </a:prstGeom>
          <a:solidFill>
            <a:srgbClr val="1ABB9C"/>
          </a:solidFill>
          <a:ln w="12700">
            <a:solidFill>
              <a:srgbClr val="1ABB9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566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tertulis klasifikasi area untuk titik pasang di perimeter SRU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4617720"/>
            <a:ext cx="457200" cy="457200"/>
          </a:xfrm>
          <a:prstGeom prst="ellipse">
            <a:avLst/>
          </a:prstGeom>
          <a:solidFill>
            <a:srgbClr val="1ABB9C"/>
          </a:solidFill>
          <a:ln w="12700">
            <a:solidFill>
              <a:srgbClr val="1ABB9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tanggal mobilisasi &amp; instalasi permanen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2926080"/>
          </a:xfrm>
          <a:prstGeom prst="roundRect">
            <a:avLst>
              <a:gd name="adj" fmla="val 2188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920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pendukung lengkap (9 file, pdf+html) telah dibagikan sebelum rapat: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77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Laporan_Kesiapan_Meeting_Pertamina_29September2026.pdf (dokumen utama)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7614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Dashboard_GLD_ProjectManagement.pdf, Dashboard_Sertifikasi_GLD_ATEX_IECEx.pdf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1455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Checklist_Kesiapan_Instalasi_RU-IV_Cilacap.pdf, Pembagian_Persiapan_Instalasi_RU-IV_Cilacap.pdf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5295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Daftar_Persiapan_Vendor_Instalasi_RU-IV_Cilacap.pdf, Draf_Permintaan_Penyediaan_Material...pdf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937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LAPI Ganesha Utama &amp; Lab IoT/Fisika ITB — Jl. Dederuk No. 30, Bandung 40133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PT LAPI Ganesha Utama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Rapat Koordinasi Persiapan Instalasi RU IV Cilacap</dc:title>
  <dc:subject>PptxGenJS Presentation</dc:subject>
  <dc:creator>LAPI Ganesha Utama</dc:creator>
  <cp:lastModifiedBy>LAPI Ganesha Utama</cp:lastModifiedBy>
  <cp:revision>1</cp:revision>
  <dcterms:created xsi:type="dcterms:W3CDTF">2026-09-30T07:41:51Z</dcterms:created>
  <dcterms:modified xsi:type="dcterms:W3CDTF">2026-09-30T07:41:51Z</dcterms:modified>
</cp:coreProperties>
</file>