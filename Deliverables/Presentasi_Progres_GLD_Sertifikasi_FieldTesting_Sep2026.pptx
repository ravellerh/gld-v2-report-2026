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B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7112" y="3566160"/>
            <a:ext cx="6583680" cy="6583680"/>
          </a:xfrm>
          <a:prstGeom prst="ellipse">
            <a:avLst/>
          </a:prstGeom>
          <a:solidFill>
            <a:srgbClr val="133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085832" y="4754880"/>
            <a:ext cx="4206240" cy="4206240"/>
          </a:xfrm>
          <a:prstGeom prst="ellipse">
            <a:avLst/>
          </a:prstGeom>
          <a:solidFill>
            <a:srgbClr val="2D64AC">
              <a:alpha val="9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463040" y="-1463040"/>
            <a:ext cx="2926080" cy="2926080"/>
          </a:xfrm>
          <a:prstGeom prst="ellipse">
            <a:avLst/>
          </a:prstGeom>
          <a:solidFill>
            <a:srgbClr val="2D64AC">
              <a:alpha val="4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C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PROGRES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Leak Detection (GLD) Tahap 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7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ATEX/IECEx &amp; Field Testing RU IV Cilacap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977640"/>
            <a:ext cx="2926080" cy="0"/>
          </a:xfrm>
          <a:prstGeom prst="line">
            <a:avLst/>
          </a:prstGeom>
          <a:noFill/>
          <a:ln w="25400">
            <a:solidFill>
              <a:srgbClr val="38C0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20624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Disiapkan untuk: 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Pertamina Patra Niaga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Disiapkan oleh: 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 Ganesha Utama (LGU) &amp; Lab IoT / Fisika ITB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Tanggal: 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September 2026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989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internal — untuk kebutuhan pelaporan progres ke manajemen. Menyajikan progres dan outstanding item apa adanya.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EKSEKUTIF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 Berjalan di Dua Jalur Paralel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Rekayasa teknis (lab) mendahului kesiapan sertifikasi &amp; instalasi lapangan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53384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039112"/>
            <a:ext cx="34533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D64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 rekayasa lab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72968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baseline resmi 19% (+20 poin). Murni sisi engineering lab — bukan kesiapan lapangan.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67784" y="1874520"/>
            <a:ext cx="3453384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67784" y="2039112"/>
            <a:ext cx="34533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337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5–8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283464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estimasi sertifikasi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3172968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ATEX/IECEx, aktif berjalan sejak Kick-Off 12 Jun 2026.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86928" y="1874520"/>
            <a:ext cx="3453384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6928" y="2039112"/>
            <a:ext cx="34533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8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283464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 dalam tahap survey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415528" y="3172968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 IV Cilacap: survey lokasi selesai (9–10 Agu); instalasi belum dimulai.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002B5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187952"/>
            <a:ext cx="10451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Status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53712"/>
            <a:ext cx="104515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Rantai sistem end-to-end GLD → CH → Gateway → Server terbukti di lab/kampus; inferensi AI (CNN Dual-Branch, 99,20%) berjalan on-device di ESP32-S3.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alarm otomatis berhasil diuji pada mesh 8-CH multi-hop se-kampus (6–8 Agustus).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ATEX/IECEx berjalan aktif; sejumlah gate teknis (klasifikasi zona, material enclosure, keamanan baterai) masih terbuka.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 RU IV Cilacap: survey lokasi selesai, instalasi fisik &amp; demo end-to-end di lapangan belum dilaksanakan — jadwal menyesuaikan.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 — SISI REKAYASA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 Teknis: Sistem Terbukti di Lab &amp; Kampus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Capaian rekayasa yang menjadi fondasi field testing RU IV Cilacap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9339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95681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Rantai End-to-End Terbukti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226771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 → Cluster Head → Gateway → Server berjalan penuh; inferensi AI kini on-device di ESP32-S3 (dikonfirmasi tim, menyusul verifikasi dokumen tertulis).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6277356" y="182880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11" name="Shape 9"/>
          <p:cNvSpPr/>
          <p:nvPr/>
        </p:nvSpPr>
        <p:spPr>
          <a:xfrm>
            <a:off x="6478524" y="199339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7852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82028" y="195681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AI: CNN Dual-Branch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82028" y="226771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4 kelas (LPG / CO₂ / Udara Bersih / H₂), akurasi 99,20% on-chip (int8, 9,14 KB) — menggantikan model CNN 1D sebelumnya (97,3%).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48640" y="324612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41071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37413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8-CH Multi-Hop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53312" y="368503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 mesh privat self-healing mencakup seluruh area kampus, mengatasi keterbatasan jangkauan LoRa per-hop; failover Cluster Head berfungsi.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277356" y="324612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78524" y="341071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78524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82028" y="337413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Alarm Teruji (6–8 Agu)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82028" y="368503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mesh kampus: GLD disemprot LPG → server menerima alarm otomatis tanpa pull request — validasi lab, belum di lapangan RU.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48640" y="466344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26" name="Shape 24"/>
          <p:cNvSpPr/>
          <p:nvPr/>
        </p:nvSpPr>
        <p:spPr>
          <a:xfrm>
            <a:off x="749808" y="482803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79145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Chamber Gas Portable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510235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Solenoid valve, BME280 ganda, TGS2610 via ADS1115, driver pompa BTS7960 — dibangun untuk pengujian &amp; pelatihan model di luar area proses kilang.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6277356" y="466344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31" name="Shape 29"/>
          <p:cNvSpPr/>
          <p:nvPr/>
        </p:nvSpPr>
        <p:spPr>
          <a:xfrm>
            <a:off x="6478524" y="482803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78524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82028" y="479145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 Mounting v2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082028" y="510235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CAD U-Bolt (pipa OD 60,3mm/DN50, M10) untuk mounting ke struktur pipa existing — tanpa las/bor, mengikuti referensi standar Emerson.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KAPABILITAS GAS &amp;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Cakupan Deteksi Gas: 4 Kelas Tervalidasi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Pertamina bertambah (6 Agustus) — Benzena, CO, H2S wajib terdeteksi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EAF6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848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SUDAH TERVALIDASI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✔"/>
            </a:pPr>
            <a:r>
              <a:rPr lang="en-US" sz="1350" dirty="0">
                <a:solidFill>
                  <a:srgbClr val="1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✔"/>
            </a:pPr>
            <a:r>
              <a:rPr lang="en-US" sz="1350" dirty="0">
                <a:solidFill>
                  <a:srgbClr val="1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(Karbon Dioksida)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✔"/>
            </a:pPr>
            <a:r>
              <a:rPr lang="en-US" sz="1350" dirty="0">
                <a:solidFill>
                  <a:srgbClr val="1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Bersih (baseline)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✔"/>
            </a:pPr>
            <a:r>
              <a:rPr lang="en-US" sz="1350" dirty="0">
                <a:solidFill>
                  <a:srgbClr val="1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 (Hidrogen)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86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E7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CNN Dual-Branch, akurasi 99,20% on-device (ESP32-S3, int8).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68680" y="4434840"/>
            <a:ext cx="4572000" cy="0"/>
          </a:xfrm>
          <a:prstGeom prst="line">
            <a:avLst/>
          </a:prstGeom>
          <a:noFill/>
          <a:ln w="12700">
            <a:solidFill>
              <a:srgbClr val="BFE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4572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Mitigasi sampel gas — Gas Test Chamber Portable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919472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Chamber portable sudah dibangun, dibawa ke kantor kilang (bukan area proses) untuk minimalisir risiko kebocoran — jalur alternatif memperoleh sampel gas dari Pertamina secara langsung.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874520"/>
            <a:ext cx="5513832" cy="4114800"/>
          </a:xfrm>
          <a:prstGeom prst="roundRect">
            <a:avLst>
              <a:gd name="adj" fmla="val 1778"/>
            </a:avLst>
          </a:prstGeom>
          <a:solidFill>
            <a:srgbClr val="FCF2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084832"/>
            <a:ext cx="4873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BELUM TERCAKUP — MENUNGGU SAMPEL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514600"/>
            <a:ext cx="487375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✗"/>
            </a:pPr>
            <a:r>
              <a:rPr lang="en-US" sz="135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✗"/>
            </a:pPr>
            <a:r>
              <a:rPr lang="en-US" sz="135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(Karbon Monoksida)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✗"/>
            </a:pPr>
            <a:r>
              <a:rPr lang="en-US" sz="135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(Hidrogen Sulfida)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566160"/>
            <a:ext cx="4873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5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tambahan dari rapat resmi Pertamina, 6 Agustus 2026 (gas toksik: alarm langsung tanpa threshold kebakaran).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46520" y="4251960"/>
            <a:ext cx="4873752" cy="0"/>
          </a:xfrm>
          <a:prstGeom prst="line">
            <a:avLst/>
          </a:prstGeom>
          <a:noFill/>
          <a:ln w="12700">
            <a:solidFill>
              <a:srgbClr val="F0D9A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389120"/>
            <a:ext cx="4873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konkret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736592"/>
            <a:ext cx="487375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4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Sampel gas (H2S, metana, amonia, dll.) dari Pertamina belum diterima sampai saat ini. LGU aktif mencari suplier alternatif di Bandung — masih sulit didapat, akan lebih cepat bila Pertamina dapat menyediakan langsung.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ATEX / IECEX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Sertifikasi Berjalan, 5 Gate Teknis Terbuka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 sejak Kick-Off 12 Jun 2026 · estimasi total 5–8 bulan · lab uji China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1672" cy="1051560"/>
          </a:xfrm>
          <a:prstGeom prst="roundRect">
            <a:avLst>
              <a:gd name="adj" fmla="val 6087"/>
            </a:avLst>
          </a:prstGeom>
          <a:solidFill>
            <a:srgbClr val="002B5F"/>
          </a:solidFill>
          <a:ln/>
        </p:spPr>
      </p:sp>
      <p:sp>
        <p:nvSpPr>
          <p:cNvPr id="6" name="Shape 4"/>
          <p:cNvSpPr/>
          <p:nvPr/>
        </p:nvSpPr>
        <p:spPr>
          <a:xfrm>
            <a:off x="1776679" y="2020824"/>
            <a:ext cx="201168" cy="201168"/>
          </a:xfrm>
          <a:prstGeom prst="ellipse">
            <a:avLst/>
          </a:prstGeom>
          <a:solidFill>
            <a:srgbClr val="1CD8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7847" y="2121408"/>
            <a:ext cx="1907438" cy="0"/>
          </a:xfrm>
          <a:prstGeom prst="line">
            <a:avLst/>
          </a:prstGeom>
          <a:noFill/>
          <a:ln w="15875">
            <a:solidFill>
              <a:srgbClr val="5A7C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Kick-Off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Jun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85286" y="2020824"/>
            <a:ext cx="201168" cy="201168"/>
          </a:xfrm>
          <a:prstGeom prst="ellipse">
            <a:avLst/>
          </a:prstGeom>
          <a:solidFill>
            <a:srgbClr val="1CD8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86454" y="2121408"/>
            <a:ext cx="1907438" cy="0"/>
          </a:xfrm>
          <a:prstGeom prst="line">
            <a:avLst/>
          </a:prstGeom>
          <a:noFill/>
          <a:ln w="15875">
            <a:solidFill>
              <a:srgbClr val="5A7C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7286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Sertifikasi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 (RAB Rp2,1M)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93892" y="2020824"/>
            <a:ext cx="201168" cy="201168"/>
          </a:xfrm>
          <a:prstGeom prst="ellipse">
            <a:avLst/>
          </a:prstGeom>
          <a:solidFill>
            <a:srgbClr val="1CD8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5060" y="2121408"/>
            <a:ext cx="1907438" cy="0"/>
          </a:xfrm>
          <a:prstGeom prst="line">
            <a:avLst/>
          </a:prstGeom>
          <a:noFill/>
          <a:ln w="15875">
            <a:solidFill>
              <a:srgbClr val="5A7C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85893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Analysis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Design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02498" y="2020824"/>
            <a:ext cx="201168" cy="201168"/>
          </a:xfrm>
          <a:prstGeom prst="ellipse">
            <a:avLst/>
          </a:prstGeom>
          <a:solidFill>
            <a:srgbClr val="5A7CA6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03666" y="2121408"/>
            <a:ext cx="1907438" cy="0"/>
          </a:xfrm>
          <a:prstGeom prst="line">
            <a:avLst/>
          </a:prstGeom>
          <a:noFill/>
          <a:ln w="15875">
            <a:solidFill>
              <a:srgbClr val="5A7C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94499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Pengajuan Lab Uji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(China)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211105" y="2020824"/>
            <a:ext cx="201168" cy="201168"/>
          </a:xfrm>
          <a:prstGeom prst="ellipse">
            <a:avLst/>
          </a:prstGeom>
          <a:solidFill>
            <a:srgbClr val="5A7CA6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03106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ATEX/IECEx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0632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 lapangan (notulen 1 Sep): pembahasan desain enclosure Ex-proof, topologi Gateway (safe area/LAN), dan catu daya. Material enclosure mengarah ke Aluminum alloy + Stainless steel (grade spesifik belum ditentukan).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703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Teknis Sertifikasi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050792"/>
            <a:ext cx="11091672" cy="566928"/>
          </a:xfrm>
          <a:prstGeom prst="roundRect">
            <a:avLst>
              <a:gd name="adj" fmla="val 8065"/>
            </a:avLst>
          </a:prstGeom>
          <a:solidFill>
            <a:srgbClr val="FCEF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0507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gate:atex-scoping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405079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 — paling mendasar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480560" y="4050792"/>
            <a:ext cx="6976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gas (IIC/IIB/IIA), kelas suhu (T1–T6), klasifikasi zona (0/1/2) belum ditentukan sama sekali — prasyarat sebelum ruang lingkup pengujian bisa dimulai.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8640" y="4690872"/>
            <a:ext cx="11091672" cy="402336"/>
          </a:xfrm>
          <a:prstGeom prst="roundRect">
            <a:avLst>
              <a:gd name="adj" fmla="val 11364"/>
            </a:avLst>
          </a:prstGeom>
          <a:solidFill>
            <a:srgbClr val="F4F7F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690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gate:cert-height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69087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Terbuka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480560" y="4690872"/>
            <a:ext cx="697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Instalasi kilang baru dicoba setinggi orang; belum tersertifikasi untuk instalasi permanen di ketinggian.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5166360"/>
            <a:ext cx="11091672" cy="402336"/>
          </a:xfrm>
          <a:prstGeom prst="roundRect">
            <a:avLst>
              <a:gd name="adj" fmla="val 11364"/>
            </a:avLst>
          </a:prstGeom>
          <a:solidFill>
            <a:srgbClr val="F4F7F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1520" y="516636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gate:ch-batt-safety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880360" y="516636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Terbuka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480560" y="5166360"/>
            <a:ext cx="697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Baterai Li-ion 18650 pada Cluster Head dan Node Sensor GLD belum diverifikasi sertifikasi Ex (sel/BMS).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5641848"/>
            <a:ext cx="11091672" cy="402336"/>
          </a:xfrm>
          <a:prstGeom prst="roundRect">
            <a:avLst>
              <a:gd name="adj" fmla="val 11364"/>
            </a:avLst>
          </a:prstGeom>
          <a:solidFill>
            <a:srgbClr val="F4F7F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31520" y="564184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gate:solar-cert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880360" y="564184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Terbuka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480560" y="5641848"/>
            <a:ext cx="697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solar panel Cluster Head untuk area hazardous belum disourcing.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6117336"/>
            <a:ext cx="11091672" cy="402336"/>
          </a:xfrm>
          <a:prstGeom prst="roundRect">
            <a:avLst>
              <a:gd name="adj" fmla="val 11364"/>
            </a:avLst>
          </a:prstGeom>
          <a:solidFill>
            <a:srgbClr val="F4F7F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61173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gate:bracket-tools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880360" y="611733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Terbuka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480560" y="6117336"/>
            <a:ext cx="697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tools/fastener bracket GLD &amp; CH belum ditentukan.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IV Cilacap: Survey Selesai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Kunjungan 9–10 Agustus 2026 — instalasi fisik belum dimulai, status apa adanya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4F7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Kunjungan 9–10 Agustus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lokasi selesai. Instalasi fisik &amp; demo end-to-end belum dilaksanakan.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 demo terjadwal (belum dijalankan):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22960" y="3429000"/>
            <a:ext cx="292608" cy="292608"/>
          </a:xfrm>
          <a:prstGeom prst="ellipse">
            <a:avLst/>
          </a:prstGeom>
          <a:solidFill>
            <a:srgbClr val="D7DEE8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429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4290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Aktifkan Server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3849624"/>
            <a:ext cx="292608" cy="292608"/>
          </a:xfrm>
          <a:prstGeom prst="ellipse">
            <a:avLst/>
          </a:prstGeom>
          <a:solidFill>
            <a:srgbClr val="D7DEE8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849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8496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Gateway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4270248"/>
            <a:ext cx="292608" cy="292608"/>
          </a:xfrm>
          <a:prstGeom prst="ellipse">
            <a:avLst/>
          </a:prstGeom>
          <a:solidFill>
            <a:srgbClr val="D7DEE8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27024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Cluster Head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90872"/>
            <a:ext cx="292608" cy="292608"/>
          </a:xfrm>
          <a:prstGeom prst="ellipse">
            <a:avLst/>
          </a:prstGeom>
          <a:solidFill>
            <a:srgbClr val="D7DEE8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69087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GLD 24V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24865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instalasi aktual: menyesuaikan (belum ditentukan ulang).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35040" y="1874520"/>
            <a:ext cx="5605272" cy="1874520"/>
          </a:xfrm>
          <a:prstGeom prst="roundRect">
            <a:avLst>
              <a:gd name="adj" fmla="val 3902"/>
            </a:avLst>
          </a:prstGeom>
          <a:solidFill>
            <a:srgbClr val="002B5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0" y="2011680"/>
            <a:ext cx="5056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Server (disiapkan)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377440"/>
            <a:ext cx="50566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dedicated LGU dekat Gateway, MQTT broker sendiri via router LGU di lokasi.</a:t>
            </a:r>
            <a:endParaRPr lang="en-US" sz="9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Dual-homed ke intranet kantor kilang (NIC kedua) untuk akses dashboard.</a:t>
            </a:r>
            <a:endParaRPr lang="en-US" sz="9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Tambahan, bukan pengganti, rencana server/VM Pertamina — relasi keduanya masih diklarifikasi.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035040" y="3931920"/>
            <a:ext cx="5605272" cy="2057400"/>
          </a:xfrm>
          <a:prstGeom prst="roundRect">
            <a:avLst>
              <a:gd name="adj" fmla="val 3556"/>
            </a:avLst>
          </a:prstGeom>
          <a:solidFill>
            <a:srgbClr val="FCF2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09360" y="4096512"/>
            <a:ext cx="5056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Terbuka — Field Testing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4443984"/>
            <a:ext cx="50566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gate:jsa — TRA/JSA belum disusun, menahan eksekusi site survey/instalasi fisik lanjutan.</a:t>
            </a:r>
            <a:endParaRPr lang="en-US" sz="9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gate:net-registration — prosedur registrasi jaringan kilang belum dikonfirmasi Pertamina.</a:t>
            </a:r>
            <a:endParaRPr lang="en-US" sz="9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gate:dashboard-exposure — keamanan akses dashboard ke LAN kantor kilang belum direview.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&amp; KOLABORASI LAIN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Ringkasan Outstanding Item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gate ditampilkan apa adanya, termasuk yang belum ada jawaban dari Pertamina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1672" cy="365760"/>
          </a:xfrm>
          <a:prstGeom prst="rect">
            <a:avLst/>
          </a:prstGeom>
          <a:solidFill>
            <a:srgbClr val="002B5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18745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87452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2677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gate:atex-scoping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226771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267712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ditentukan — paling fundamental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660904"/>
            <a:ext cx="11091672" cy="36576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66090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gate:gas-extra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266090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Kapabilitas Gas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2660904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sampel Benzena/CO/H2S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054096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05409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gate:cert-height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305409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3054096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Instalasi tinggi belum tersertifikasi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447288"/>
            <a:ext cx="11091672" cy="36576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34472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gate:ch-batt-safety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472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720840" y="3447288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Baterai CH &amp; Node Sensor belum Ex-verified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84048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5800" y="38404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gate:jsa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977640" y="3840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720840" y="384048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TRA/JSA belum disusun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233672"/>
            <a:ext cx="11091672" cy="36576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336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gate:net-registration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977640" y="423367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720840" y="4233672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jawaban Pertamina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4626864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85800" y="46268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gate:server-spec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977640" y="462686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720840" y="4626864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konfirmasi Pertamina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5020056"/>
            <a:ext cx="11091672" cy="36576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5800" y="50200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gate:solar-cert / bracket-tools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977640" y="50200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720840" y="5020056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disourcing / ditentukan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5550408"/>
            <a:ext cx="11091672" cy="105156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22960" y="566928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Field Test — RU VII Kasim/Sorong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" y="5961888"/>
            <a:ext cx="10543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field test berjalan paralel di RU VII Kasim/Sorong, dengan target implementasi Desember 2026 — sejalan dengan target implementasi program 9 bulan secara keseluruhan.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2B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3931920"/>
            <a:ext cx="5852160" cy="5852160"/>
          </a:xfrm>
          <a:prstGeom prst="ellipse">
            <a:avLst/>
          </a:prstGeom>
          <a:solidFill>
            <a:srgbClr val="133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634472" y="-1554480"/>
            <a:ext cx="3108960" cy="3108960"/>
          </a:xfrm>
          <a:prstGeom prst="ellipse">
            <a:avLst/>
          </a:prstGeom>
          <a:solidFill>
            <a:srgbClr val="2D64AC">
              <a:alpha val="5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C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SELANJUTNYA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Prioritas Berikutnya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01952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Menentukan kelompok gas, kelas suhu, dan klasifikasi zona (gate:atex-scoping) sebagai prasyarat lingkup pengujian ATEX/IECEx.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56032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Mempercepat sourcing sampel gas Benzena/CO/H2S — melanjutkan pencarian suplier Bandung, terbuka untuk penyediaan langsung dari Pertamina.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236976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218688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Menyusun TRA/JSA untuk membuka eksekusi instalasi fisik lanjutan di RU IV Cilacap.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95344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895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877056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Menjadwalkan ulang kunjungan instalasi RU IV Cilacap (server → Gateway → Cluster Head → GLD 24V).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5537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35424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Menindaklanjuti konfirmasi Pertamina atas gate jaringan &amp; server (net-registration, server-spec, dashboard-exposure).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91672" cy="0"/>
          </a:xfrm>
          <a:prstGeom prst="line">
            <a:avLst/>
          </a:prstGeom>
          <a:noFill/>
          <a:ln w="12700">
            <a:solidFill>
              <a:srgbClr val="3E5A8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kasih. Tim GLD siap mendiskusikan detail lebih lanjut sesuai kebutuhan.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 Ganesha Utama (LGU) x Lab IoT/Fisika ITB — Gas Leak Detection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LGU x ITB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Laporan Progres GLD — Sertifikasi &amp; Field Testing</dc:title>
  <dc:subject>PptxGenJS Presentation</dc:subject>
  <dc:creator>LAPI Ganesha Utama (LGU) &amp; Lab IoT/Fisika ITB</dc:creator>
  <cp:lastModifiedBy>LAPI Ganesha Utama (LGU) &amp; Lab IoT/Fisika ITB</cp:lastModifiedBy>
  <cp:revision>1</cp:revision>
  <dcterms:created xsi:type="dcterms:W3CDTF">2026-09-04T08:48:15Z</dcterms:created>
  <dcterms:modified xsi:type="dcterms:W3CDTF">2026-09-04T08:48:15Z</dcterms:modified>
</cp:coreProperties>
</file>