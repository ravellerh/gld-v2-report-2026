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d829a823644b0b" /><Relationship Type="http://schemas.openxmlformats.org/officeDocument/2006/relationships/extended-properties" Target="/docProps/app.xml" Id="R28b072fcf24b4c39" /><Relationship Type="http://schemas.openxmlformats.org/officeDocument/2006/relationships/officeDocument" Target="/ppt/presentation.xml" Id="R5429c7d5afa643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7718dfd2714c40"/>
  </p:sldMasterIdLst>
  <p:notesMasterIdLst>
    <p:notesMasterId xmlns:r="http://schemas.openxmlformats.org/officeDocument/2006/relationships" r:id="R824fecd59f04421c"/>
  </p:notesMasterIdLst>
  <p:sldIdLst>
    <p:sldId xmlns:r="http://schemas.openxmlformats.org/officeDocument/2006/relationships" id="256" r:id="Rdd42fa1f95a94c9a"/>
    <p:sldId xmlns:r="http://schemas.openxmlformats.org/officeDocument/2006/relationships" id="257" r:id="Rb6737fad9313437a"/>
    <p:sldId xmlns:r="http://schemas.openxmlformats.org/officeDocument/2006/relationships" id="258" r:id="Re6a773b553a642a8"/>
    <p:sldId xmlns:r="http://schemas.openxmlformats.org/officeDocument/2006/relationships" id="259" r:id="R713badb03ccd4cc2"/>
    <p:sldId xmlns:r="http://schemas.openxmlformats.org/officeDocument/2006/relationships" id="260" r:id="R3faa3f683c7d46b0"/>
    <p:sldId xmlns:r="http://schemas.openxmlformats.org/officeDocument/2006/relationships" id="261" r:id="Re71565d542ec44de"/>
    <p:sldId xmlns:r="http://schemas.openxmlformats.org/officeDocument/2006/relationships" id="262" r:id="R626f8148cc2f4392"/>
    <p:sldId xmlns:r="http://schemas.openxmlformats.org/officeDocument/2006/relationships" id="263" r:id="R8c6fac08735f421e"/>
    <p:sldId xmlns:r="http://schemas.openxmlformats.org/officeDocument/2006/relationships" id="264" r:id="R6cff0bcd3c474372"/>
    <p:sldId xmlns:r="http://schemas.openxmlformats.org/officeDocument/2006/relationships" id="265" r:id="R914eb12511a9494b"/>
    <p:sldId xmlns:r="http://schemas.openxmlformats.org/officeDocument/2006/relationships" id="266" r:id="R7b4ed3bd71c44cb0"/>
    <p:sldId xmlns:r="http://schemas.openxmlformats.org/officeDocument/2006/relationships" id="267" r:id="R64cac54ef58d456d"/>
    <p:sldId xmlns:r="http://schemas.openxmlformats.org/officeDocument/2006/relationships" id="268" r:id="Rf8cb80ae56cd4361"/>
    <p:sldId xmlns:r="http://schemas.openxmlformats.org/officeDocument/2006/relationships" id="269" r:id="R154c4b171945452e"/>
    <p:sldId xmlns:r="http://schemas.openxmlformats.org/officeDocument/2006/relationships" id="270" r:id="Rf26d4a3e2837456e"/>
    <p:sldId xmlns:r="http://schemas.openxmlformats.org/officeDocument/2006/relationships" id="271" r:id="R0ceb3451fb1941cf"/>
    <p:sldId xmlns:r="http://schemas.openxmlformats.org/officeDocument/2006/relationships" id="272" r:id="R5c36e1412d2c4bf7"/>
    <p:sldId xmlns:r="http://schemas.openxmlformats.org/officeDocument/2006/relationships" id="273" r:id="R390363d9a2a34721"/>
    <p:sldId xmlns:r="http://schemas.openxmlformats.org/officeDocument/2006/relationships" id="274" r:id="Rc9049adce88b4f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7234ed8e3b42b3" /><Relationship Type="http://schemas.openxmlformats.org/officeDocument/2006/relationships/slideMaster" Target="/ppt/slideMasters/slideMaster1.xml" Id="R637718dfd2714c40" /><Relationship Type="http://schemas.openxmlformats.org/officeDocument/2006/relationships/notesMaster" Target="/ppt/notesMasters/notesMaster1.xml" Id="R824fecd59f04421c" /><Relationship Type="http://schemas.openxmlformats.org/officeDocument/2006/relationships/presProps" Target="/ppt/presProps.xml" Id="R75273667f0db4138" /><Relationship Type="http://schemas.openxmlformats.org/officeDocument/2006/relationships/tableStyles" Target="/ppt/tableStyles.xml" Id="R57773329813142df" /><Relationship Type="http://schemas.openxmlformats.org/officeDocument/2006/relationships/slide" Target="/ppt/slides/slide1.xml" Id="Rdd42fa1f95a94c9a" /><Relationship Type="http://schemas.openxmlformats.org/officeDocument/2006/relationships/slide" Target="/ppt/slides/slide2.xml" Id="Rb6737fad9313437a" /><Relationship Type="http://schemas.openxmlformats.org/officeDocument/2006/relationships/slide" Target="/ppt/slides/slide3.xml" Id="Re6a773b553a642a8" /><Relationship Type="http://schemas.openxmlformats.org/officeDocument/2006/relationships/slide" Target="/ppt/slides/slide4.xml" Id="R713badb03ccd4cc2" /><Relationship Type="http://schemas.openxmlformats.org/officeDocument/2006/relationships/slide" Target="/ppt/slides/slide5.xml" Id="R3faa3f683c7d46b0" /><Relationship Type="http://schemas.openxmlformats.org/officeDocument/2006/relationships/slide" Target="/ppt/slides/slide6.xml" Id="Re71565d542ec44de" /><Relationship Type="http://schemas.openxmlformats.org/officeDocument/2006/relationships/slide" Target="/ppt/slides/slide7.xml" Id="R626f8148cc2f4392" /><Relationship Type="http://schemas.openxmlformats.org/officeDocument/2006/relationships/slide" Target="/ppt/slides/slide8.xml" Id="R8c6fac08735f421e" /><Relationship Type="http://schemas.openxmlformats.org/officeDocument/2006/relationships/slide" Target="/ppt/slides/slide9.xml" Id="R6cff0bcd3c474372" /><Relationship Type="http://schemas.openxmlformats.org/officeDocument/2006/relationships/slide" Target="/ppt/slides/slide10.xml" Id="R914eb12511a9494b" /><Relationship Type="http://schemas.openxmlformats.org/officeDocument/2006/relationships/slide" Target="/ppt/slides/slide11.xml" Id="R7b4ed3bd71c44cb0" /><Relationship Type="http://schemas.openxmlformats.org/officeDocument/2006/relationships/slide" Target="/ppt/slides/slide12.xml" Id="R64cac54ef58d456d" /><Relationship Type="http://schemas.openxmlformats.org/officeDocument/2006/relationships/slide" Target="/ppt/slides/slide13.xml" Id="Rf8cb80ae56cd4361" /><Relationship Type="http://schemas.openxmlformats.org/officeDocument/2006/relationships/slide" Target="/ppt/slides/slide14.xml" Id="R154c4b171945452e" /><Relationship Type="http://schemas.openxmlformats.org/officeDocument/2006/relationships/slide" Target="/ppt/slides/slide15.xml" Id="Rf26d4a3e2837456e" /><Relationship Type="http://schemas.openxmlformats.org/officeDocument/2006/relationships/slide" Target="/ppt/slides/slide16.xml" Id="R0ceb3451fb1941cf" /><Relationship Type="http://schemas.openxmlformats.org/officeDocument/2006/relationships/slide" Target="/ppt/slides/slide17.xml" Id="R5c36e1412d2c4bf7" /><Relationship Type="http://schemas.openxmlformats.org/officeDocument/2006/relationships/slide" Target="/ppt/slides/slide18.xml" Id="R390363d9a2a34721" /><Relationship Type="http://schemas.openxmlformats.org/officeDocument/2006/relationships/slide" Target="/ppt/slides/slide19.xml" Id="Rc9049adce88b4f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a786b90f514b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0e5b4127a64008" /><Relationship Type="http://schemas.openxmlformats.org/officeDocument/2006/relationships/notesMaster" Target="/ppt/notesMasters/notesMaster1.xml" Id="R6602a8c614244a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1cb2be3ca1449f" /><Relationship Type="http://schemas.openxmlformats.org/officeDocument/2006/relationships/notesMaster" Target="/ppt/notesMasters/notesMaster1.xml" Id="Rf9dd967f640442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55796297a14d85" /><Relationship Type="http://schemas.openxmlformats.org/officeDocument/2006/relationships/notesMaster" Target="/ppt/notesMasters/notesMaster1.xml" Id="R43fe16f004fa42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c15e3b825144d1" /><Relationship Type="http://schemas.openxmlformats.org/officeDocument/2006/relationships/notesMaster" Target="/ppt/notesMasters/notesMaster1.xml" Id="Rdca27f93a5f24c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e77286351043bd" /><Relationship Type="http://schemas.openxmlformats.org/officeDocument/2006/relationships/notesMaster" Target="/ppt/notesMasters/notesMaster1.xml" Id="R45e58d4ee95e46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567b0c9c274bb2" /><Relationship Type="http://schemas.openxmlformats.org/officeDocument/2006/relationships/notesMaster" Target="/ppt/notesMasters/notesMaster1.xml" Id="R8f72b46bcf7841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a80292938744e2" /><Relationship Type="http://schemas.openxmlformats.org/officeDocument/2006/relationships/notesMaster" Target="/ppt/notesMasters/notesMaster1.xml" Id="R68351a9ae75548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581ce74ac0452e" /><Relationship Type="http://schemas.openxmlformats.org/officeDocument/2006/relationships/notesMaster" Target="/ppt/notesMasters/notesMaster1.xml" Id="Re351c1625c7c41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ecc1cd6eae49ec" /><Relationship Type="http://schemas.openxmlformats.org/officeDocument/2006/relationships/notesMaster" Target="/ppt/notesMasters/notesMaster1.xml" Id="R641b21bfdec149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6862bcdc8a4e57" /><Relationship Type="http://schemas.openxmlformats.org/officeDocument/2006/relationships/notesMaster" Target="/ppt/notesMasters/notesMaster1.xml" Id="R80add664503a4c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922cc82d424346" /><Relationship Type="http://schemas.openxmlformats.org/officeDocument/2006/relationships/notesMaster" Target="/ppt/notesMasters/notesMaster1.xml" Id="R0f706f7436b64e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89bf8ef15f41d7" /><Relationship Type="http://schemas.openxmlformats.org/officeDocument/2006/relationships/notesMaster" Target="/ppt/notesMasters/notesMaster1.xml" Id="R5933fcb8692248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ff4dd37c994375" /><Relationship Type="http://schemas.openxmlformats.org/officeDocument/2006/relationships/notesMaster" Target="/ppt/notesMasters/notesMaster1.xml" Id="R5ac428c43c314a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943a1ac6ec477b" /><Relationship Type="http://schemas.openxmlformats.org/officeDocument/2006/relationships/notesMaster" Target="/ppt/notesMasters/notesMaster1.xml" Id="R5f3535d10fb54d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e5a167646e4f84" /><Relationship Type="http://schemas.openxmlformats.org/officeDocument/2006/relationships/notesMaster" Target="/ppt/notesMasters/notesMaster1.xml" Id="Rae24c4677bd94f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9b5ff91fac4a7b" /><Relationship Type="http://schemas.openxmlformats.org/officeDocument/2006/relationships/notesMaster" Target="/ppt/notesMasters/notesMaster1.xml" Id="Rdfd83e82df0a46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7246b2dd114736" /><Relationship Type="http://schemas.openxmlformats.org/officeDocument/2006/relationships/notesMaster" Target="/ppt/notesMasters/notesMaster1.xml" Id="Rf2321f0adfd84b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acd12dfded4ab0" /><Relationship Type="http://schemas.openxmlformats.org/officeDocument/2006/relationships/notesMaster" Target="/ppt/notesMasters/notesMaster1.xml" Id="R88ba8667cf2d48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9f5d0d699a4573" /><Relationship Type="http://schemas.openxmlformats.org/officeDocument/2006/relationships/notesMaster" Target="/ppt/notesMasters/notesMaster1.xml" Id="Re010479508514d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https://github.com/RavellerH/gasleakdetectionV2-April/tree/660febbfceaca42ca3147fbf47ca09417bd93490</a:t>
            </a:r>
          </a:p>
          <a:p xmlns:a="http://schemas.openxmlformats.org/drawingml/2006/main">
            <a:r>
              <a:t>- https://github.com/fadlurrahmanf/PertaminaGLD/tree/69a493c32d2500134a21e029820cd4addea1794a</a:t>
            </a:r>
          </a:p>
          <a:p xmlns:a="http://schemas.openxmlformats.org/drawingml/2006/main">
            <a:r>
              <a:t>- memory/deliverables.md (audit sumber, 19 Agustus 2026)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Deliverables/Datasheet_Sistem_GLD_Arsitektur_ServerJaringan.html §01–03</a:t>
            </a:r>
          </a:p>
          <a:p xmlns:a="http://schemas.openxmlformats.org/drawingml/2006/main">
            <a:r>
              <a:t>- memory/overview.md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memory/blockers_metrics.md</a:t>
            </a:r>
          </a:p>
          <a:p xmlns:a="http://schemas.openxmlformats.org/drawingml/2006/main">
            <a:r>
              <a:t>- Deliverables/Datasheet_Sistem_GLD_Arsitektur_ServerJaringan.html §02</a:t>
            </a:r>
          </a:p>
          <a:p xmlns:a="http://schemas.openxmlformats.org/drawingml/2006/main">
            <a:r>
              <a:t>- Sumber Dokumen/Summary recorder 081426 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memory/blockers_metrics.md §Gate</a:t>
            </a:r>
          </a:p>
          <a:p xmlns:a="http://schemas.openxmlformats.org/drawingml/2006/main">
            <a:r>
              <a:t>- memory/decisions.md dec:30–44</a:t>
            </a:r>
          </a:p>
          <a:p xmlns:a="http://schemas.openxmlformats.org/drawingml/2006/main">
            <a:r>
              <a:t>- Deliverables/JSA_HSE_RU-IV_Cilacap_GLD.md (draft, belum disahkan)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https://github.com/fadlurrahmanf/PertaminaGLD/blob/69a493c32d2500134a21e029820cd4addea1794a/server/nodered/README.md</a:t>
            </a:r>
          </a:p>
          <a:p xmlns:a="http://schemas.openxmlformats.org/drawingml/2006/main">
            <a:r>
              <a:t>- https://github.com/RavellerH/gasleakdetectionV2-April/blob/660febbfceaca42ca3147fbf47ca09417bd93490/memory/PRE_INSTALLATION_HANDOFF_2026-08-05.md</a:t>
            </a:r>
          </a:p>
          <a:p xmlns:a="http://schemas.openxmlformats.org/drawingml/2006/main">
            <a:r>
              <a:t>- Deliverables/Datasheet_Sistem_GLD_Arsitektur_ServerJaringan.html §08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https://github.com/fadlurrahmanf/PertaminaGLD/tree/69a493c32d2500134a21e029820cd4addea1794a</a:t>
            </a:r>
          </a:p>
          <a:p xmlns:a="http://schemas.openxmlformats.org/drawingml/2006/main">
            <a:r>
              <a:t>- https://github.com/RavellerH/gasleakdetectionV2-April/blob/660febbfceaca42ca3147fbf47ca09417bd93490/memory/PRE_INSTALLATION_HANDOFF_2026-08-05.md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https://github.com/fadlurrahmanf/PertaminaGLD/blob/69a493c32d2500134a21e029820cd4addea1794a/server/nodered/README.md</a:t>
            </a:r>
          </a:p>
          <a:p xmlns:a="http://schemas.openxmlformats.org/drawingml/2006/main">
            <a:r>
              <a:t>- https://github.com/RavellerH/gasleakdetectionV2-April/tree/660febbfceaca42ca3147fbf47ca09417bd93490/apps/backend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https://github.com/RavellerH/gasleakdetectionV2-April/tree/660febbfceaca42ca3147fbf47ca09417bd93490/apps/frontend</a:t>
            </a:r>
          </a:p>
          <a:p xmlns:a="http://schemas.openxmlformats.org/drawingml/2006/main">
            <a:r>
              <a:t>- https://github.com/RavellerH/gasleakdetectionV2-April/tree/660febbfceaca42ca3147fbf47ca09417bd93490/apps/ru-frontend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https://github.com/RavellerH/gasleakdetectionV2-April/tree/660febbfceaca42ca3147fbf47ca09417bd93490/apps/backend</a:t>
            </a:r>
          </a:p>
          <a:p xmlns:a="http://schemas.openxmlformats.org/drawingml/2006/main">
            <a:r>
              <a:t>- https://github.com/RavellerH/gasleakdetectionV2-April/blob/660febbfceaca42ca3147fbf47ca09417bd93490/apps/backend/prisma/schema.prisma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https://github.com/RavellerH/gasleakdetectionV2-April/tree/660febbfceaca42ca3147fbf47ca09417bd93490/apps/gateway</a:t>
            </a:r>
          </a:p>
          <a:p xmlns:a="http://schemas.openxmlformats.org/drawingml/2006/main">
            <a:r>
              <a:t>- https://github.com/RavellerH/gasleakdetectionV2-April/blob/660febbfceaca42ca3147fbf47ca09417bd93490/memory/PRE_INSTALLATION_HANDOFF_2026-08-05.md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Deliverables/Datasheet_Sistem_GLD_Arsitektur_ServerJaringan.html §04</a:t>
            </a:r>
          </a:p>
          <a:p xmlns:a="http://schemas.openxmlformats.org/drawingml/2006/main">
            <a:r>
              <a:t>- memory/entities.md §Model AI</a:t>
            </a:r>
          </a:p>
          <a:p xmlns:a="http://schemas.openxmlformats.org/drawingml/2006/main">
            <a:r>
              <a:t>- memory/decisions.md dec:39–43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memory/blockers_metrics.md §Status produksi unit</a:t>
            </a:r>
          </a:p>
          <a:p xmlns:a="http://schemas.openxmlformats.org/drawingml/2006/main">
            <a:r>
              <a:t>- memory/blockers_metrics.md §Gate capacity</a:t>
            </a:r>
          </a:p>
          <a:p xmlns:a="http://schemas.openxmlformats.org/drawingml/2006/main">
            <a:r>
              <a:t>- Deliverables/Datasheet_Sistem_GLD_Arsitektur_ServerJaringan.html §04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memory/blockers_metrics.md §Metrik RF LoRa</a:t>
            </a:r>
          </a:p>
          <a:p xmlns:a="http://schemas.openxmlformats.org/drawingml/2006/main">
            <a:r>
              <a:t>- Deliverables/Datasheet_Sistem_GLD_Arsitektur_ServerJaringan.html §05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Sumber Dokumen/Summary recorder 081426 .pdf</a:t>
            </a:r>
          </a:p>
          <a:p xmlns:a="http://schemas.openxmlformats.org/drawingml/2006/main">
            <a:r>
              <a:t>- Sumber Dokumen/Notulensi_Rapat_5Agustus2026_GLD.pdf</a:t>
            </a:r>
          </a:p>
          <a:p xmlns:a="http://schemas.openxmlformats.org/drawingml/2006/main">
            <a:r>
              <a:t>- memory/deliverables.md (koreksi audit: 2 kompartemen + seal/gland)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Sumber Dokumen/06 Aguatus Deteksi_Kebocoran_Gas_CNN_DualBranch (2)  -  Repaired.pptx</a:t>
            </a:r>
          </a:p>
          <a:p xmlns:a="http://schemas.openxmlformats.org/drawingml/2006/main">
            <a:r>
              <a:t>- Sumber Dokumen/Notulensi_Rapat_5Agustus2026_GLD.pdf</a:t>
            </a:r>
          </a:p>
          <a:p xmlns:a="http://schemas.openxmlformats.org/drawingml/2006/main">
            <a:r>
              <a:t>- memory/entities.md §Model 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https://github.com/RavellerH/gasleakdetectionV2-April/tree/660febbfceaca42ca3147fbf47ca09417bd93490/apps</a:t>
            </a:r>
          </a:p>
          <a:p xmlns:a="http://schemas.openxmlformats.org/drawingml/2006/main">
            <a:r>
              <a:t>- https://github.com/fadlurrahmanf/PertaminaGLD/blob/69a493c32d2500134a21e029820cd4addea1794a/server/nodered/README.md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memory/blockers_metrics.md §Metrik daya</a:t>
            </a:r>
          </a:p>
          <a:p xmlns:a="http://schemas.openxmlformats.org/drawingml/2006/main">
            <a:r>
              <a:t>- memory/decisions.md dec:39–41</a:t>
            </a:r>
          </a:p>
          <a:p xmlns:a="http://schemas.openxmlformats.org/drawingml/2006/main">
            <a:r>
              <a:t>- Sumber Dokumen/Timeline_Kerjaan_Mingguan_GLD_updated_Juli_2026.pdf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memory/blockers_metrics.md §Gate</a:t>
            </a:r>
          </a:p>
          <a:p xmlns:a="http://schemas.openxmlformats.org/drawingml/2006/main">
            <a:r>
              <a:t>- memory/overview.md (baseline progres)</a:t>
            </a:r>
          </a:p>
          <a:p xmlns:a="http://schemas.openxmlformats.org/drawingml/2006/main">
            <a:r>
              <a:t>- Deliverables/Datasheet_Sistem_GLD_Arsitektur_ServerJaringan.html §10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Deliverables/Datasheet_Sistem_GLD_Arsitektur_ServerJaringan.html §08–11</a:t>
            </a:r>
          </a:p>
          <a:p xmlns:a="http://schemas.openxmlformats.org/drawingml/2006/main">
            <a:r>
              <a:t>- memory/blockers_metrics.md</a:t>
            </a:r>
          </a:p>
          <a:p xmlns:a="http://schemas.openxmlformats.org/drawingml/2006/main">
            <a:r>
              <a:t>- memory/deliverables.md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c34abd2ab46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575d53d3a34fd5" /><Relationship Type="http://schemas.openxmlformats.org/officeDocument/2006/relationships/slideLayout" Target="/ppt/slideLayouts/slideLayout1.xml" Id="Raa03f19eeb9b40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03f19eeb9b40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d0b2eee5349ee" /><Relationship Type="http://schemas.openxmlformats.org/officeDocument/2006/relationships/notesSlide" Target="/ppt/notesSlides/notesSlide1.xml" Id="R813d2e18c24b4e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cefa014b840e8" /><Relationship Type="http://schemas.openxmlformats.org/officeDocument/2006/relationships/notesSlide" Target="/ppt/notesSlides/notesSlide2.xml" Id="Rd6c3c984ad224e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25c7642914e05" /><Relationship Type="http://schemas.openxmlformats.org/officeDocument/2006/relationships/notesSlide" Target="/ppt/notesSlides/notesSlide3.xml" Id="Ra51801e7e52e43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c85b5d26f47ed" /><Relationship Type="http://schemas.openxmlformats.org/officeDocument/2006/relationships/notesSlide" Target="/ppt/notesSlides/notesSlide4.xml" Id="Rd39ca4c433504d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50a91447d4102" /><Relationship Type="http://schemas.openxmlformats.org/officeDocument/2006/relationships/notesSlide" Target="/ppt/notesSlides/notesSlide5.xml" Id="R45d3ecf5bab643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853229d9a4f4f" /><Relationship Type="http://schemas.openxmlformats.org/officeDocument/2006/relationships/notesSlide" Target="/ppt/notesSlides/notesSlide6.xml" Id="Re86f699ae3a24d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e7f0f0b8e43ee" /><Relationship Type="http://schemas.openxmlformats.org/officeDocument/2006/relationships/notesSlide" Target="/ppt/notesSlides/notesSlide7.xml" Id="Rc806553fc7834b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be74de6e74529" /><Relationship Type="http://schemas.openxmlformats.org/officeDocument/2006/relationships/notesSlide" Target="/ppt/notesSlides/notesSlide8.xml" Id="Rd9166d5148f04d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3e9a246cb4d5a" /><Relationship Type="http://schemas.openxmlformats.org/officeDocument/2006/relationships/notesSlide" Target="/ppt/notesSlides/notesSlide9.xml" Id="R44569ab775e04a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7b8a978104d64" /><Relationship Type="http://schemas.openxmlformats.org/officeDocument/2006/relationships/notesSlide" Target="/ppt/notesSlides/notesSlide10.xml" Id="R83b3bccd971949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be84c12b94fbe" /><Relationship Type="http://schemas.openxmlformats.org/officeDocument/2006/relationships/notesSlide" Target="/ppt/notesSlides/notesSlide11.xml" Id="R1ed35c2f9a2b4c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403a4eab8472d" /><Relationship Type="http://schemas.openxmlformats.org/officeDocument/2006/relationships/notesSlide" Target="/ppt/notesSlides/notesSlide12.xml" Id="R6e25db88c86d4b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e38bd7271438c" /><Relationship Type="http://schemas.openxmlformats.org/officeDocument/2006/relationships/notesSlide" Target="/ppt/notesSlides/notesSlide13.xml" Id="Rc05da26eceee44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9a008ac7e460f" /><Relationship Type="http://schemas.openxmlformats.org/officeDocument/2006/relationships/notesSlide" Target="/ppt/notesSlides/notesSlide14.xml" Id="R7fa63a48663449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2b97335f1486c" /><Relationship Type="http://schemas.openxmlformats.org/officeDocument/2006/relationships/notesSlide" Target="/ppt/notesSlides/notesSlide15.xml" Id="Ra691eaf138ff44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d9ee84aed4f7a" /><Relationship Type="http://schemas.openxmlformats.org/officeDocument/2006/relationships/notesSlide" Target="/ppt/notesSlides/notesSlide16.xml" Id="Rb1263fe3d1fe48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941013ece432d" /><Relationship Type="http://schemas.openxmlformats.org/officeDocument/2006/relationships/notesSlide" Target="/ppt/notesSlides/notesSlide17.xml" Id="Rf8d443cb3edd4e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2fa5e0f2a4fc1" /><Relationship Type="http://schemas.openxmlformats.org/officeDocument/2006/relationships/notesSlide" Target="/ppt/notesSlides/notesSlide18.xml" Id="R531b52df6fe745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41bfc4008498d" /><Relationship Type="http://schemas.openxmlformats.org/officeDocument/2006/relationships/notesSlide" Target="/ppt/notesSlides/notesSlide19.xml" Id="R98a67941594d49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topline">
            <a:extLst xmlns:a="http://schemas.openxmlformats.org/drawingml/2006/main">
              <a:ext uri="{FF2B5EF4-FFF2-40B4-BE49-F238E27FC236}">
                <a16:creationId xmlns:a16="http://schemas.microsoft.com/office/drawing/2014/main" id="{A5BD671D-BF9B-4AA2-A471-51D295FA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mark">
            <a:extLst xmlns:a="http://schemas.openxmlformats.org/drawingml/2006/main">
              <a:ext uri="{FF2B5EF4-FFF2-40B4-BE49-F238E27FC236}">
                <a16:creationId xmlns:a16="http://schemas.microsoft.com/office/drawing/2014/main" id="{1E00A6F0-0133-46B8-8E3B-7DC49DDE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BB94FF55-22DE-465B-B312-70E27616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620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C"/>
                </a:solidFill>
              </a:defRPr>
            </a:pPr>
            <a:r>
              <a:rPr sz="1350" b="1">
                <a:solidFill>
                  <a:srgbClr val="59616C"/>
                </a:solidFill>
              </a:rPr>
              <a:t>LAPI GANESHA UTAMA  •  LAB IOT &amp; FISIKA ITB  •  PERTAMINA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C73B52E-6CA1-415B-AC12-9426DD29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71A1F"/>
                </a:solidFill>
              </a:defRPr>
            </a:pPr>
            <a:r>
              <a:rPr sz="5250" b="1">
                <a:solidFill>
                  <a:srgbClr val="171A1F"/>
                </a:solidFill>
              </a:rPr>
              <a:t>Datasheet Sistem GLD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6955724-4457-47BC-807A-27ADB034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9616C"/>
                </a:solidFill>
              </a:defRPr>
            </a:pPr>
            <a:r>
              <a:rPr sz="2250" b="0">
                <a:solidFill>
                  <a:srgbClr val="59616C"/>
                </a:solidFill>
              </a:rPr>
              <a:t>Spesifikasi arsitektur, interface, data flow, aplikasi, dan infrastruktur Kilang</a:t>
            </a:r>
          </a:p>
        </p:txBody>
      </p:sp>
      <p:sp>
        <p:nvSpPr>
          <p:cNvPr id="6" name="cover-rev">
            <a:extLst xmlns:a="http://schemas.openxmlformats.org/drawingml/2006/main">
              <a:ext uri="{FF2B5EF4-FFF2-40B4-BE49-F238E27FC236}">
                <a16:creationId xmlns:a16="http://schemas.microsoft.com/office/drawing/2014/main" id="{80DF2F99-4042-4F93-8C13-83649B6F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REV 0.8  •  19 AGUSTUS 2026  •  DRAFT TECHNICAL SPECIFICATION</a:t>
            </a:r>
          </a:p>
        </p:txBody>
      </p:sp>
      <p:sp>
        <p:nvSpPr>
          <p:cNvPr id="7" name="cover-scope">
            <a:extLst xmlns:a="http://schemas.openxmlformats.org/drawingml/2006/main">
              <a:ext uri="{FF2B5EF4-FFF2-40B4-BE49-F238E27FC236}">
                <a16:creationId xmlns:a16="http://schemas.microsoft.com/office/drawing/2014/main" id="{5D841AD0-7C52-4CD6-8F3D-1CDF04C5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A1F"/>
                </a:solidFill>
              </a:defRPr>
            </a:pPr>
            <a:r>
              <a:rPr sz="1650" b="0">
                <a:solidFill>
                  <a:srgbClr val="171A1F"/>
                </a:solidFill>
              </a:rPr>
              <a:t>Tangki LPG &amp; SRU  |  GLD Tahap 2</a:t>
            </a:r>
          </a:p>
        </p:txBody>
      </p:sp>
    </p:spTree>
    <p:extLst>
      <p:ext uri="{BB962C8B-B14F-4D97-AF65-F5344CB8AC3E}">
        <p14:creationId xmlns:p14="http://schemas.microsoft.com/office/powerpoint/2010/main" val="1442207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line-2">
            <a:extLst xmlns:a="http://schemas.openxmlformats.org/drawingml/2006/main">
              <a:ext uri="{FF2B5EF4-FFF2-40B4-BE49-F238E27FC236}">
                <a16:creationId xmlns:a16="http://schemas.microsoft.com/office/drawing/2014/main" id="{3395620D-D7E8-4239-A7D0-A8F2BB10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770A2D68-564E-4A4B-B68B-06CD8546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01 · SYSTEM OVERVIEW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7411654F-937A-408F-8859-6ECC7E02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Arsitektur operasional terdiri dari lima lapisan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91EC91A6-EF7B-407F-BBC6-11854225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Inferensi dijalankan pada GLD Node; telemetri ditransmisikan melalui LoRa dan MQTT ke aplikasi RU.</a:t>
            </a:r>
          </a:p>
        </p:txBody>
      </p:sp>
      <p:sp>
        <p:nvSpPr>
          <p:cNvPr id="5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AF428926-260D-4F37-9E41-E0012C73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E898A4BA-B755-4650-A543-B84F9D36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10FFB62B-85FE-49A0-A6E7-5B31474F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2</a:t>
            </a:r>
          </a:p>
        </p:txBody>
      </p:sp>
      <p:sp>
        <p:nvSpPr>
          <p:cNvPr id="8" name="flow-0">
            <a:extLst xmlns:a="http://schemas.openxmlformats.org/drawingml/2006/main">
              <a:ext uri="{FF2B5EF4-FFF2-40B4-BE49-F238E27FC236}">
                <a16:creationId xmlns:a16="http://schemas.microsoft.com/office/drawing/2014/main" id="{7AD5B45B-71C6-41D9-A30A-BFD337C4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752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9" name="dot-90-246">
            <a:extLst xmlns:a="http://schemas.openxmlformats.org/drawingml/2006/main">
              <a:ext uri="{FF2B5EF4-FFF2-40B4-BE49-F238E27FC236}">
                <a16:creationId xmlns:a16="http://schemas.microsoft.com/office/drawing/2014/main" id="{D9727139-6651-4222-844D-54F4D6CA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58E5C506-680A-4176-AC38-F9186B30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A1F"/>
                </a:solidFill>
              </a:defRPr>
            </a:pPr>
            <a:r>
              <a:rPr sz="1725" b="1">
                <a:solidFill>
                  <a:srgbClr val="171A1F"/>
                </a:solidFill>
              </a:rPr>
              <a:t>GLD Node</a:t>
            </a:r>
          </a:p>
        </p:txBody>
      </p:sp>
      <p:sp>
        <p:nvSpPr>
          <p:cNvPr id="11" name="flow-sub-0">
            <a:extLst xmlns:a="http://schemas.openxmlformats.org/drawingml/2006/main">
              <a:ext uri="{FF2B5EF4-FFF2-40B4-BE49-F238E27FC236}">
                <a16:creationId xmlns:a16="http://schemas.microsoft.com/office/drawing/2014/main" id="{4EE835A7-E4F7-4033-87B5-34A60412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8 sensor MQ + AI</a:t>
            </a:r>
          </a:p>
        </p:txBody>
      </p:sp>
      <p:sp>
        <p:nvSpPr>
          <p:cNvPr id="12" name="arrow-0">
            <a:extLst xmlns:a="http://schemas.openxmlformats.org/drawingml/2006/main">
              <a:ext uri="{FF2B5EF4-FFF2-40B4-BE49-F238E27FC236}">
                <a16:creationId xmlns:a16="http://schemas.microsoft.com/office/drawing/2014/main" id="{8EFCA4D4-7F66-4AF6-9D45-9609E65F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5336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929D"/>
                </a:solidFill>
              </a:defRPr>
            </a:pPr>
            <a:r>
              <a:rPr sz="2550" b="1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13" name="flow-1">
            <a:extLst xmlns:a="http://schemas.openxmlformats.org/drawingml/2006/main">
              <a:ext uri="{FF2B5EF4-FFF2-40B4-BE49-F238E27FC236}">
                <a16:creationId xmlns:a16="http://schemas.microsoft.com/office/drawing/2014/main" id="{AA40CF77-8D1A-4C48-BB23-50F411A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71700"/>
            <a:ext cx="1752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4" name="dot-316-246">
            <a:extLst xmlns:a="http://schemas.openxmlformats.org/drawingml/2006/main">
              <a:ext uri="{FF2B5EF4-FFF2-40B4-BE49-F238E27FC236}">
                <a16:creationId xmlns:a16="http://schemas.microsoft.com/office/drawing/2014/main" id="{E0E247CB-5283-48CE-8C85-C488E1F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4D886B33-4003-4EEF-82C4-F3ED248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908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A1F"/>
                </a:solidFill>
              </a:defRPr>
            </a:pPr>
            <a:r>
              <a:rPr sz="1725" b="1">
                <a:solidFill>
                  <a:srgbClr val="171A1F"/>
                </a:solidFill>
              </a:rPr>
              <a:t>Cluster Head</a:t>
            </a:r>
          </a:p>
        </p:txBody>
      </p:sp>
      <p:sp>
        <p:nvSpPr>
          <p:cNvPr id="16" name="flow-sub-1">
            <a:extLst xmlns:a="http://schemas.openxmlformats.org/drawingml/2006/main">
              <a:ext uri="{FF2B5EF4-FFF2-40B4-BE49-F238E27FC236}">
                <a16:creationId xmlns:a16="http://schemas.microsoft.com/office/drawing/2014/main" id="{03F46E6F-18FD-4B14-96A9-03496E73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622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relay &amp; cache LoRa</a:t>
            </a:r>
          </a:p>
        </p:txBody>
      </p:sp>
      <p:sp>
        <p:nvSpPr>
          <p:cNvPr id="17" name="arrow-1">
            <a:extLst xmlns:a="http://schemas.openxmlformats.org/drawingml/2006/main">
              <a:ext uri="{FF2B5EF4-FFF2-40B4-BE49-F238E27FC236}">
                <a16:creationId xmlns:a16="http://schemas.microsoft.com/office/drawing/2014/main" id="{A4C450DB-0986-41F0-9655-5F91582D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336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929D"/>
                </a:solidFill>
              </a:defRPr>
            </a:pPr>
            <a:r>
              <a:rPr sz="2550" b="1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18" name="flow-2">
            <a:extLst xmlns:a="http://schemas.openxmlformats.org/drawingml/2006/main">
              <a:ext uri="{FF2B5EF4-FFF2-40B4-BE49-F238E27FC236}">
                <a16:creationId xmlns:a16="http://schemas.microsoft.com/office/drawing/2014/main" id="{8EE14C96-DB65-483E-B6C5-F5853E05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1752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9" name="dot-542-246">
            <a:extLst xmlns:a="http://schemas.openxmlformats.org/drawingml/2006/main">
              <a:ext uri="{FF2B5EF4-FFF2-40B4-BE49-F238E27FC236}">
                <a16:creationId xmlns:a16="http://schemas.microsoft.com/office/drawing/2014/main" id="{CECE42B8-F61C-4E59-8C78-B256CDFD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FE948FAC-A0DD-4641-A90D-9F026FBE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A1F"/>
                </a:solidFill>
              </a:defRPr>
            </a:pPr>
            <a:r>
              <a:rPr sz="1725" b="1">
                <a:solidFill>
                  <a:srgbClr val="171A1F"/>
                </a:solidFill>
              </a:rPr>
              <a:t>Gateway</a:t>
            </a:r>
          </a:p>
        </p:txBody>
      </p:sp>
      <p:sp>
        <p:nvSpPr>
          <p:cNvPr id="21" name="flow-sub-2">
            <a:extLst xmlns:a="http://schemas.openxmlformats.org/drawingml/2006/main">
              <a:ext uri="{FF2B5EF4-FFF2-40B4-BE49-F238E27FC236}">
                <a16:creationId xmlns:a16="http://schemas.microsoft.com/office/drawing/2014/main" id="{2F5DEC6D-1BE7-4D65-9026-2391AC17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622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mesh ke MQTT</a:t>
            </a:r>
          </a:p>
        </p:txBody>
      </p:sp>
      <p:sp>
        <p:nvSpPr>
          <p:cNvPr id="22" name="arrow-2">
            <a:extLst xmlns:a="http://schemas.openxmlformats.org/drawingml/2006/main">
              <a:ext uri="{FF2B5EF4-FFF2-40B4-BE49-F238E27FC236}">
                <a16:creationId xmlns:a16="http://schemas.microsoft.com/office/drawing/2014/main" id="{AE8A970C-F2E7-43E0-9878-B46804AC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5336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929D"/>
                </a:solidFill>
              </a:defRPr>
            </a:pPr>
            <a:r>
              <a:rPr sz="2550" b="1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23" name="flow-3">
            <a:extLst xmlns:a="http://schemas.openxmlformats.org/drawingml/2006/main">
              <a:ext uri="{FF2B5EF4-FFF2-40B4-BE49-F238E27FC236}">
                <a16:creationId xmlns:a16="http://schemas.microsoft.com/office/drawing/2014/main" id="{D910757B-D0F7-405D-B48A-5C220072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1752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9525">
            <a:solidFill>
              <a:srgbClr val="17356F"/>
            </a:solidFill>
            <a:prstDash val="solid"/>
          </a:ln>
        </p:spPr>
      </p:sp>
      <p:sp>
        <p:nvSpPr>
          <p:cNvPr id="24" name="dot-768-246">
            <a:extLst xmlns:a="http://schemas.openxmlformats.org/drawingml/2006/main">
              <a:ext uri="{FF2B5EF4-FFF2-40B4-BE49-F238E27FC236}">
                <a16:creationId xmlns:a16="http://schemas.microsoft.com/office/drawing/2014/main" id="{D54EE610-F540-4A20-BDDF-C17AD54E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E6E4B93C-9663-47F7-BD8C-844A9CEC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908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Server RU</a:t>
            </a:r>
          </a:p>
        </p:txBody>
      </p:sp>
      <p:sp>
        <p:nvSpPr>
          <p:cNvPr id="26" name="flow-sub-3">
            <a:extLst xmlns:a="http://schemas.openxmlformats.org/drawingml/2006/main">
              <a:ext uri="{FF2B5EF4-FFF2-40B4-BE49-F238E27FC236}">
                <a16:creationId xmlns:a16="http://schemas.microsoft.com/office/drawing/2014/main" id="{7F23D65D-92D7-4BF8-8CD2-857FFACC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622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6"/>
                </a:solidFill>
              </a:defRPr>
            </a:pPr>
            <a:r>
              <a:rPr sz="1275" b="0">
                <a:solidFill>
                  <a:srgbClr val="CBD5E6"/>
                </a:solidFill>
              </a:rPr>
              <a:t>broker + aplikasi</a:t>
            </a:r>
          </a:p>
        </p:txBody>
      </p:sp>
      <p:sp>
        <p:nvSpPr>
          <p:cNvPr id="27" name="arrow-3">
            <a:extLst xmlns:a="http://schemas.openxmlformats.org/drawingml/2006/main">
              <a:ext uri="{FF2B5EF4-FFF2-40B4-BE49-F238E27FC236}">
                <a16:creationId xmlns:a16="http://schemas.microsoft.com/office/drawing/2014/main" id="{2727DCD1-40B3-41E1-9ECE-02651A34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336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929D"/>
                </a:solidFill>
              </a:defRPr>
            </a:pPr>
            <a:r>
              <a:rPr sz="2550" b="1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28" name="flow-4">
            <a:extLst xmlns:a="http://schemas.openxmlformats.org/drawingml/2006/main">
              <a:ext uri="{FF2B5EF4-FFF2-40B4-BE49-F238E27FC236}">
                <a16:creationId xmlns:a16="http://schemas.microsoft.com/office/drawing/2014/main" id="{19CC631E-F8BF-4863-A642-975D668F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71700"/>
            <a:ext cx="1752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9" name="dot-994-246">
            <a:extLst xmlns:a="http://schemas.openxmlformats.org/drawingml/2006/main">
              <a:ext uri="{FF2B5EF4-FFF2-40B4-BE49-F238E27FC236}">
                <a16:creationId xmlns:a16="http://schemas.microsoft.com/office/drawing/2014/main" id="{2A3B529A-C430-476D-8CCF-F40E410C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F5F72A42-F4CD-41AA-AA3D-1BA77C9F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908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A1F"/>
                </a:solidFill>
              </a:defRPr>
            </a:pPr>
            <a:r>
              <a:rPr sz="1725" b="1">
                <a:solidFill>
                  <a:srgbClr val="171A1F"/>
                </a:solidFill>
              </a:rPr>
              <a:t>Dashboard</a:t>
            </a:r>
          </a:p>
        </p:txBody>
      </p:sp>
      <p:sp>
        <p:nvSpPr>
          <p:cNvPr id="31" name="flow-sub-4">
            <a:extLst xmlns:a="http://schemas.openxmlformats.org/drawingml/2006/main">
              <a:ext uri="{FF2B5EF4-FFF2-40B4-BE49-F238E27FC236}">
                <a16:creationId xmlns:a16="http://schemas.microsoft.com/office/drawing/2014/main" id="{22829845-2E2C-4C6E-8C36-4049D3A1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622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monitoring operator</a:t>
            </a:r>
          </a:p>
        </p:txBody>
      </p:sp>
      <p:sp>
        <p:nvSpPr>
          <p:cNvPr id="32" name="aud-0">
            <a:extLst xmlns:a="http://schemas.openxmlformats.org/drawingml/2006/main">
              <a:ext uri="{FF2B5EF4-FFF2-40B4-BE49-F238E27FC236}">
                <a16:creationId xmlns:a16="http://schemas.microsoft.com/office/drawing/2014/main" id="{5120723F-284F-4C20-8A77-A15EF3F0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C5"/>
                </a:solidFill>
              </a:defRPr>
            </a:pPr>
            <a:r>
              <a:rPr sz="1275" b="1">
                <a:solidFill>
                  <a:srgbClr val="2457C5"/>
                </a:solidFill>
              </a:rPr>
              <a:t>KILANG</a:t>
            </a:r>
          </a:p>
        </p:txBody>
      </p:sp>
      <p:sp>
        <p:nvSpPr>
          <p:cNvPr id="33" name="aud-body-0">
            <a:extLst xmlns:a="http://schemas.openxmlformats.org/drawingml/2006/main">
              <a:ext uri="{FF2B5EF4-FFF2-40B4-BE49-F238E27FC236}">
                <a16:creationId xmlns:a16="http://schemas.microsoft.com/office/drawing/2014/main" id="{FB9B7F3D-B8C4-4D4C-AB73-B75B7855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A1F"/>
                </a:solidFill>
              </a:defRPr>
            </a:pPr>
            <a:r>
              <a:rPr sz="1650" b="0">
                <a:solidFill>
                  <a:srgbClr val="171A1F"/>
                </a:solidFill>
              </a:rPr>
              <a:t>Arsitektur, ATEX, cakupan gas</a:t>
            </a:r>
          </a:p>
        </p:txBody>
      </p:sp>
      <p:sp>
        <p:nvSpPr>
          <p:cNvPr id="34" name="aud-1">
            <a:extLst xmlns:a="http://schemas.openxmlformats.org/drawingml/2006/main">
              <a:ext uri="{FF2B5EF4-FFF2-40B4-BE49-F238E27FC236}">
                <a16:creationId xmlns:a16="http://schemas.microsoft.com/office/drawing/2014/main" id="{1484C1D7-F060-40D8-8010-920417A8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C5"/>
                </a:solidFill>
              </a:defRPr>
            </a:pPr>
            <a:r>
              <a:rPr sz="1275" b="1">
                <a:solidFill>
                  <a:srgbClr val="2457C5"/>
                </a:solidFill>
              </a:rPr>
              <a:t>LAPANGAN</a:t>
            </a:r>
          </a:p>
        </p:txBody>
      </p:sp>
      <p:sp>
        <p:nvSpPr>
          <p:cNvPr id="35" name="aud-body-1">
            <a:extLst xmlns:a="http://schemas.openxmlformats.org/drawingml/2006/main">
              <a:ext uri="{FF2B5EF4-FFF2-40B4-BE49-F238E27FC236}">
                <a16:creationId xmlns:a16="http://schemas.microsoft.com/office/drawing/2014/main" id="{A9BE45CB-6519-45C5-9583-8882D20C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00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A1F"/>
                </a:solidFill>
              </a:defRPr>
            </a:pPr>
            <a:r>
              <a:rPr sz="1650" b="0">
                <a:solidFill>
                  <a:srgbClr val="171A1F"/>
                </a:solidFill>
              </a:rPr>
              <a:t>Perangkat, mounting, catu daya</a:t>
            </a:r>
          </a:p>
        </p:txBody>
      </p:sp>
      <p:sp>
        <p:nvSpPr>
          <p:cNvPr id="36" name="aud-2">
            <a:extLst xmlns:a="http://schemas.openxmlformats.org/drawingml/2006/main">
              <a:ext uri="{FF2B5EF4-FFF2-40B4-BE49-F238E27FC236}">
                <a16:creationId xmlns:a16="http://schemas.microsoft.com/office/drawing/2014/main" id="{1287E289-0C50-45A0-A408-01C24E7D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95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C5"/>
                </a:solidFill>
              </a:defRPr>
            </a:pPr>
            <a:r>
              <a:rPr sz="1275" b="1">
                <a:solidFill>
                  <a:srgbClr val="2457C5"/>
                </a:solidFill>
              </a:rPr>
              <a:t>IT PERTAMINA</a:t>
            </a:r>
          </a:p>
        </p:txBody>
      </p:sp>
      <p:sp>
        <p:nvSpPr>
          <p:cNvPr id="37" name="aud-body-2">
            <a:extLst xmlns:a="http://schemas.openxmlformats.org/drawingml/2006/main">
              <a:ext uri="{FF2B5EF4-FFF2-40B4-BE49-F238E27FC236}">
                <a16:creationId xmlns:a16="http://schemas.microsoft.com/office/drawing/2014/main" id="{1388C050-81AD-4502-AC5E-B71A8110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00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A1F"/>
                </a:solidFill>
              </a:defRPr>
            </a:pPr>
            <a:r>
              <a:rPr sz="1650" b="0">
                <a:solidFill>
                  <a:srgbClr val="171A1F"/>
                </a:solidFill>
              </a:rPr>
              <a:t>Server, MQTT, keamanan jaringan</a:t>
            </a:r>
          </a:p>
        </p:txBody>
      </p:sp>
    </p:spTree>
    <p:extLst>
      <p:ext uri="{BB962C8B-B14F-4D97-AF65-F5344CB8AC3E}">
        <p14:creationId xmlns:p14="http://schemas.microsoft.com/office/powerpoint/2010/main" val="1531208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line-3">
            <a:extLst xmlns:a="http://schemas.openxmlformats.org/drawingml/2006/main">
              <a:ext uri="{FF2B5EF4-FFF2-40B4-BE49-F238E27FC236}">
                <a16:creationId xmlns:a16="http://schemas.microsoft.com/office/drawing/2014/main" id="{57BD88AB-573A-4279-A6E8-8FCE7B9F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546C8793-BA07-4D7F-965C-63DEC2BE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02 · IMPLEMENTATION STATUS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D259F21C-DD07-4348-BBAF-77D6F428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System status: RU NOT COMMISSIONED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A55B57CE-CA22-4CAB-8D89-B3840BA8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ENGINEERING TEST: PASS. Hasil uji laboratorium bukan bukti operational acceptance di RU.</a:t>
            </a:r>
          </a:p>
        </p:txBody>
      </p:sp>
      <p:sp>
        <p:nvSpPr>
          <p:cNvPr id="5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D37567E4-488B-4051-AC94-8B32FD17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72495515-E796-47BC-BB72-DFEFF79D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3748F48E-848E-4853-A64D-C5A2367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3</a:t>
            </a:r>
          </a:p>
        </p:txBody>
      </p:sp>
      <p:sp>
        <p:nvSpPr>
          <p:cNvPr id="8" name="dot-88-232">
            <a:extLst xmlns:a="http://schemas.openxmlformats.org/drawingml/2006/main">
              <a:ext uri="{FF2B5EF4-FFF2-40B4-BE49-F238E27FC236}">
                <a16:creationId xmlns:a16="http://schemas.microsoft.com/office/drawing/2014/main" id="{E53330E2-A7B1-45AA-B73D-AD6D3070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ep-l-0-title">
            <a:extLst xmlns:a="http://schemas.openxmlformats.org/drawingml/2006/main">
              <a:ext uri="{FF2B5EF4-FFF2-40B4-BE49-F238E27FC236}">
                <a16:creationId xmlns:a16="http://schemas.microsoft.com/office/drawing/2014/main" id="{283759B0-793F-4CC0-895C-6C64FB80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Firmware integration test</a:t>
            </a:r>
          </a:p>
        </p:txBody>
      </p:sp>
      <p:sp>
        <p:nvSpPr>
          <p:cNvPr id="10" name="prep-l-0-detail">
            <a:extLst xmlns:a="http://schemas.openxmlformats.org/drawingml/2006/main">
              <a:ext uri="{FF2B5EF4-FFF2-40B4-BE49-F238E27FC236}">
                <a16:creationId xmlns:a16="http://schemas.microsoft.com/office/drawing/2014/main" id="{31CB6131-FCEB-4246-BC67-470181A1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PASS — 8-CH mesh dan automatic alarm push diuji di kampus</a:t>
            </a:r>
          </a:p>
        </p:txBody>
      </p:sp>
      <p:sp>
        <p:nvSpPr>
          <p:cNvPr id="11" name="dot-88-350">
            <a:extLst xmlns:a="http://schemas.openxmlformats.org/drawingml/2006/main">
              <a:ext uri="{FF2B5EF4-FFF2-40B4-BE49-F238E27FC236}">
                <a16:creationId xmlns:a16="http://schemas.microsoft.com/office/drawing/2014/main" id="{597318C2-0599-4E18-8627-B5541878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ep-l-1-title">
            <a:extLst xmlns:a="http://schemas.openxmlformats.org/drawingml/2006/main">
              <a:ext uri="{FF2B5EF4-FFF2-40B4-BE49-F238E27FC236}">
                <a16:creationId xmlns:a16="http://schemas.microsoft.com/office/drawing/2014/main" id="{E199B4ED-A2E3-4087-9D44-460F4131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GLD power interface</a:t>
            </a:r>
          </a:p>
        </p:txBody>
      </p:sp>
      <p:sp>
        <p:nvSpPr>
          <p:cNvPr id="13" name="prep-l-1-detail">
            <a:extLst xmlns:a="http://schemas.openxmlformats.org/drawingml/2006/main">
              <a:ext uri="{FF2B5EF4-FFF2-40B4-BE49-F238E27FC236}">
                <a16:creationId xmlns:a16="http://schemas.microsoft.com/office/drawing/2014/main" id="{B8761F4C-AB46-4136-9686-58BDDD5C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BASELINE — 24 VDC ≥2 A per unit; cable dan PSU oleh RU</a:t>
            </a:r>
          </a:p>
        </p:txBody>
      </p:sp>
      <p:sp>
        <p:nvSpPr>
          <p:cNvPr id="14" name="dot-88-468">
            <a:extLst xmlns:a="http://schemas.openxmlformats.org/drawingml/2006/main">
              <a:ext uri="{FF2B5EF4-FFF2-40B4-BE49-F238E27FC236}">
                <a16:creationId xmlns:a16="http://schemas.microsoft.com/office/drawing/2014/main" id="{BB6BF073-0792-4DF3-A97D-4D7E9453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ep-l-2-title">
            <a:extLst xmlns:a="http://schemas.openxmlformats.org/drawingml/2006/main">
              <a:ext uri="{FF2B5EF4-FFF2-40B4-BE49-F238E27FC236}">
                <a16:creationId xmlns:a16="http://schemas.microsoft.com/office/drawing/2014/main" id="{6295F487-7F70-4E87-A318-3DF7083E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Mechanical mounting design</a:t>
            </a:r>
          </a:p>
        </p:txBody>
      </p:sp>
      <p:sp>
        <p:nvSpPr>
          <p:cNvPr id="16" name="prep-l-2-detail">
            <a:extLst xmlns:a="http://schemas.openxmlformats.org/drawingml/2006/main">
              <a:ext uri="{FF2B5EF4-FFF2-40B4-BE49-F238E27FC236}">
                <a16:creationId xmlns:a16="http://schemas.microsoft.com/office/drawing/2014/main" id="{051EE939-1AF7-4E03-8752-479F446C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REFERENCE — L-bracket/U-clamp; no drilling; no welding</a:t>
            </a:r>
          </a:p>
        </p:txBody>
      </p:sp>
      <p:sp>
        <p:nvSpPr>
          <p:cNvPr id="17" name="dot-666-232">
            <a:extLst xmlns:a="http://schemas.openxmlformats.org/drawingml/2006/main">
              <a:ext uri="{FF2B5EF4-FFF2-40B4-BE49-F238E27FC236}">
                <a16:creationId xmlns:a16="http://schemas.microsoft.com/office/drawing/2014/main" id="{78B1A5CA-26AB-450B-A850-6B9E4CC4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ep-r-0-title">
            <a:extLst xmlns:a="http://schemas.openxmlformats.org/drawingml/2006/main">
              <a:ext uri="{FF2B5EF4-FFF2-40B4-BE49-F238E27FC236}">
                <a16:creationId xmlns:a16="http://schemas.microsoft.com/office/drawing/2014/main" id="{4A5FAE4C-F44D-4B2A-A4B0-F38C8980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AI execution status</a:t>
            </a:r>
          </a:p>
        </p:txBody>
      </p:sp>
      <p:sp>
        <p:nvSpPr>
          <p:cNvPr id="19" name="prep-r-0-detail">
            <a:extLst xmlns:a="http://schemas.openxmlformats.org/drawingml/2006/main">
              <a:ext uri="{FF2B5EF4-FFF2-40B4-BE49-F238E27FC236}">
                <a16:creationId xmlns:a16="http://schemas.microsoft.com/office/drawing/2014/main" id="{83093A3E-977D-42BD-B0A7-3029C4F9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REPORTED ON-DEVICE — 99,20%; firmware evidence belum tersedia</a:t>
            </a:r>
          </a:p>
        </p:txBody>
      </p:sp>
      <p:sp>
        <p:nvSpPr>
          <p:cNvPr id="20" name="dot-666-350">
            <a:extLst xmlns:a="http://schemas.openxmlformats.org/drawingml/2006/main">
              <a:ext uri="{FF2B5EF4-FFF2-40B4-BE49-F238E27FC236}">
                <a16:creationId xmlns:a16="http://schemas.microsoft.com/office/drawing/2014/main" id="{2FF8EA47-5AE8-49D8-9A31-02F13856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rep-r-1-title">
            <a:extLst xmlns:a="http://schemas.openxmlformats.org/drawingml/2006/main">
              <a:ext uri="{FF2B5EF4-FFF2-40B4-BE49-F238E27FC236}">
                <a16:creationId xmlns:a16="http://schemas.microsoft.com/office/drawing/2014/main" id="{A2C09506-34B8-40E2-9021-286A357C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RU deployment package</a:t>
            </a:r>
          </a:p>
        </p:txBody>
      </p:sp>
      <p:sp>
        <p:nvSpPr>
          <p:cNvPr id="22" name="prep-r-1-detail">
            <a:extLst xmlns:a="http://schemas.openxmlformats.org/drawingml/2006/main">
              <a:ext uri="{FF2B5EF4-FFF2-40B4-BE49-F238E27FC236}">
                <a16:creationId xmlns:a16="http://schemas.microsoft.com/office/drawing/2014/main" id="{FE639A60-983F-48AB-8C9E-9C6B2CF0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AVAILABLE — broker, backend, frontend, installer; not commissioned</a:t>
            </a:r>
          </a:p>
        </p:txBody>
      </p:sp>
      <p:sp>
        <p:nvSpPr>
          <p:cNvPr id="23" name="dot-666-468">
            <a:extLst xmlns:a="http://schemas.openxmlformats.org/drawingml/2006/main">
              <a:ext uri="{FF2B5EF4-FFF2-40B4-BE49-F238E27FC236}">
                <a16:creationId xmlns:a16="http://schemas.microsoft.com/office/drawing/2014/main" id="{0F508545-0098-44F9-9102-411097CD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ep-r-2-title">
            <a:extLst xmlns:a="http://schemas.openxmlformats.org/drawingml/2006/main">
              <a:ext uri="{FF2B5EF4-FFF2-40B4-BE49-F238E27FC236}">
                <a16:creationId xmlns:a16="http://schemas.microsoft.com/office/drawing/2014/main" id="{1A98E777-7716-4CB7-B5F2-E80166D2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Network integration package</a:t>
            </a:r>
          </a:p>
        </p:txBody>
      </p:sp>
      <p:sp>
        <p:nvSpPr>
          <p:cNvPr id="25" name="prep-r-2-detail">
            <a:extLst xmlns:a="http://schemas.openxmlformats.org/drawingml/2006/main">
              <a:ext uri="{FF2B5EF4-FFF2-40B4-BE49-F238E27FC236}">
                <a16:creationId xmlns:a16="http://schemas.microsoft.com/office/drawing/2014/main" id="{6F30BE46-7B6A-4E76-8039-6D39B351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AVAILABLE — MQTT contract, security baseline, go-live checklist</a:t>
            </a:r>
          </a:p>
        </p:txBody>
      </p:sp>
      <p:sp>
        <p:nvSpPr>
          <p:cNvPr id="26" name="prep-caveat-bg">
            <a:extLst xmlns:a="http://schemas.openxmlformats.org/drawingml/2006/main">
              <a:ext uri="{FF2B5EF4-FFF2-40B4-BE49-F238E27FC236}">
                <a16:creationId xmlns:a16="http://schemas.microsoft.com/office/drawing/2014/main" id="{25EBB70F-F23C-4BF6-B663-0A15373D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EB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ep-caveat-bar">
            <a:extLst xmlns:a="http://schemas.openxmlformats.org/drawingml/2006/main">
              <a:ext uri="{FF2B5EF4-FFF2-40B4-BE49-F238E27FC236}">
                <a16:creationId xmlns:a16="http://schemas.microsoft.com/office/drawing/2014/main" id="{047133A9-0D34-4BFE-BA05-8C6CEC7F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rep-caveat-label">
            <a:extLst xmlns:a="http://schemas.openxmlformats.org/drawingml/2006/main">
              <a:ext uri="{FF2B5EF4-FFF2-40B4-BE49-F238E27FC236}">
                <a16:creationId xmlns:a16="http://schemas.microsoft.com/office/drawing/2014/main" id="{6D782325-621C-4B11-9FC8-04F0C5CB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054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414"/>
                </a:solidFill>
              </a:defRPr>
            </a:pPr>
            <a:r>
              <a:rPr sz="1350" b="1">
                <a:solidFill>
                  <a:srgbClr val="9A6414"/>
                </a:solidFill>
              </a:rPr>
              <a:t>STATUS SISTEM</a:t>
            </a:r>
          </a:p>
        </p:txBody>
      </p:sp>
      <p:sp>
        <p:nvSpPr>
          <p:cNvPr id="29" name="prep-caveat-body">
            <a:extLst xmlns:a="http://schemas.openxmlformats.org/drawingml/2006/main">
              <a:ext uri="{FF2B5EF4-FFF2-40B4-BE49-F238E27FC236}">
                <a16:creationId xmlns:a16="http://schemas.microsoft.com/office/drawing/2014/main" id="{7FBC9C20-E597-4329-8407-4F2F82D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NOT COMMISSIONED — operasi RU memerlukan server, network path, site permit, dan sertifikasi hazardous-area.</a:t>
            </a:r>
          </a:p>
        </p:txBody>
      </p:sp>
    </p:spTree>
    <p:extLst>
      <p:ext uri="{BB962C8B-B14F-4D97-AF65-F5344CB8AC3E}">
        <p14:creationId xmlns:p14="http://schemas.microsoft.com/office/powerpoint/2010/main" val="279100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opline-4">
            <a:extLst xmlns:a="http://schemas.openxmlformats.org/drawingml/2006/main">
              <a:ext uri="{FF2B5EF4-FFF2-40B4-BE49-F238E27FC236}">
                <a16:creationId xmlns:a16="http://schemas.microsoft.com/office/drawing/2014/main" id="{1971C927-F8C3-4A45-B3A6-25E7BE22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8A43CAC7-94C3-4BC7-B665-F5698053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02 · INSTALLATION PREREQUISITES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8060294-96C2-46C9-B503-2F2AA3EC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Tiga prerequisite wajib ditutup sebelum instalasi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0B6E75F0-0356-484B-8CF0-2FC8722A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Setiap prerequisite memerlukan owner, technical approval, dan evidence of closure dari Kilang.</a:t>
            </a:r>
          </a:p>
        </p:txBody>
      </p:sp>
      <p:sp>
        <p:nvSpPr>
          <p:cNvPr id="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CFBA1DEE-EBF7-49D9-9AD3-EC514E61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4">
            <a:extLst xmlns:a="http://schemas.openxmlformats.org/drawingml/2006/main">
              <a:ext uri="{FF2B5EF4-FFF2-40B4-BE49-F238E27FC236}">
                <a16:creationId xmlns:a16="http://schemas.microsoft.com/office/drawing/2014/main" id="{96A932CD-48D3-4997-B673-C7261064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4">
            <a:extLst xmlns:a="http://schemas.openxmlformats.org/drawingml/2006/main">
              <a:ext uri="{FF2B5EF4-FFF2-40B4-BE49-F238E27FC236}">
                <a16:creationId xmlns:a16="http://schemas.microsoft.com/office/drawing/2014/main" id="{A98F4E39-525F-4410-B428-86401B3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4</a:t>
            </a:r>
          </a:p>
        </p:txBody>
      </p:sp>
      <p:sp>
        <p:nvSpPr>
          <p:cNvPr id="8" name="action-num-0">
            <a:extLst xmlns:a="http://schemas.openxmlformats.org/drawingml/2006/main">
              <a:ext uri="{FF2B5EF4-FFF2-40B4-BE49-F238E27FC236}">
                <a16:creationId xmlns:a16="http://schemas.microsoft.com/office/drawing/2014/main" id="{F84DC5C0-E11B-45A7-93CF-781CCE80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action-title-0">
            <a:extLst xmlns:a="http://schemas.openxmlformats.org/drawingml/2006/main">
              <a:ext uri="{FF2B5EF4-FFF2-40B4-BE49-F238E27FC236}">
                <a16:creationId xmlns:a16="http://schemas.microsoft.com/office/drawing/2014/main" id="{E708D345-F832-4CFE-8186-B7CFA0C2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574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A1F"/>
                </a:solidFill>
              </a:defRPr>
            </a:pPr>
            <a:r>
              <a:rPr sz="2100" b="1">
                <a:solidFill>
                  <a:srgbClr val="171A1F"/>
                </a:solidFill>
              </a:rPr>
              <a:t>Server &amp; jaringan</a:t>
            </a:r>
          </a:p>
        </p:txBody>
      </p:sp>
      <p:sp>
        <p:nvSpPr>
          <p:cNvPr id="10" name="action-rule-0">
            <a:extLst xmlns:a="http://schemas.openxmlformats.org/drawingml/2006/main">
              <a:ext uri="{FF2B5EF4-FFF2-40B4-BE49-F238E27FC236}">
                <a16:creationId xmlns:a16="http://schemas.microsoft.com/office/drawing/2014/main" id="{5CC850EB-47AD-4C42-B009-FB30531E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1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ot-72-318">
            <a:extLst xmlns:a="http://schemas.openxmlformats.org/drawingml/2006/main">
              <a:ext uri="{FF2B5EF4-FFF2-40B4-BE49-F238E27FC236}">
                <a16:creationId xmlns:a16="http://schemas.microsoft.com/office/drawing/2014/main" id="{E0A6024A-0475-47A6-8B0E-5A8062E8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ction-0-0-title">
            <a:extLst xmlns:a="http://schemas.openxmlformats.org/drawingml/2006/main">
              <a:ext uri="{FF2B5EF4-FFF2-40B4-BE49-F238E27FC236}">
                <a16:creationId xmlns:a16="http://schemas.microsoft.com/office/drawing/2014/main" id="{6D66B3A5-1CB0-4B8E-9FCC-A20FD52F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Sediakan server/VM RU</a:t>
            </a:r>
          </a:p>
        </p:txBody>
      </p:sp>
      <p:sp>
        <p:nvSpPr>
          <p:cNvPr id="13" name="dot-72-384">
            <a:extLst xmlns:a="http://schemas.openxmlformats.org/drawingml/2006/main">
              <a:ext uri="{FF2B5EF4-FFF2-40B4-BE49-F238E27FC236}">
                <a16:creationId xmlns:a16="http://schemas.microsoft.com/office/drawing/2014/main" id="{E869BFCC-4442-4868-9CB0-C7A3A095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ction-0-1-title">
            <a:extLst xmlns:a="http://schemas.openxmlformats.org/drawingml/2006/main">
              <a:ext uri="{FF2B5EF4-FFF2-40B4-BE49-F238E27FC236}">
                <a16:creationId xmlns:a16="http://schemas.microsoft.com/office/drawing/2014/main" id="{2212C826-0A16-481F-A263-66B90A65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Registrasi MAC Gateway</a:t>
            </a:r>
          </a:p>
        </p:txBody>
      </p:sp>
      <p:sp>
        <p:nvSpPr>
          <p:cNvPr id="15" name="dot-72-450">
            <a:extLst xmlns:a="http://schemas.openxmlformats.org/drawingml/2006/main">
              <a:ext uri="{FF2B5EF4-FFF2-40B4-BE49-F238E27FC236}">
                <a16:creationId xmlns:a16="http://schemas.microsoft.com/office/drawing/2014/main" id="{CC37B136-032D-4736-8AD7-B13A2C03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ction-0-2-title">
            <a:extLst xmlns:a="http://schemas.openxmlformats.org/drawingml/2006/main">
              <a:ext uri="{FF2B5EF4-FFF2-40B4-BE49-F238E27FC236}">
                <a16:creationId xmlns:a16="http://schemas.microsoft.com/office/drawing/2014/main" id="{C5EDF55E-D116-4496-82C2-A76626C4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Satukan subnet GW + server</a:t>
            </a:r>
          </a:p>
        </p:txBody>
      </p:sp>
      <p:sp>
        <p:nvSpPr>
          <p:cNvPr id="17" name="dot-72-516">
            <a:extLst xmlns:a="http://schemas.openxmlformats.org/drawingml/2006/main">
              <a:ext uri="{FF2B5EF4-FFF2-40B4-BE49-F238E27FC236}">
                <a16:creationId xmlns:a16="http://schemas.microsoft.com/office/drawing/2014/main" id="{827E2363-7058-47AA-AFDF-0DBD0F04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ction-0-3-title">
            <a:extLst xmlns:a="http://schemas.openxmlformats.org/drawingml/2006/main">
              <a:ext uri="{FF2B5EF4-FFF2-40B4-BE49-F238E27FC236}">
                <a16:creationId xmlns:a16="http://schemas.microsoft.com/office/drawing/2014/main" id="{79C800E5-3D7D-4A41-8B33-E78DAFEA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Tetapkan VLAN/firewall/802.1X</a:t>
            </a:r>
          </a:p>
        </p:txBody>
      </p:sp>
      <p:sp>
        <p:nvSpPr>
          <p:cNvPr id="19" name="action-num-1">
            <a:extLst xmlns:a="http://schemas.openxmlformats.org/drawingml/2006/main">
              <a:ext uri="{FF2B5EF4-FFF2-40B4-BE49-F238E27FC236}">
                <a16:creationId xmlns:a16="http://schemas.microsoft.com/office/drawing/2014/main" id="{D7637994-7778-4D36-BEC0-11BF766D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action-title-1">
            <a:extLst xmlns:a="http://schemas.openxmlformats.org/drawingml/2006/main">
              <a:ext uri="{FF2B5EF4-FFF2-40B4-BE49-F238E27FC236}">
                <a16:creationId xmlns:a16="http://schemas.microsoft.com/office/drawing/2014/main" id="{06CA5497-C409-46E3-B42E-ED32F6A3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574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A1F"/>
                </a:solidFill>
              </a:defRPr>
            </a:pPr>
            <a:r>
              <a:rPr sz="2100" b="1">
                <a:solidFill>
                  <a:srgbClr val="171A1F"/>
                </a:solidFill>
              </a:rPr>
              <a:t>Instalasi &amp; daya</a:t>
            </a:r>
          </a:p>
        </p:txBody>
      </p:sp>
      <p:sp>
        <p:nvSpPr>
          <p:cNvPr id="21" name="action-rule-1">
            <a:extLst xmlns:a="http://schemas.openxmlformats.org/drawingml/2006/main">
              <a:ext uri="{FF2B5EF4-FFF2-40B4-BE49-F238E27FC236}">
                <a16:creationId xmlns:a16="http://schemas.microsoft.com/office/drawing/2014/main" id="{9EA4B0E9-40C0-4058-BCAD-A5706246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21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ot-454-318">
            <a:extLst xmlns:a="http://schemas.openxmlformats.org/drawingml/2006/main">
              <a:ext uri="{FF2B5EF4-FFF2-40B4-BE49-F238E27FC236}">
                <a16:creationId xmlns:a16="http://schemas.microsoft.com/office/drawing/2014/main" id="{A420F064-9038-44EA-8144-5140840B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ction-1-0-title">
            <a:extLst xmlns:a="http://schemas.openxmlformats.org/drawingml/2006/main">
              <a:ext uri="{FF2B5EF4-FFF2-40B4-BE49-F238E27FC236}">
                <a16:creationId xmlns:a16="http://schemas.microsoft.com/office/drawing/2014/main" id="{B8F72D3A-493C-4F7C-94A5-C3A7C696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Sediakan kabel + PSU 24VDC</a:t>
            </a:r>
          </a:p>
        </p:txBody>
      </p:sp>
      <p:sp>
        <p:nvSpPr>
          <p:cNvPr id="24" name="dot-454-384">
            <a:extLst xmlns:a="http://schemas.openxmlformats.org/drawingml/2006/main">
              <a:ext uri="{FF2B5EF4-FFF2-40B4-BE49-F238E27FC236}">
                <a16:creationId xmlns:a16="http://schemas.microsoft.com/office/drawing/2014/main" id="{FC1471A4-62F7-4E2B-BCC5-8ABE7E01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ction-1-1-title">
            <a:extLst xmlns:a="http://schemas.openxmlformats.org/drawingml/2006/main">
              <a:ext uri="{FF2B5EF4-FFF2-40B4-BE49-F238E27FC236}">
                <a16:creationId xmlns:a16="http://schemas.microsoft.com/office/drawing/2014/main" id="{E45263CC-C93D-483E-BD76-067588BC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Konfirmasi struktur mounting</a:t>
            </a:r>
          </a:p>
        </p:txBody>
      </p:sp>
      <p:sp>
        <p:nvSpPr>
          <p:cNvPr id="26" name="dot-454-450">
            <a:extLst xmlns:a="http://schemas.openxmlformats.org/drawingml/2006/main">
              <a:ext uri="{FF2B5EF4-FFF2-40B4-BE49-F238E27FC236}">
                <a16:creationId xmlns:a16="http://schemas.microsoft.com/office/drawing/2014/main" id="{21D70FD9-14C4-4C1E-AF97-E6823A90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86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action-1-2-title">
            <a:extLst xmlns:a="http://schemas.openxmlformats.org/drawingml/2006/main">
              <a:ext uri="{FF2B5EF4-FFF2-40B4-BE49-F238E27FC236}">
                <a16:creationId xmlns:a16="http://schemas.microsoft.com/office/drawing/2014/main" id="{A0F4A9FF-FEAC-470B-BC38-ADDD2921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10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Setujui bracket dan fastener</a:t>
            </a:r>
          </a:p>
        </p:txBody>
      </p:sp>
      <p:sp>
        <p:nvSpPr>
          <p:cNvPr id="28" name="dot-454-516">
            <a:extLst xmlns:a="http://schemas.openxmlformats.org/drawingml/2006/main">
              <a:ext uri="{FF2B5EF4-FFF2-40B4-BE49-F238E27FC236}">
                <a16:creationId xmlns:a16="http://schemas.microsoft.com/office/drawing/2014/main" id="{C7071478-87ED-45EB-9601-2E6CB8B3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ction-1-3-title">
            <a:extLst xmlns:a="http://schemas.openxmlformats.org/drawingml/2006/main">
              <a:ext uri="{FF2B5EF4-FFF2-40B4-BE49-F238E27FC236}">
                <a16:creationId xmlns:a16="http://schemas.microsoft.com/office/drawing/2014/main" id="{0C7C803D-8E9B-4C76-9C7C-9B2BEED7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387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Verifikasi solar + baterai CH</a:t>
            </a:r>
          </a:p>
        </p:txBody>
      </p:sp>
      <p:sp>
        <p:nvSpPr>
          <p:cNvPr id="30" name="action-num-2">
            <a:extLst xmlns:a="http://schemas.openxmlformats.org/drawingml/2006/main">
              <a:ext uri="{FF2B5EF4-FFF2-40B4-BE49-F238E27FC236}">
                <a16:creationId xmlns:a16="http://schemas.microsoft.com/office/drawing/2014/main" id="{25FD0B4E-1A31-4243-961C-114DD422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action-title-2">
            <a:extLst xmlns:a="http://schemas.openxmlformats.org/drawingml/2006/main">
              <a:ext uri="{FF2B5EF4-FFF2-40B4-BE49-F238E27FC236}">
                <a16:creationId xmlns:a16="http://schemas.microsoft.com/office/drawing/2014/main" id="{D461567E-AF6E-41FA-9D9B-2EDBEABD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574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A1F"/>
                </a:solidFill>
              </a:defRPr>
            </a:pPr>
            <a:r>
              <a:rPr sz="2100" b="1">
                <a:solidFill>
                  <a:srgbClr val="171A1F"/>
                </a:solidFill>
              </a:rPr>
              <a:t>Izin &amp; sertifikasi</a:t>
            </a:r>
          </a:p>
        </p:txBody>
      </p:sp>
      <p:sp>
        <p:nvSpPr>
          <p:cNvPr id="32" name="action-rule-2">
            <a:extLst xmlns:a="http://schemas.openxmlformats.org/drawingml/2006/main">
              <a:ext uri="{FF2B5EF4-FFF2-40B4-BE49-F238E27FC236}">
                <a16:creationId xmlns:a16="http://schemas.microsoft.com/office/drawing/2014/main" id="{E8627DAF-D01B-418E-8415-5FBC975A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21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ot-836-318">
            <a:extLst xmlns:a="http://schemas.openxmlformats.org/drawingml/2006/main">
              <a:ext uri="{FF2B5EF4-FFF2-40B4-BE49-F238E27FC236}">
                <a16:creationId xmlns:a16="http://schemas.microsoft.com/office/drawing/2014/main" id="{229274EA-6B81-4040-9079-FB9BFB06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28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ction-2-0-title">
            <a:extLst xmlns:a="http://schemas.openxmlformats.org/drawingml/2006/main">
              <a:ext uri="{FF2B5EF4-FFF2-40B4-BE49-F238E27FC236}">
                <a16:creationId xmlns:a16="http://schemas.microsoft.com/office/drawing/2014/main" id="{9EC2A4B3-9175-47E1-98D5-B0B17EA7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Sahkan TRA/JSA</a:t>
            </a:r>
          </a:p>
        </p:txBody>
      </p:sp>
      <p:sp>
        <p:nvSpPr>
          <p:cNvPr id="35" name="dot-836-384">
            <a:extLst xmlns:a="http://schemas.openxmlformats.org/drawingml/2006/main">
              <a:ext uri="{FF2B5EF4-FFF2-40B4-BE49-F238E27FC236}">
                <a16:creationId xmlns:a16="http://schemas.microsoft.com/office/drawing/2014/main" id="{D458D3DD-9EAA-48A3-8BD1-328F5E85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ction-2-1-title">
            <a:extLst xmlns:a="http://schemas.openxmlformats.org/drawingml/2006/main">
              <a:ext uri="{FF2B5EF4-FFF2-40B4-BE49-F238E27FC236}">
                <a16:creationId xmlns:a16="http://schemas.microsoft.com/office/drawing/2014/main" id="{83A1A35F-66A4-4EBC-BE60-D63CCD21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Sertifikasi ATEX</a:t>
            </a:r>
          </a:p>
        </p:txBody>
      </p:sp>
      <p:sp>
        <p:nvSpPr>
          <p:cNvPr id="37" name="dot-836-450">
            <a:extLst xmlns:a="http://schemas.openxmlformats.org/drawingml/2006/main">
              <a:ext uri="{FF2B5EF4-FFF2-40B4-BE49-F238E27FC236}">
                <a16:creationId xmlns:a16="http://schemas.microsoft.com/office/drawing/2014/main" id="{735538CC-37E6-4711-B71A-4338FC03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86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ction-2-2-title">
            <a:extLst xmlns:a="http://schemas.openxmlformats.org/drawingml/2006/main">
              <a:ext uri="{FF2B5EF4-FFF2-40B4-BE49-F238E27FC236}">
                <a16:creationId xmlns:a16="http://schemas.microsoft.com/office/drawing/2014/main" id="{D73A3FC1-12B1-438C-A780-F37D9472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Izin ketinggian permanen</a:t>
            </a:r>
          </a:p>
        </p:txBody>
      </p:sp>
      <p:sp>
        <p:nvSpPr>
          <p:cNvPr id="39" name="dot-836-516">
            <a:extLst xmlns:a="http://schemas.openxmlformats.org/drawingml/2006/main">
              <a:ext uri="{FF2B5EF4-FFF2-40B4-BE49-F238E27FC236}">
                <a16:creationId xmlns:a16="http://schemas.microsoft.com/office/drawing/2014/main" id="{E3A4E329-2A83-494A-8DC7-1AC0844F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action-2-3-title">
            <a:extLst xmlns:a="http://schemas.openxmlformats.org/drawingml/2006/main">
              <a:ext uri="{FF2B5EF4-FFF2-40B4-BE49-F238E27FC236}">
                <a16:creationId xmlns:a16="http://schemas.microsoft.com/office/drawing/2014/main" id="{768BC86D-5516-46A3-BBEE-EFD977CA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387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Siapkan sampel gas uji</a:t>
            </a:r>
          </a:p>
        </p:txBody>
      </p:sp>
      <p:sp>
        <p:nvSpPr>
          <p:cNvPr id="41" name="gas-decision-bg">
            <a:extLst xmlns:a="http://schemas.openxmlformats.org/drawingml/2006/main">
              <a:ext uri="{FF2B5EF4-FFF2-40B4-BE49-F238E27FC236}">
                <a16:creationId xmlns:a16="http://schemas.microsoft.com/office/drawing/2014/main" id="{6201E477-B0EE-4CEE-91DC-11091E3A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gas-decision-bar">
            <a:extLst xmlns:a="http://schemas.openxmlformats.org/drawingml/2006/main">
              <a:ext uri="{FF2B5EF4-FFF2-40B4-BE49-F238E27FC236}">
                <a16:creationId xmlns:a16="http://schemas.microsoft.com/office/drawing/2014/main" id="{4542C4BB-160D-49E9-9E8D-14DD6554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gas-decision-label">
            <a:extLst xmlns:a="http://schemas.openxmlformats.org/drawingml/2006/main">
              <a:ext uri="{FF2B5EF4-FFF2-40B4-BE49-F238E27FC236}">
                <a16:creationId xmlns:a16="http://schemas.microsoft.com/office/drawing/2014/main" id="{932A1FD4-7881-44DF-ABBF-5869EDF9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388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F3E35"/>
                </a:solidFill>
              </a:defRPr>
            </a:pPr>
            <a:r>
              <a:rPr sz="1350" b="1">
                <a:solidFill>
                  <a:srgbClr val="AF3E35"/>
                </a:solidFill>
              </a:rPr>
              <a:t>GAS-DETECTION REQUIREMENT</a:t>
            </a:r>
          </a:p>
        </p:txBody>
      </p:sp>
      <p:sp>
        <p:nvSpPr>
          <p:cNvPr id="44" name="gas-decision-body">
            <a:extLst xmlns:a="http://schemas.openxmlformats.org/drawingml/2006/main">
              <a:ext uri="{FF2B5EF4-FFF2-40B4-BE49-F238E27FC236}">
                <a16:creationId xmlns:a16="http://schemas.microsoft.com/office/drawing/2014/main" id="{8A746A5E-64DE-4BB6-8A49-5497B160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790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Tetapkan mapping Benzena, CO, dan H₂S terhadap output class model sebelum test protocol dibekukan.</a:t>
            </a:r>
          </a:p>
        </p:txBody>
      </p:sp>
    </p:spTree>
    <p:extLst>
      <p:ext uri="{BB962C8B-B14F-4D97-AF65-F5344CB8AC3E}">
        <p14:creationId xmlns:p14="http://schemas.microsoft.com/office/powerpoint/2010/main" val="157436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line-5">
            <a:extLst xmlns:a="http://schemas.openxmlformats.org/drawingml/2006/main">
              <a:ext uri="{FF2B5EF4-FFF2-40B4-BE49-F238E27FC236}">
                <a16:creationId xmlns:a16="http://schemas.microsoft.com/office/drawing/2014/main" id="{556209F2-5B67-4CA4-A1EA-711A6EE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5DFFBA27-21F0-4B35-8BB7-FD56E8C5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03 · KILANG-SUPPLIED INFRASTRUCTURE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2F729F10-4EA5-4FA9-A0CE-163A47C1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Kilang: server, network, dan operational controls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1AD21D09-BAE6-41C8-8A25-E0E4F2CC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Baseline sizing berlaku untuk pilot; final sizing mengikuti device count, data rate, retention, dan availability target.</a:t>
            </a:r>
          </a:p>
        </p:txBody>
      </p:sp>
      <p:sp>
        <p:nvSpPr>
          <p:cNvPr id="5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D124DB21-9FF6-474A-A2DC-C4617885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5">
            <a:extLst xmlns:a="http://schemas.openxmlformats.org/drawingml/2006/main">
              <a:ext uri="{FF2B5EF4-FFF2-40B4-BE49-F238E27FC236}">
                <a16:creationId xmlns:a16="http://schemas.microsoft.com/office/drawing/2014/main" id="{482B2A18-9826-4484-A8BB-0A623384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607DE892-550F-4B58-A9ED-57F22288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5</a:t>
            </a:r>
          </a:p>
        </p:txBody>
      </p:sp>
      <p:sp>
        <p:nvSpPr>
          <p:cNvPr id="8" name="srv-head">
            <a:extLst xmlns:a="http://schemas.openxmlformats.org/drawingml/2006/main">
              <a:ext uri="{FF2B5EF4-FFF2-40B4-BE49-F238E27FC236}">
                <a16:creationId xmlns:a16="http://schemas.microsoft.com/office/drawing/2014/main" id="{014B5919-7512-4192-B044-76E27AEA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7C5"/>
                </a:solidFill>
              </a:defRPr>
            </a:pPr>
            <a:r>
              <a:rPr sz="2100" b="1">
                <a:solidFill>
                  <a:srgbClr val="2457C5"/>
                </a:solidFill>
              </a:rPr>
              <a:t>SERVER / VM RU</a:t>
            </a:r>
          </a:p>
        </p:txBody>
      </p:sp>
      <p:sp>
        <p:nvSpPr>
          <p:cNvPr id="9" name="net-head">
            <a:extLst xmlns:a="http://schemas.openxmlformats.org/drawingml/2006/main">
              <a:ext uri="{FF2B5EF4-FFF2-40B4-BE49-F238E27FC236}">
                <a16:creationId xmlns:a16="http://schemas.microsoft.com/office/drawing/2014/main" id="{43F6C053-1B8F-4F5D-A092-802C275D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7C5"/>
                </a:solidFill>
              </a:defRPr>
            </a:pPr>
            <a:r>
              <a:rPr sz="2100" b="1">
                <a:solidFill>
                  <a:srgbClr val="2457C5"/>
                </a:solidFill>
              </a:rPr>
              <a:t>JARINGAN &amp; OPERASI</a:t>
            </a:r>
          </a:p>
        </p:txBody>
      </p:sp>
      <p:sp>
        <p:nvSpPr>
          <p:cNvPr id="10" name="dot-88-282">
            <a:extLst xmlns:a="http://schemas.openxmlformats.org/drawingml/2006/main">
              <a:ext uri="{FF2B5EF4-FFF2-40B4-BE49-F238E27FC236}">
                <a16:creationId xmlns:a16="http://schemas.microsoft.com/office/drawing/2014/main" id="{AAE2A363-CFE3-440C-9595-D3829756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rv-0-title">
            <a:extLst xmlns:a="http://schemas.openxmlformats.org/drawingml/2006/main">
              <a:ext uri="{FF2B5EF4-FFF2-40B4-BE49-F238E27FC236}">
                <a16:creationId xmlns:a16="http://schemas.microsoft.com/office/drawing/2014/main" id="{8B7EF15A-64D6-4662-BC91-09C0EF1D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Minimum</a:t>
            </a:r>
          </a:p>
        </p:txBody>
      </p:sp>
      <p:sp>
        <p:nvSpPr>
          <p:cNvPr id="12" name="srv-0-detail">
            <a:extLst xmlns:a="http://schemas.openxmlformats.org/drawingml/2006/main">
              <a:ext uri="{FF2B5EF4-FFF2-40B4-BE49-F238E27FC236}">
                <a16:creationId xmlns:a16="http://schemas.microsoft.com/office/drawing/2014/main" id="{A1C3F26D-EF1F-452E-B666-11EE3B05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4 vCPU • 8 GB RAM • 100 GB SSD</a:t>
            </a:r>
          </a:p>
        </p:txBody>
      </p:sp>
      <p:sp>
        <p:nvSpPr>
          <p:cNvPr id="13" name="dot-88-356">
            <a:extLst xmlns:a="http://schemas.openxmlformats.org/drawingml/2006/main">
              <a:ext uri="{FF2B5EF4-FFF2-40B4-BE49-F238E27FC236}">
                <a16:creationId xmlns:a16="http://schemas.microsoft.com/office/drawing/2014/main" id="{5DA7F700-F899-4221-9461-9E9E958A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rv-1-title">
            <a:extLst xmlns:a="http://schemas.openxmlformats.org/drawingml/2006/main">
              <a:ext uri="{FF2B5EF4-FFF2-40B4-BE49-F238E27FC236}">
                <a16:creationId xmlns:a16="http://schemas.microsoft.com/office/drawing/2014/main" id="{9A7B2793-BF38-4310-A2E4-15E36FC7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Rekomendasi</a:t>
            </a:r>
          </a:p>
        </p:txBody>
      </p:sp>
      <p:sp>
        <p:nvSpPr>
          <p:cNvPr id="15" name="srv-1-detail">
            <a:extLst xmlns:a="http://schemas.openxmlformats.org/drawingml/2006/main">
              <a:ext uri="{FF2B5EF4-FFF2-40B4-BE49-F238E27FC236}">
                <a16:creationId xmlns:a16="http://schemas.microsoft.com/office/drawing/2014/main" id="{1E49562C-BC1F-40E6-8954-38C239F3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8 vCPU • 16 GB RAM • 250 GB SSD</a:t>
            </a:r>
          </a:p>
        </p:txBody>
      </p:sp>
      <p:sp>
        <p:nvSpPr>
          <p:cNvPr id="16" name="dot-88-430">
            <a:extLst xmlns:a="http://schemas.openxmlformats.org/drawingml/2006/main">
              <a:ext uri="{FF2B5EF4-FFF2-40B4-BE49-F238E27FC236}">
                <a16:creationId xmlns:a16="http://schemas.microsoft.com/office/drawing/2014/main" id="{A18A8E03-27BE-4EBB-A742-1296F029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rv-2-title">
            <a:extLst xmlns:a="http://schemas.openxmlformats.org/drawingml/2006/main">
              <a:ext uri="{FF2B5EF4-FFF2-40B4-BE49-F238E27FC236}">
                <a16:creationId xmlns:a16="http://schemas.microsoft.com/office/drawing/2014/main" id="{BB10ADAD-A132-4BAF-87FB-F73DC33D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Platform</a:t>
            </a:r>
          </a:p>
        </p:txBody>
      </p:sp>
      <p:sp>
        <p:nvSpPr>
          <p:cNvPr id="18" name="srv-2-detail">
            <a:extLst xmlns:a="http://schemas.openxmlformats.org/drawingml/2006/main">
              <a:ext uri="{FF2B5EF4-FFF2-40B4-BE49-F238E27FC236}">
                <a16:creationId xmlns:a16="http://schemas.microsoft.com/office/drawing/2014/main" id="{F2F24400-1995-4677-8870-4FFCD081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Ubuntu Server 22.04 LTS • Docker Compose</a:t>
            </a:r>
          </a:p>
        </p:txBody>
      </p:sp>
      <p:sp>
        <p:nvSpPr>
          <p:cNvPr id="19" name="dot-88-504">
            <a:extLst xmlns:a="http://schemas.openxmlformats.org/drawingml/2006/main">
              <a:ext uri="{FF2B5EF4-FFF2-40B4-BE49-F238E27FC236}">
                <a16:creationId xmlns:a16="http://schemas.microsoft.com/office/drawing/2014/main" id="{283834AD-4DF3-478C-A281-A8E8ED75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rv-3-title">
            <a:extLst xmlns:a="http://schemas.openxmlformats.org/drawingml/2006/main">
              <a:ext uri="{FF2B5EF4-FFF2-40B4-BE49-F238E27FC236}">
                <a16:creationId xmlns:a16="http://schemas.microsoft.com/office/drawing/2014/main" id="{A425ECF9-2A45-4361-BEE5-A1FFA021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Antarmuka</a:t>
            </a:r>
          </a:p>
        </p:txBody>
      </p:sp>
      <p:sp>
        <p:nvSpPr>
          <p:cNvPr id="21" name="srv-3-detail">
            <a:extLst xmlns:a="http://schemas.openxmlformats.org/drawingml/2006/main">
              <a:ext uri="{FF2B5EF4-FFF2-40B4-BE49-F238E27FC236}">
                <a16:creationId xmlns:a16="http://schemas.microsoft.com/office/drawing/2014/main" id="{21BF72DF-C3A1-402E-9C05-8398BF71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1 GbE • IP stabil / reservasi DHCP • DNS/NTP</a:t>
            </a:r>
          </a:p>
        </p:txBody>
      </p:sp>
      <p:sp>
        <p:nvSpPr>
          <p:cNvPr id="22" name="dot-682-282">
            <a:extLst xmlns:a="http://schemas.openxmlformats.org/drawingml/2006/main">
              <a:ext uri="{FF2B5EF4-FFF2-40B4-BE49-F238E27FC236}">
                <a16:creationId xmlns:a16="http://schemas.microsoft.com/office/drawing/2014/main" id="{D35532C1-C7AE-4668-8F17-4E3AB0B9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kilang-net-0-title">
            <a:extLst xmlns:a="http://schemas.openxmlformats.org/drawingml/2006/main">
              <a:ext uri="{FF2B5EF4-FFF2-40B4-BE49-F238E27FC236}">
                <a16:creationId xmlns:a16="http://schemas.microsoft.com/office/drawing/2014/main" id="{BC775D13-0015-4BDC-9F9C-D0D6E801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098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Akses</a:t>
            </a:r>
          </a:p>
        </p:txBody>
      </p:sp>
      <p:sp>
        <p:nvSpPr>
          <p:cNvPr id="24" name="kilang-net-0-detail">
            <a:extLst xmlns:a="http://schemas.openxmlformats.org/drawingml/2006/main">
              <a:ext uri="{FF2B5EF4-FFF2-40B4-BE49-F238E27FC236}">
                <a16:creationId xmlns:a16="http://schemas.microsoft.com/office/drawing/2014/main" id="{5322DE2D-7111-4208-BAEE-84F42EE7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956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Gateway dan server dapat saling menjangkau pada VLAN yang disetujui</a:t>
            </a:r>
          </a:p>
        </p:txBody>
      </p:sp>
      <p:sp>
        <p:nvSpPr>
          <p:cNvPr id="25" name="dot-682-356">
            <a:extLst xmlns:a="http://schemas.openxmlformats.org/drawingml/2006/main">
              <a:ext uri="{FF2B5EF4-FFF2-40B4-BE49-F238E27FC236}">
                <a16:creationId xmlns:a16="http://schemas.microsoft.com/office/drawing/2014/main" id="{5671811E-518F-4F70-A94E-11AED1AF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kilang-net-1-title">
            <a:extLst xmlns:a="http://schemas.openxmlformats.org/drawingml/2006/main">
              <a:ext uri="{FF2B5EF4-FFF2-40B4-BE49-F238E27FC236}">
                <a16:creationId xmlns:a16="http://schemas.microsoft.com/office/drawing/2014/main" id="{E7672C3C-3407-4A06-AC28-BDE29353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147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Keamanan</a:t>
            </a:r>
          </a:p>
        </p:txBody>
      </p:sp>
      <p:sp>
        <p:nvSpPr>
          <p:cNvPr id="27" name="kilang-net-1-detail">
            <a:extLst xmlns:a="http://schemas.openxmlformats.org/drawingml/2006/main">
              <a:ext uri="{FF2B5EF4-FFF2-40B4-BE49-F238E27FC236}">
                <a16:creationId xmlns:a16="http://schemas.microsoft.com/office/drawing/2014/main" id="{883B625B-AF6E-4B47-8EE7-029523CE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004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Registrasi MAC, firewall, ACL MQTT, TLS/VPN, akun servis</a:t>
            </a:r>
          </a:p>
        </p:txBody>
      </p:sp>
      <p:sp>
        <p:nvSpPr>
          <p:cNvPr id="28" name="dot-682-430">
            <a:extLst xmlns:a="http://schemas.openxmlformats.org/drawingml/2006/main">
              <a:ext uri="{FF2B5EF4-FFF2-40B4-BE49-F238E27FC236}">
                <a16:creationId xmlns:a16="http://schemas.microsoft.com/office/drawing/2014/main" id="{B29DD64F-A61B-4F82-B680-104A7A39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kilang-net-2-title">
            <a:extLst xmlns:a="http://schemas.openxmlformats.org/drawingml/2006/main">
              <a:ext uri="{FF2B5EF4-FFF2-40B4-BE49-F238E27FC236}">
                <a16:creationId xmlns:a16="http://schemas.microsoft.com/office/drawing/2014/main" id="{770262A6-7A63-443C-9FA2-327E7438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Operasi</a:t>
            </a:r>
          </a:p>
        </p:txBody>
      </p:sp>
      <p:sp>
        <p:nvSpPr>
          <p:cNvPr id="30" name="kilang-net-2-detail">
            <a:extLst xmlns:a="http://schemas.openxmlformats.org/drawingml/2006/main">
              <a:ext uri="{FF2B5EF4-FFF2-40B4-BE49-F238E27FC236}">
                <a16:creationId xmlns:a16="http://schemas.microsoft.com/office/drawing/2014/main" id="{B2148237-71CC-42D0-BF3C-092011E2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053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PIC IT/OT, backup, retensi, monitoring, patching dan incident path</a:t>
            </a:r>
          </a:p>
        </p:txBody>
      </p:sp>
      <p:sp>
        <p:nvSpPr>
          <p:cNvPr id="31" name="dot-682-504">
            <a:extLst xmlns:a="http://schemas.openxmlformats.org/drawingml/2006/main">
              <a:ext uri="{FF2B5EF4-FFF2-40B4-BE49-F238E27FC236}">
                <a16:creationId xmlns:a16="http://schemas.microsoft.com/office/drawing/2014/main" id="{4778D07F-A445-422F-ADA7-8724F40F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00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kilang-net-3-title">
            <a:extLst xmlns:a="http://schemas.openxmlformats.org/drawingml/2006/main">
              <a:ext uri="{FF2B5EF4-FFF2-40B4-BE49-F238E27FC236}">
                <a16:creationId xmlns:a16="http://schemas.microsoft.com/office/drawing/2014/main" id="{E799DE52-6C4E-49ED-8095-9426787C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244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Keputusan</a:t>
            </a:r>
          </a:p>
        </p:txBody>
      </p:sp>
      <p:sp>
        <p:nvSpPr>
          <p:cNvPr id="33" name="kilang-net-3-detail">
            <a:extLst xmlns:a="http://schemas.openxmlformats.org/drawingml/2006/main">
              <a:ext uri="{FF2B5EF4-FFF2-40B4-BE49-F238E27FC236}">
                <a16:creationId xmlns:a16="http://schemas.microsoft.com/office/drawing/2014/main" id="{65B21BE7-69C3-4013-8D0A-3F0B67EB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01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Host/port MQTT produksi; endpoint operator; izin koneksi VPS/HQ</a:t>
            </a:r>
          </a:p>
        </p:txBody>
      </p:sp>
      <p:sp>
        <p:nvSpPr>
          <p:cNvPr id="34" name="kilang-boundary-bg">
            <a:extLst xmlns:a="http://schemas.openxmlformats.org/drawingml/2006/main">
              <a:ext uri="{FF2B5EF4-FFF2-40B4-BE49-F238E27FC236}">
                <a16:creationId xmlns:a16="http://schemas.microsoft.com/office/drawing/2014/main" id="{74C6BF70-E46C-43EF-96B8-E8FB8B9A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EB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kilang-boundary-bar">
            <a:extLst xmlns:a="http://schemas.openxmlformats.org/drawingml/2006/main">
              <a:ext uri="{FF2B5EF4-FFF2-40B4-BE49-F238E27FC236}">
                <a16:creationId xmlns:a16="http://schemas.microsoft.com/office/drawing/2014/main" id="{77E72DCD-9B95-4F54-993A-27FDFD6B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kilang-boundary-label">
            <a:extLst xmlns:a="http://schemas.openxmlformats.org/drawingml/2006/main">
              <a:ext uri="{FF2B5EF4-FFF2-40B4-BE49-F238E27FC236}">
                <a16:creationId xmlns:a16="http://schemas.microsoft.com/office/drawing/2014/main" id="{56847ED3-02C7-4AB5-B811-7C4D7DD5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054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414"/>
                </a:solidFill>
              </a:defRPr>
            </a:pPr>
            <a:r>
              <a:rPr sz="1350" b="1">
                <a:solidFill>
                  <a:srgbClr val="9A6414"/>
                </a:solidFill>
              </a:rPr>
              <a:t>PRODUCTION PARAMETERS — OPEN</a:t>
            </a:r>
          </a:p>
        </p:txBody>
      </p:sp>
      <p:sp>
        <p:nvSpPr>
          <p:cNvPr id="37" name="kilang-boundary-body">
            <a:extLst xmlns:a="http://schemas.openxmlformats.org/drawingml/2006/main">
              <a:ext uri="{FF2B5EF4-FFF2-40B4-BE49-F238E27FC236}">
                <a16:creationId xmlns:a16="http://schemas.microsoft.com/office/drawing/2014/main" id="{9587F30A-1110-46D0-AD34-CBC2818E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Port 1884 hanya untuk bench. IT/OT Kilang wajib menetapkan port, certificate chain, DNS/IP, backup, dan retention produksi.</a:t>
            </a:r>
          </a:p>
        </p:txBody>
      </p:sp>
    </p:spTree>
    <p:extLst>
      <p:ext uri="{BB962C8B-B14F-4D97-AF65-F5344CB8AC3E}">
        <p14:creationId xmlns:p14="http://schemas.microsoft.com/office/powerpoint/2010/main" val="2080602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opline-6">
            <a:extLst xmlns:a="http://schemas.openxmlformats.org/drawingml/2006/main">
              <a:ext uri="{FF2B5EF4-FFF2-40B4-BE49-F238E27FC236}">
                <a16:creationId xmlns:a16="http://schemas.microsoft.com/office/drawing/2014/main" id="{BA2FE9D6-9503-4278-ABD8-32F85D83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0AB1831E-FC58-42B5-AB6C-DA90A345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04 · DATA FLOW DIAGRAM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B422D22B-9F08-458D-8634-89B2F0E2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DFD-01 — akuisisi sensor hingga dashboard RU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C836CE7D-B6BA-4A07-9DE8-E02B91A7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Processing dan visualization beroperasi lokal di RU; koneksi VPS tidak menjadi dependency operasi lokal.</a:t>
            </a:r>
          </a:p>
        </p:txBody>
      </p:sp>
      <p:sp>
        <p:nvSpPr>
          <p:cNvPr id="5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41EB42F0-0300-4EAC-91D7-ACBFD61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6">
            <a:extLst xmlns:a="http://schemas.openxmlformats.org/drawingml/2006/main">
              <a:ext uri="{FF2B5EF4-FFF2-40B4-BE49-F238E27FC236}">
                <a16:creationId xmlns:a16="http://schemas.microsoft.com/office/drawing/2014/main" id="{FA1C0409-2A77-4280-9965-91139B09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6">
            <a:extLst xmlns:a="http://schemas.openxmlformats.org/drawingml/2006/main">
              <a:ext uri="{FF2B5EF4-FFF2-40B4-BE49-F238E27FC236}">
                <a16:creationId xmlns:a16="http://schemas.microsoft.com/office/drawing/2014/main" id="{CE180F62-C96A-4955-A4F0-A1A36DA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6</a:t>
            </a:r>
          </a:p>
        </p:txBody>
      </p:sp>
      <p:sp>
        <p:nvSpPr>
          <p:cNvPr id="8" name="dfd-0">
            <a:extLst xmlns:a="http://schemas.openxmlformats.org/drawingml/2006/main">
              <a:ext uri="{FF2B5EF4-FFF2-40B4-BE49-F238E27FC236}">
                <a16:creationId xmlns:a16="http://schemas.microsoft.com/office/drawing/2014/main" id="{F7250AFD-FFAB-49BB-921A-17E99E00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47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9" name="dfd-n-0">
            <a:extLst xmlns:a="http://schemas.openxmlformats.org/drawingml/2006/main">
              <a:ext uri="{FF2B5EF4-FFF2-40B4-BE49-F238E27FC236}">
                <a16:creationId xmlns:a16="http://schemas.microsoft.com/office/drawing/2014/main" id="{60429D75-DFA2-44E7-80C1-DAE62E6C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01</a:t>
            </a:r>
          </a:p>
        </p:txBody>
      </p:sp>
      <p:sp>
        <p:nvSpPr>
          <p:cNvPr id="10" name="dfd-t-0">
            <a:extLst xmlns:a="http://schemas.openxmlformats.org/drawingml/2006/main">
              <a:ext uri="{FF2B5EF4-FFF2-40B4-BE49-F238E27FC236}">
                <a16:creationId xmlns:a16="http://schemas.microsoft.com/office/drawing/2014/main" id="{0FF467F8-7E23-47A3-8CFB-BC2E8987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8× MQ</a:t>
            </a:r>
          </a:p>
        </p:txBody>
      </p:sp>
      <p:sp>
        <p:nvSpPr>
          <p:cNvPr id="11" name="dfd-s-0">
            <a:extLst xmlns:a="http://schemas.openxmlformats.org/drawingml/2006/main">
              <a:ext uri="{FF2B5EF4-FFF2-40B4-BE49-F238E27FC236}">
                <a16:creationId xmlns:a16="http://schemas.microsoft.com/office/drawing/2014/main" id="{98F602C3-303A-46F2-ACAB-D9CFF278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5272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sampling 1 s</a:t>
            </a:r>
          </a:p>
        </p:txBody>
      </p:sp>
      <p:sp>
        <p:nvSpPr>
          <p:cNvPr id="12" name="dfd-a-0">
            <a:extLst xmlns:a="http://schemas.openxmlformats.org/drawingml/2006/main">
              <a:ext uri="{FF2B5EF4-FFF2-40B4-BE49-F238E27FC236}">
                <a16:creationId xmlns:a16="http://schemas.microsoft.com/office/drawing/2014/main" id="{52992BDE-368E-4263-8D9A-EA6A6EA8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717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A929D"/>
                </a:solidFill>
              </a:defRPr>
            </a:pPr>
            <a:r>
              <a:rPr sz="2175" b="0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13" name="dfd-1">
            <a:extLst xmlns:a="http://schemas.openxmlformats.org/drawingml/2006/main">
              <a:ext uri="{FF2B5EF4-FFF2-40B4-BE49-F238E27FC236}">
                <a16:creationId xmlns:a16="http://schemas.microsoft.com/office/drawing/2014/main" id="{37891452-FD45-4983-8966-B8641B5C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38350"/>
            <a:ext cx="2247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4" name="dfd-n-1">
            <a:extLst xmlns:a="http://schemas.openxmlformats.org/drawingml/2006/main">
              <a:ext uri="{FF2B5EF4-FFF2-40B4-BE49-F238E27FC236}">
                <a16:creationId xmlns:a16="http://schemas.microsoft.com/office/drawing/2014/main" id="{D456CDAB-5BE1-4B92-8F33-820943D0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52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02</a:t>
            </a:r>
          </a:p>
        </p:txBody>
      </p:sp>
      <p:sp>
        <p:nvSpPr>
          <p:cNvPr id="15" name="dfd-t-1">
            <a:extLst xmlns:a="http://schemas.openxmlformats.org/drawingml/2006/main">
              <a:ext uri="{FF2B5EF4-FFF2-40B4-BE49-F238E27FC236}">
                <a16:creationId xmlns:a16="http://schemas.microsoft.com/office/drawing/2014/main" id="{DFBECE4A-5E5A-408F-870B-B4EE25AC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98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ESP32-S3</a:t>
            </a:r>
          </a:p>
        </p:txBody>
      </p:sp>
      <p:sp>
        <p:nvSpPr>
          <p:cNvPr id="16" name="dfd-s-1">
            <a:extLst xmlns:a="http://schemas.openxmlformats.org/drawingml/2006/main">
              <a:ext uri="{FF2B5EF4-FFF2-40B4-BE49-F238E27FC236}">
                <a16:creationId xmlns:a16="http://schemas.microsoft.com/office/drawing/2014/main" id="{CE900B18-AF71-4A61-A89B-4B01EF1D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5272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AI + confidence</a:t>
            </a:r>
          </a:p>
        </p:txBody>
      </p:sp>
      <p:sp>
        <p:nvSpPr>
          <p:cNvPr id="17" name="dfd-a-1">
            <a:extLst xmlns:a="http://schemas.openxmlformats.org/drawingml/2006/main">
              <a:ext uri="{FF2B5EF4-FFF2-40B4-BE49-F238E27FC236}">
                <a16:creationId xmlns:a16="http://schemas.microsoft.com/office/drawing/2014/main" id="{80E6227A-25CD-4771-B848-DAC36BD1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717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A929D"/>
                </a:solidFill>
              </a:defRPr>
            </a:pPr>
            <a:r>
              <a:rPr sz="2175" b="0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18" name="dfd-2">
            <a:extLst xmlns:a="http://schemas.openxmlformats.org/drawingml/2006/main">
              <a:ext uri="{FF2B5EF4-FFF2-40B4-BE49-F238E27FC236}">
                <a16:creationId xmlns:a16="http://schemas.microsoft.com/office/drawing/2014/main" id="{170DC300-4A9E-4A5E-8119-69F656A7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38350"/>
            <a:ext cx="2247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9" name="dfd-n-2">
            <a:extLst xmlns:a="http://schemas.openxmlformats.org/drawingml/2006/main">
              <a:ext uri="{FF2B5EF4-FFF2-40B4-BE49-F238E27FC236}">
                <a16:creationId xmlns:a16="http://schemas.microsoft.com/office/drawing/2014/main" id="{9B7B0715-3DBD-4B0B-A623-899257FE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03</a:t>
            </a:r>
          </a:p>
        </p:txBody>
      </p:sp>
      <p:sp>
        <p:nvSpPr>
          <p:cNvPr id="20" name="dfd-t-2">
            <a:extLst xmlns:a="http://schemas.openxmlformats.org/drawingml/2006/main">
              <a:ext uri="{FF2B5EF4-FFF2-40B4-BE49-F238E27FC236}">
                <a16:creationId xmlns:a16="http://schemas.microsoft.com/office/drawing/2014/main" id="{8687A5FB-349F-4A52-8D9D-562BAAA6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98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LoRa STAR</a:t>
            </a:r>
          </a:p>
        </p:txBody>
      </p:sp>
      <p:sp>
        <p:nvSpPr>
          <p:cNvPr id="21" name="dfd-s-2">
            <a:extLst xmlns:a="http://schemas.openxmlformats.org/drawingml/2006/main">
              <a:ext uri="{FF2B5EF4-FFF2-40B4-BE49-F238E27FC236}">
                <a16:creationId xmlns:a16="http://schemas.microsoft.com/office/drawing/2014/main" id="{93069A33-198A-4A35-B017-387A3E5D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5272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AES-GCM frame</a:t>
            </a:r>
          </a:p>
        </p:txBody>
      </p:sp>
      <p:sp>
        <p:nvSpPr>
          <p:cNvPr id="22" name="dfd-a-2">
            <a:extLst xmlns:a="http://schemas.openxmlformats.org/drawingml/2006/main">
              <a:ext uri="{FF2B5EF4-FFF2-40B4-BE49-F238E27FC236}">
                <a16:creationId xmlns:a16="http://schemas.microsoft.com/office/drawing/2014/main" id="{BE3138A6-06F5-4753-9682-1DE90AD1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717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A929D"/>
                </a:solidFill>
              </a:defRPr>
            </a:pPr>
            <a:r>
              <a:rPr sz="2175" b="0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23" name="dfd-3">
            <a:extLst xmlns:a="http://schemas.openxmlformats.org/drawingml/2006/main">
              <a:ext uri="{FF2B5EF4-FFF2-40B4-BE49-F238E27FC236}">
                <a16:creationId xmlns:a16="http://schemas.microsoft.com/office/drawing/2014/main" id="{75FF7074-2A8B-4974-B5E3-CA3EB2C9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247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4" name="dfd-n-3">
            <a:extLst xmlns:a="http://schemas.openxmlformats.org/drawingml/2006/main">
              <a:ext uri="{FF2B5EF4-FFF2-40B4-BE49-F238E27FC236}">
                <a16:creationId xmlns:a16="http://schemas.microsoft.com/office/drawing/2014/main" id="{48929CE7-3D6C-4737-801A-3901CA6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52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04</a:t>
            </a:r>
          </a:p>
        </p:txBody>
      </p:sp>
      <p:sp>
        <p:nvSpPr>
          <p:cNvPr id="25" name="dfd-t-3">
            <a:extLst xmlns:a="http://schemas.openxmlformats.org/drawingml/2006/main">
              <a:ext uri="{FF2B5EF4-FFF2-40B4-BE49-F238E27FC236}">
                <a16:creationId xmlns:a16="http://schemas.microsoft.com/office/drawing/2014/main" id="{9EB8506E-4BC9-4E35-9E02-F1B5B8C2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98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CH / MESH</a:t>
            </a:r>
          </a:p>
        </p:txBody>
      </p:sp>
      <p:sp>
        <p:nvSpPr>
          <p:cNvPr id="26" name="dfd-s-3">
            <a:extLst xmlns:a="http://schemas.openxmlformats.org/drawingml/2006/main">
              <a:ext uri="{FF2B5EF4-FFF2-40B4-BE49-F238E27FC236}">
                <a16:creationId xmlns:a16="http://schemas.microsoft.com/office/drawing/2014/main" id="{1439D5F7-8856-4022-B97C-10105B98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5272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cache + relay</a:t>
            </a:r>
          </a:p>
        </p:txBody>
      </p:sp>
      <p:sp>
        <p:nvSpPr>
          <p:cNvPr id="27" name="dfd-4">
            <a:extLst xmlns:a="http://schemas.openxmlformats.org/drawingml/2006/main">
              <a:ext uri="{FF2B5EF4-FFF2-40B4-BE49-F238E27FC236}">
                <a16:creationId xmlns:a16="http://schemas.microsoft.com/office/drawing/2014/main" id="{81F68A34-6A65-4471-8013-D258F983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2247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8" name="dfd-n-4">
            <a:extLst xmlns:a="http://schemas.openxmlformats.org/drawingml/2006/main">
              <a:ext uri="{FF2B5EF4-FFF2-40B4-BE49-F238E27FC236}">
                <a16:creationId xmlns:a16="http://schemas.microsoft.com/office/drawing/2014/main" id="{78A04D1E-9981-4A8A-875D-21DD07AF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05</a:t>
            </a:r>
          </a:p>
        </p:txBody>
      </p:sp>
      <p:sp>
        <p:nvSpPr>
          <p:cNvPr id="29" name="dfd-t-4">
            <a:extLst xmlns:a="http://schemas.openxmlformats.org/drawingml/2006/main">
              <a:ext uri="{FF2B5EF4-FFF2-40B4-BE49-F238E27FC236}">
                <a16:creationId xmlns:a16="http://schemas.microsoft.com/office/drawing/2014/main" id="{969B1FDF-3C6C-4232-98F2-976B9520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719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Gateway</a:t>
            </a:r>
          </a:p>
        </p:txBody>
      </p:sp>
      <p:sp>
        <p:nvSpPr>
          <p:cNvPr id="30" name="dfd-s-4">
            <a:extLst xmlns:a="http://schemas.openxmlformats.org/drawingml/2006/main">
              <a:ext uri="{FF2B5EF4-FFF2-40B4-BE49-F238E27FC236}">
                <a16:creationId xmlns:a16="http://schemas.microsoft.com/office/drawing/2014/main" id="{44421AD3-D0D9-4D5A-8477-839B8CFD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1482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LoRa → MQTT</a:t>
            </a:r>
          </a:p>
        </p:txBody>
      </p:sp>
      <p:sp>
        <p:nvSpPr>
          <p:cNvPr id="31" name="dfd-a-4">
            <a:extLst xmlns:a="http://schemas.openxmlformats.org/drawingml/2006/main">
              <a:ext uri="{FF2B5EF4-FFF2-40B4-BE49-F238E27FC236}">
                <a16:creationId xmlns:a16="http://schemas.microsoft.com/office/drawing/2014/main" id="{CE547E95-B616-42D8-88A7-E7D97374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33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A929D"/>
                </a:solidFill>
              </a:defRPr>
            </a:pPr>
            <a:r>
              <a:rPr sz="2175" b="0">
                <a:solidFill>
                  <a:srgbClr val="8A929D"/>
                </a:solidFill>
              </a:rPr>
              <a:t>←</a:t>
            </a:r>
          </a:p>
        </p:txBody>
      </p:sp>
      <p:sp>
        <p:nvSpPr>
          <p:cNvPr id="32" name="dfd-5">
            <a:extLst xmlns:a="http://schemas.openxmlformats.org/drawingml/2006/main">
              <a:ext uri="{FF2B5EF4-FFF2-40B4-BE49-F238E27FC236}">
                <a16:creationId xmlns:a16="http://schemas.microsoft.com/office/drawing/2014/main" id="{6EF88D6D-990A-459E-8A42-99FD0619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00450"/>
            <a:ext cx="2247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9525">
            <a:solidFill>
              <a:srgbClr val="17356F"/>
            </a:solidFill>
            <a:prstDash val="solid"/>
          </a:ln>
        </p:spPr>
      </p:sp>
      <p:sp>
        <p:nvSpPr>
          <p:cNvPr id="33" name="dfd-n-5">
            <a:extLst xmlns:a="http://schemas.openxmlformats.org/drawingml/2006/main">
              <a:ext uri="{FF2B5EF4-FFF2-40B4-BE49-F238E27FC236}">
                <a16:creationId xmlns:a16="http://schemas.microsoft.com/office/drawing/2014/main" id="{AF20F89A-E554-49FA-962B-976EC073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D5E6"/>
                </a:solidFill>
              </a:defRPr>
            </a:pPr>
            <a:r>
              <a:rPr sz="1125" b="1">
                <a:solidFill>
                  <a:srgbClr val="CBD5E6"/>
                </a:solidFill>
              </a:rPr>
              <a:t>06</a:t>
            </a:r>
          </a:p>
        </p:txBody>
      </p:sp>
      <p:sp>
        <p:nvSpPr>
          <p:cNvPr id="34" name="dfd-t-5">
            <a:extLst xmlns:a="http://schemas.openxmlformats.org/drawingml/2006/main">
              <a:ext uri="{FF2B5EF4-FFF2-40B4-BE49-F238E27FC236}">
                <a16:creationId xmlns:a16="http://schemas.microsoft.com/office/drawing/2014/main" id="{A37C08FB-3B6F-4059-BE6A-A3E62710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Node-RED</a:t>
            </a:r>
          </a:p>
        </p:txBody>
      </p:sp>
      <p:sp>
        <p:nvSpPr>
          <p:cNvPr id="35" name="dfd-s-5">
            <a:extLst xmlns:a="http://schemas.openxmlformats.org/drawingml/2006/main">
              <a:ext uri="{FF2B5EF4-FFF2-40B4-BE49-F238E27FC236}">
                <a16:creationId xmlns:a16="http://schemas.microsoft.com/office/drawing/2014/main" id="{908390AD-DDE1-47C5-8E0B-5AB3056E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1482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6"/>
                </a:solidFill>
              </a:defRPr>
            </a:pPr>
            <a:r>
              <a:rPr sz="1200" b="0">
                <a:solidFill>
                  <a:srgbClr val="CBD5E6"/>
                </a:solidFill>
              </a:rPr>
              <a:t>decode + validate</a:t>
            </a:r>
          </a:p>
        </p:txBody>
      </p:sp>
      <p:sp>
        <p:nvSpPr>
          <p:cNvPr id="36" name="dfd-a-5">
            <a:extLst xmlns:a="http://schemas.openxmlformats.org/drawingml/2006/main">
              <a:ext uri="{FF2B5EF4-FFF2-40B4-BE49-F238E27FC236}">
                <a16:creationId xmlns:a16="http://schemas.microsoft.com/office/drawing/2014/main" id="{18806C45-E124-490B-88A2-C76F6E58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33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A929D"/>
                </a:solidFill>
              </a:defRPr>
            </a:pPr>
            <a:r>
              <a:rPr sz="2175" b="0">
                <a:solidFill>
                  <a:srgbClr val="8A929D"/>
                </a:solidFill>
              </a:rPr>
              <a:t>←</a:t>
            </a:r>
          </a:p>
        </p:txBody>
      </p:sp>
      <p:sp>
        <p:nvSpPr>
          <p:cNvPr id="37" name="dfd-6">
            <a:extLst xmlns:a="http://schemas.openxmlformats.org/drawingml/2006/main">
              <a:ext uri="{FF2B5EF4-FFF2-40B4-BE49-F238E27FC236}">
                <a16:creationId xmlns:a16="http://schemas.microsoft.com/office/drawing/2014/main" id="{EA4F7ED6-2089-412B-8C8E-C6B6463C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00450"/>
            <a:ext cx="2247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9525">
            <a:solidFill>
              <a:srgbClr val="17356F"/>
            </a:solidFill>
            <a:prstDash val="solid"/>
          </a:ln>
        </p:spPr>
      </p:sp>
      <p:sp>
        <p:nvSpPr>
          <p:cNvPr id="38" name="dfd-n-6">
            <a:extLst xmlns:a="http://schemas.openxmlformats.org/drawingml/2006/main">
              <a:ext uri="{FF2B5EF4-FFF2-40B4-BE49-F238E27FC236}">
                <a16:creationId xmlns:a16="http://schemas.microsoft.com/office/drawing/2014/main" id="{31E3063C-E692-460A-A70E-A9FF3A8E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D5E6"/>
                </a:solidFill>
              </a:defRPr>
            </a:pPr>
            <a:r>
              <a:rPr sz="1125" b="1">
                <a:solidFill>
                  <a:srgbClr val="CBD5E6"/>
                </a:solidFill>
              </a:rPr>
              <a:t>07</a:t>
            </a:r>
          </a:p>
        </p:txBody>
      </p:sp>
      <p:sp>
        <p:nvSpPr>
          <p:cNvPr id="39" name="dfd-t-6">
            <a:extLst xmlns:a="http://schemas.openxmlformats.org/drawingml/2006/main">
              <a:ext uri="{FF2B5EF4-FFF2-40B4-BE49-F238E27FC236}">
                <a16:creationId xmlns:a16="http://schemas.microsoft.com/office/drawing/2014/main" id="{BD97C1EC-F160-4E32-95F3-D944A8B0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719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RU Backend</a:t>
            </a:r>
          </a:p>
        </p:txBody>
      </p:sp>
      <p:sp>
        <p:nvSpPr>
          <p:cNvPr id="40" name="dfd-s-6">
            <a:extLst xmlns:a="http://schemas.openxmlformats.org/drawingml/2006/main">
              <a:ext uri="{FF2B5EF4-FFF2-40B4-BE49-F238E27FC236}">
                <a16:creationId xmlns:a16="http://schemas.microsoft.com/office/drawing/2014/main" id="{2FA07F7F-794F-4814-AE75-2475522D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1482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6"/>
                </a:solidFill>
              </a:defRPr>
            </a:pPr>
            <a:r>
              <a:rPr sz="1200" b="0">
                <a:solidFill>
                  <a:srgbClr val="CBD5E6"/>
                </a:solidFill>
              </a:rPr>
              <a:t>GraphQL + DB</a:t>
            </a:r>
          </a:p>
        </p:txBody>
      </p:sp>
      <p:sp>
        <p:nvSpPr>
          <p:cNvPr id="41" name="dfd-a-6">
            <a:extLst xmlns:a="http://schemas.openxmlformats.org/drawingml/2006/main">
              <a:ext uri="{FF2B5EF4-FFF2-40B4-BE49-F238E27FC236}">
                <a16:creationId xmlns:a16="http://schemas.microsoft.com/office/drawing/2014/main" id="{4C0548C4-2BE7-40D0-8993-3957A857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33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A929D"/>
                </a:solidFill>
              </a:defRPr>
            </a:pPr>
            <a:r>
              <a:rPr sz="2175" b="0">
                <a:solidFill>
                  <a:srgbClr val="8A929D"/>
                </a:solidFill>
              </a:rPr>
              <a:t>←</a:t>
            </a:r>
          </a:p>
        </p:txBody>
      </p:sp>
      <p:sp>
        <p:nvSpPr>
          <p:cNvPr id="42" name="dfd-7">
            <a:extLst xmlns:a="http://schemas.openxmlformats.org/drawingml/2006/main">
              <a:ext uri="{FF2B5EF4-FFF2-40B4-BE49-F238E27FC236}">
                <a16:creationId xmlns:a16="http://schemas.microsoft.com/office/drawing/2014/main" id="{79C3212B-8DA1-4570-AC40-6767D6CB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247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43" name="dfd-n-7">
            <a:extLst xmlns:a="http://schemas.openxmlformats.org/drawingml/2006/main">
              <a:ext uri="{FF2B5EF4-FFF2-40B4-BE49-F238E27FC236}">
                <a16:creationId xmlns:a16="http://schemas.microsoft.com/office/drawing/2014/main" id="{AEBDFB9F-4C94-40ED-958F-F8863EC3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08</a:t>
            </a:r>
          </a:p>
        </p:txBody>
      </p:sp>
      <p:sp>
        <p:nvSpPr>
          <p:cNvPr id="44" name="dfd-t-7">
            <a:extLst xmlns:a="http://schemas.openxmlformats.org/drawingml/2006/main">
              <a:ext uri="{FF2B5EF4-FFF2-40B4-BE49-F238E27FC236}">
                <a16:creationId xmlns:a16="http://schemas.microsoft.com/office/drawing/2014/main" id="{B0B04A6E-342B-44B4-A176-168FFD97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19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RU Frontend</a:t>
            </a:r>
          </a:p>
        </p:txBody>
      </p:sp>
      <p:sp>
        <p:nvSpPr>
          <p:cNvPr id="45" name="dfd-s-7">
            <a:extLst xmlns:a="http://schemas.openxmlformats.org/drawingml/2006/main">
              <a:ext uri="{FF2B5EF4-FFF2-40B4-BE49-F238E27FC236}">
                <a16:creationId xmlns:a16="http://schemas.microsoft.com/office/drawing/2014/main" id="{F2678B7E-FAAC-4B44-902B-3067D1B9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operator browser</a:t>
            </a:r>
          </a:p>
        </p:txBody>
      </p:sp>
      <p:sp>
        <p:nvSpPr>
          <p:cNvPr id="46" name="dfd-down">
            <a:extLst xmlns:a="http://schemas.openxmlformats.org/drawingml/2006/main">
              <a:ext uri="{FF2B5EF4-FFF2-40B4-BE49-F238E27FC236}">
                <a16:creationId xmlns:a16="http://schemas.microsoft.com/office/drawing/2014/main" id="{AE8C0CC9-43B9-4F06-99D7-2A8FC47D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2420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8A929D"/>
                </a:solidFill>
              </a:defRPr>
            </a:pPr>
            <a:r>
              <a:rPr sz="2250" b="0">
                <a:solidFill>
                  <a:srgbClr val="8A929D"/>
                </a:solidFill>
              </a:rPr>
              <a:t>↓</a:t>
            </a:r>
          </a:p>
        </p:txBody>
      </p:sp>
      <p:sp>
        <p:nvSpPr>
          <p:cNvPr id="47" name="dfd-gap-bg">
            <a:extLst xmlns:a="http://schemas.openxmlformats.org/drawingml/2006/main">
              <a:ext uri="{FF2B5EF4-FFF2-40B4-BE49-F238E27FC236}">
                <a16:creationId xmlns:a16="http://schemas.microsoft.com/office/drawing/2014/main" id="{8FD4952E-70A4-4E6E-A5E4-AC962F70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fd-gap-bar">
            <a:extLst xmlns:a="http://schemas.openxmlformats.org/drawingml/2006/main">
              <a:ext uri="{FF2B5EF4-FFF2-40B4-BE49-F238E27FC236}">
                <a16:creationId xmlns:a16="http://schemas.microsoft.com/office/drawing/2014/main" id="{DAAE181B-42D2-4A1D-B5BF-2B352AB1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fd-gap-label">
            <a:extLst xmlns:a="http://schemas.openxmlformats.org/drawingml/2006/main">
              <a:ext uri="{FF2B5EF4-FFF2-40B4-BE49-F238E27FC236}">
                <a16:creationId xmlns:a16="http://schemas.microsoft.com/office/drawing/2014/main" id="{A86B6039-57E5-4159-BDD6-9A32BEEB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35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F3E35"/>
                </a:solidFill>
              </a:defRPr>
            </a:pPr>
            <a:r>
              <a:rPr sz="1350" b="1">
                <a:solidFill>
                  <a:srgbClr val="AF3E35"/>
                </a:solidFill>
              </a:rPr>
              <a:t>NOT IMPLEMENTED</a:t>
            </a:r>
          </a:p>
        </p:txBody>
      </p:sp>
      <p:sp>
        <p:nvSpPr>
          <p:cNvPr id="50" name="dfd-gap-body">
            <a:extLst xmlns:a="http://schemas.openxmlformats.org/drawingml/2006/main">
              <a:ext uri="{FF2B5EF4-FFF2-40B4-BE49-F238E27FC236}">
                <a16:creationId xmlns:a16="http://schemas.microsoft.com/office/drawing/2014/main" id="{4FB3FC8A-0A84-40E8-B5FE-431887E9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Adapter MQTT → apps/backend tidak terdapat pada repo aplikasi. Implementasi dan integration test bersifat mandatory.</a:t>
            </a:r>
          </a:p>
        </p:txBody>
      </p:sp>
    </p:spTree>
    <p:extLst>
      <p:ext uri="{BB962C8B-B14F-4D97-AF65-F5344CB8AC3E}">
        <p14:creationId xmlns:p14="http://schemas.microsoft.com/office/powerpoint/2010/main" val="1725676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line-7">
            <a:extLst xmlns:a="http://schemas.openxmlformats.org/drawingml/2006/main">
              <a:ext uri="{FF2B5EF4-FFF2-40B4-BE49-F238E27FC236}">
                <a16:creationId xmlns:a16="http://schemas.microsoft.com/office/drawing/2014/main" id="{60541889-C930-4EF0-8D25-C4DEFE28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CA5708E9-0604-48C0-8E59-8B5FE382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04 · INTERFACE SPECIFICATION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383DAA1E-82ED-4C9C-AA80-409C3690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Batas interface: MQTT/Node-RED → backend GraphQL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0C9A1F83-A766-4754-AC8F-42125D0C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PertaminaGLD menghasilkan normalized MQTT topics; aplikasi menerima data melalui ingestion adapter.</a:t>
            </a:r>
          </a:p>
        </p:txBody>
      </p:sp>
      <p:sp>
        <p:nvSpPr>
          <p:cNvPr id="5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DE883E3F-612B-4DF8-8479-2D05F30A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7">
            <a:extLst xmlns:a="http://schemas.openxmlformats.org/drawingml/2006/main">
              <a:ext uri="{FF2B5EF4-FFF2-40B4-BE49-F238E27FC236}">
                <a16:creationId xmlns:a16="http://schemas.microsoft.com/office/drawing/2014/main" id="{E12DD4DA-28EA-4688-B7A6-477C0DF3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7">
            <a:extLst xmlns:a="http://schemas.openxmlformats.org/drawingml/2006/main">
              <a:ext uri="{FF2B5EF4-FFF2-40B4-BE49-F238E27FC236}">
                <a16:creationId xmlns:a16="http://schemas.microsoft.com/office/drawing/2014/main" id="{7289B56C-5BC8-47DF-8599-810B167E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7</a:t>
            </a:r>
          </a:p>
        </p:txBody>
      </p:sp>
      <p:sp>
        <p:nvSpPr>
          <p:cNvPr id="8" name="bound-left">
            <a:extLst xmlns:a="http://schemas.openxmlformats.org/drawingml/2006/main">
              <a:ext uri="{FF2B5EF4-FFF2-40B4-BE49-F238E27FC236}">
                <a16:creationId xmlns:a16="http://schemas.microsoft.com/office/drawing/2014/main" id="{0BFDDBAA-86F4-4A67-8236-98355C63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9" name="bound-right">
            <a:extLst xmlns:a="http://schemas.openxmlformats.org/drawingml/2006/main">
              <a:ext uri="{FF2B5EF4-FFF2-40B4-BE49-F238E27FC236}">
                <a16:creationId xmlns:a16="http://schemas.microsoft.com/office/drawing/2014/main" id="{DBC50A09-F70D-4842-978A-17DDB98B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49530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0" name="bound-lh">
            <a:extLst xmlns:a="http://schemas.openxmlformats.org/drawingml/2006/main">
              <a:ext uri="{FF2B5EF4-FFF2-40B4-BE49-F238E27FC236}">
                <a16:creationId xmlns:a16="http://schemas.microsoft.com/office/drawing/2014/main" id="{56D582E4-7371-42BF-8554-286E8C1C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57C5"/>
                </a:solidFill>
              </a:defRPr>
            </a:pPr>
            <a:r>
              <a:rPr sz="2025" b="1">
                <a:solidFill>
                  <a:srgbClr val="2457C5"/>
                </a:solidFill>
              </a:rPr>
              <a:t>PertaminaGLD</a:t>
            </a:r>
          </a:p>
        </p:txBody>
      </p:sp>
      <p:sp>
        <p:nvSpPr>
          <p:cNvPr id="11" name="bound-rh">
            <a:extLst xmlns:a="http://schemas.openxmlformats.org/drawingml/2006/main">
              <a:ext uri="{FF2B5EF4-FFF2-40B4-BE49-F238E27FC236}">
                <a16:creationId xmlns:a16="http://schemas.microsoft.com/office/drawing/2014/main" id="{B0366C8C-574C-4164-A632-C59E0B26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383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56F"/>
                </a:solidFill>
              </a:defRPr>
            </a:pPr>
            <a:r>
              <a:rPr sz="2025" b="1">
                <a:solidFill>
                  <a:srgbClr val="17356F"/>
                </a:solidFill>
              </a:rPr>
              <a:t>gasleakdetectionV2-April</a:t>
            </a:r>
          </a:p>
        </p:txBody>
      </p:sp>
      <p:sp>
        <p:nvSpPr>
          <p:cNvPr id="12" name="dot-100-300">
            <a:extLst xmlns:a="http://schemas.openxmlformats.org/drawingml/2006/main">
              <a:ext uri="{FF2B5EF4-FFF2-40B4-BE49-F238E27FC236}">
                <a16:creationId xmlns:a16="http://schemas.microsoft.com/office/drawing/2014/main" id="{2F7D903B-5935-47FC-8FC2-82F1BD4F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und-l-0-title">
            <a:extLst xmlns:a="http://schemas.openxmlformats.org/drawingml/2006/main">
              <a:ext uri="{FF2B5EF4-FFF2-40B4-BE49-F238E27FC236}">
                <a16:creationId xmlns:a16="http://schemas.microsoft.com/office/drawing/2014/main" id="{795700B9-FE55-42E6-9B1C-4B629C97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Input</a:t>
            </a:r>
          </a:p>
        </p:txBody>
      </p:sp>
      <p:sp>
        <p:nvSpPr>
          <p:cNvPr id="14" name="bound-l-0-detail">
            <a:extLst xmlns:a="http://schemas.openxmlformats.org/drawingml/2006/main">
              <a:ext uri="{FF2B5EF4-FFF2-40B4-BE49-F238E27FC236}">
                <a16:creationId xmlns:a16="http://schemas.microsoft.com/office/drawing/2014/main" id="{67B1D963-DF71-449C-BBEA-463439FE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gld/gateway/uplink • raw • pertamina/gld/uplink</a:t>
            </a:r>
          </a:p>
        </p:txBody>
      </p:sp>
      <p:sp>
        <p:nvSpPr>
          <p:cNvPr id="15" name="dot-100-376">
            <a:extLst xmlns:a="http://schemas.openxmlformats.org/drawingml/2006/main">
              <a:ext uri="{FF2B5EF4-FFF2-40B4-BE49-F238E27FC236}">
                <a16:creationId xmlns:a16="http://schemas.microsoft.com/office/drawing/2014/main" id="{23ED868F-CBE8-4F6B-B9F2-24B74977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und-l-1-title">
            <a:extLst xmlns:a="http://schemas.openxmlformats.org/drawingml/2006/main">
              <a:ext uri="{FF2B5EF4-FFF2-40B4-BE49-F238E27FC236}">
                <a16:creationId xmlns:a16="http://schemas.microsoft.com/office/drawing/2014/main" id="{D65E3063-D101-4471-8437-8AA5C213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Proses</a:t>
            </a:r>
          </a:p>
        </p:txBody>
      </p:sp>
      <p:sp>
        <p:nvSpPr>
          <p:cNvPr id="17" name="bound-l-1-detail">
            <a:extLst xmlns:a="http://schemas.openxmlformats.org/drawingml/2006/main">
              <a:ext uri="{FF2B5EF4-FFF2-40B4-BE49-F238E27FC236}">
                <a16:creationId xmlns:a16="http://schemas.microsoft.com/office/drawing/2014/main" id="{950C742B-ABC2-4C14-8346-04CAEDC2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decrypt • integrity • replay • topology</a:t>
            </a:r>
          </a:p>
        </p:txBody>
      </p:sp>
      <p:sp>
        <p:nvSpPr>
          <p:cNvPr id="18" name="dot-100-452">
            <a:extLst xmlns:a="http://schemas.openxmlformats.org/drawingml/2006/main">
              <a:ext uri="{FF2B5EF4-FFF2-40B4-BE49-F238E27FC236}">
                <a16:creationId xmlns:a16="http://schemas.microsoft.com/office/drawing/2014/main" id="{767F917E-FBBC-4D8D-88C8-CAA041CD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und-l-2-title">
            <a:extLst xmlns:a="http://schemas.openxmlformats.org/drawingml/2006/main">
              <a:ext uri="{FF2B5EF4-FFF2-40B4-BE49-F238E27FC236}">
                <a16:creationId xmlns:a16="http://schemas.microsoft.com/office/drawing/2014/main" id="{E2BE733A-A435-42B5-9056-80C043DB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Output</a:t>
            </a:r>
          </a:p>
        </p:txBody>
      </p:sp>
      <p:sp>
        <p:nvSpPr>
          <p:cNvPr id="20" name="bound-l-2-detail">
            <a:extLst xmlns:a="http://schemas.openxmlformats.org/drawingml/2006/main">
              <a:ext uri="{FF2B5EF4-FFF2-40B4-BE49-F238E27FC236}">
                <a16:creationId xmlns:a16="http://schemas.microsoft.com/office/drawing/2014/main" id="{C7068CAC-36AC-4FF1-AAF6-4121B54F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decoded • alarm • status • events • integrity</a:t>
            </a:r>
          </a:p>
        </p:txBody>
      </p:sp>
      <p:sp>
        <p:nvSpPr>
          <p:cNvPr id="21" name="dot-716-300">
            <a:extLst xmlns:a="http://schemas.openxmlformats.org/drawingml/2006/main">
              <a:ext uri="{FF2B5EF4-FFF2-40B4-BE49-F238E27FC236}">
                <a16:creationId xmlns:a16="http://schemas.microsoft.com/office/drawing/2014/main" id="{05CD1F08-9F20-404A-85A8-75690369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und-r-0-title">
            <a:extLst xmlns:a="http://schemas.openxmlformats.org/drawingml/2006/main">
              <a:ext uri="{FF2B5EF4-FFF2-40B4-BE49-F238E27FC236}">
                <a16:creationId xmlns:a16="http://schemas.microsoft.com/office/drawing/2014/main" id="{073D5BD0-D457-4D47-83E2-50D209A2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Input wajib</a:t>
            </a:r>
          </a:p>
        </p:txBody>
      </p:sp>
      <p:sp>
        <p:nvSpPr>
          <p:cNvPr id="23" name="bound-r-0-detail">
            <a:extLst xmlns:a="http://schemas.openxmlformats.org/drawingml/2006/main">
              <a:ext uri="{FF2B5EF4-FFF2-40B4-BE49-F238E27FC236}">
                <a16:creationId xmlns:a16="http://schemas.microsoft.com/office/drawing/2014/main" id="{96EEE477-E7D6-4EBF-B97E-3F417445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67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adapter mengubah MQTT normalized → addReading/device</a:t>
            </a:r>
          </a:p>
        </p:txBody>
      </p:sp>
      <p:sp>
        <p:nvSpPr>
          <p:cNvPr id="24" name="dot-716-376">
            <a:extLst xmlns:a="http://schemas.openxmlformats.org/drawingml/2006/main">
              <a:ext uri="{FF2B5EF4-FFF2-40B4-BE49-F238E27FC236}">
                <a16:creationId xmlns:a16="http://schemas.microsoft.com/office/drawing/2014/main" id="{08F6A2AD-82E9-470D-9BEA-3DC59317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und-r-1-title">
            <a:extLst xmlns:a="http://schemas.openxmlformats.org/drawingml/2006/main">
              <a:ext uri="{FF2B5EF4-FFF2-40B4-BE49-F238E27FC236}">
                <a16:creationId xmlns:a16="http://schemas.microsoft.com/office/drawing/2014/main" id="{320647E7-7A7C-4C0B-9C36-C56BEA7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052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Layanan</a:t>
            </a:r>
          </a:p>
        </p:txBody>
      </p:sp>
      <p:sp>
        <p:nvSpPr>
          <p:cNvPr id="26" name="bound-r-1-detail">
            <a:extLst xmlns:a="http://schemas.openxmlformats.org/drawingml/2006/main">
              <a:ext uri="{FF2B5EF4-FFF2-40B4-BE49-F238E27FC236}">
                <a16:creationId xmlns:a16="http://schemas.microsoft.com/office/drawing/2014/main" id="{C725B886-21FD-43F6-832B-2C073CEE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NestJS GraphQL • Prisma • database RU</a:t>
            </a:r>
          </a:p>
        </p:txBody>
      </p:sp>
      <p:sp>
        <p:nvSpPr>
          <p:cNvPr id="27" name="dot-716-452">
            <a:extLst xmlns:a="http://schemas.openxmlformats.org/drawingml/2006/main">
              <a:ext uri="{FF2B5EF4-FFF2-40B4-BE49-F238E27FC236}">
                <a16:creationId xmlns:a16="http://schemas.microsoft.com/office/drawing/2014/main" id="{DE31A12F-7698-4BC7-A0AE-CF22CA5D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0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und-r-2-title">
            <a:extLst xmlns:a="http://schemas.openxmlformats.org/drawingml/2006/main">
              <a:ext uri="{FF2B5EF4-FFF2-40B4-BE49-F238E27FC236}">
                <a16:creationId xmlns:a16="http://schemas.microsoft.com/office/drawing/2014/main" id="{1E6092A8-3540-4C8A-BE7E-94C3F367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291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Konsumen</a:t>
            </a:r>
          </a:p>
        </p:txBody>
      </p:sp>
      <p:sp>
        <p:nvSpPr>
          <p:cNvPr id="29" name="bound-r-2-detail">
            <a:extLst xmlns:a="http://schemas.openxmlformats.org/drawingml/2006/main">
              <a:ext uri="{FF2B5EF4-FFF2-40B4-BE49-F238E27FC236}">
                <a16:creationId xmlns:a16="http://schemas.microsoft.com/office/drawing/2014/main" id="{134DBCEA-12DF-4956-81FA-EB5D23D9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148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Next.js dashboard • map • alerts • analytics</a:t>
            </a:r>
          </a:p>
        </p:txBody>
      </p:sp>
      <p:sp>
        <p:nvSpPr>
          <p:cNvPr id="30" name="bound-arrow">
            <a:extLst xmlns:a="http://schemas.openxmlformats.org/drawingml/2006/main">
              <a:ext uri="{FF2B5EF4-FFF2-40B4-BE49-F238E27FC236}">
                <a16:creationId xmlns:a16="http://schemas.microsoft.com/office/drawing/2014/main" id="{2C25101D-4CB3-4B97-9536-AE04970E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19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F3E35"/>
                </a:solidFill>
              </a:defRPr>
            </a:pPr>
            <a:r>
              <a:rPr sz="1350" b="1">
                <a:solidFill>
                  <a:srgbClr val="AF3E35"/>
                </a:solidFill>
              </a:rPr>
              <a:t>MQTT NORMALIZED  →</a:t>
            </a:r>
          </a:p>
        </p:txBody>
      </p:sp>
      <p:sp>
        <p:nvSpPr>
          <p:cNvPr id="31" name="contract-bg">
            <a:extLst xmlns:a="http://schemas.openxmlformats.org/drawingml/2006/main">
              <a:ext uri="{FF2B5EF4-FFF2-40B4-BE49-F238E27FC236}">
                <a16:creationId xmlns:a16="http://schemas.microsoft.com/office/drawing/2014/main" id="{92A0C8FE-8AA9-4EED-9EFD-465B5B5A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EB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ntract-bar">
            <a:extLst xmlns:a="http://schemas.openxmlformats.org/drawingml/2006/main">
              <a:ext uri="{FF2B5EF4-FFF2-40B4-BE49-F238E27FC236}">
                <a16:creationId xmlns:a16="http://schemas.microsoft.com/office/drawing/2014/main" id="{4A3C0FF7-9C7A-4ACE-8107-58E8E31E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ntract-label">
            <a:extLst xmlns:a="http://schemas.openxmlformats.org/drawingml/2006/main">
              <a:ext uri="{FF2B5EF4-FFF2-40B4-BE49-F238E27FC236}">
                <a16:creationId xmlns:a16="http://schemas.microsoft.com/office/drawing/2014/main" id="{50E27AEF-1712-4581-9392-FDC09F88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414"/>
                </a:solidFill>
              </a:defRPr>
            </a:pPr>
            <a:r>
              <a:rPr sz="1350" b="1">
                <a:solidFill>
                  <a:srgbClr val="9A6414"/>
                </a:solidFill>
              </a:rPr>
              <a:t>MANDATORY DATA CONTRACT</a:t>
            </a:r>
          </a:p>
        </p:txBody>
      </p:sp>
      <p:sp>
        <p:nvSpPr>
          <p:cNvPr id="34" name="contract-body">
            <a:extLst xmlns:a="http://schemas.openxmlformats.org/drawingml/2006/main">
              <a:ext uri="{FF2B5EF4-FFF2-40B4-BE49-F238E27FC236}">
                <a16:creationId xmlns:a16="http://schemas.microsoft.com/office/drawing/2014/main" id="{850D3D26-C558-4A4B-839C-DD41391F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deviceId • timestamp • gasClass/aiClass • confidence • battery • network/health • messageId untuk deduplication.</a:t>
            </a:r>
          </a:p>
        </p:txBody>
      </p:sp>
    </p:spTree>
    <p:extLst>
      <p:ext uri="{BB962C8B-B14F-4D97-AF65-F5344CB8AC3E}">
        <p14:creationId xmlns:p14="http://schemas.microsoft.com/office/powerpoint/2010/main" val="1419895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line-8">
            <a:extLst xmlns:a="http://schemas.openxmlformats.org/drawingml/2006/main">
              <a:ext uri="{FF2B5EF4-FFF2-40B4-BE49-F238E27FC236}">
                <a16:creationId xmlns:a16="http://schemas.microsoft.com/office/drawing/2014/main" id="{5E8795FF-EBC6-451D-93AE-CA85CD73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98354DC5-A731-457D-8E03-DDDEB912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05 · APPLICATION SPECIFICATION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268E7241-5629-4852-95C2-ACBA855A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Frontend — RU operator UI dan HQ read-only UI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015E4BCE-B3B3-4B20-B4D1-830B33C8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IMPLEMENTED: Next.js client dengan GraphQL polling. GraphQL subscription tidak diimplementasikan.</a:t>
            </a:r>
          </a:p>
        </p:txBody>
      </p:sp>
      <p:sp>
        <p:nvSpPr>
          <p:cNvPr id="5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C00F43A4-F44C-4C3B-A8AB-A5AC6C90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8">
            <a:extLst xmlns:a="http://schemas.openxmlformats.org/drawingml/2006/main">
              <a:ext uri="{FF2B5EF4-FFF2-40B4-BE49-F238E27FC236}">
                <a16:creationId xmlns:a16="http://schemas.microsoft.com/office/drawing/2014/main" id="{72CDF12C-963C-4F72-9EBC-346D5158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8">
            <a:extLst xmlns:a="http://schemas.openxmlformats.org/drawingml/2006/main">
              <a:ext uri="{FF2B5EF4-FFF2-40B4-BE49-F238E27FC236}">
                <a16:creationId xmlns:a16="http://schemas.microsoft.com/office/drawing/2014/main" id="{BA469F9F-12A5-49EA-A46C-A61217EA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8</a:t>
            </a:r>
          </a:p>
        </p:txBody>
      </p:sp>
      <p:sp>
        <p:nvSpPr>
          <p:cNvPr id="8" name="fe-bg-0">
            <a:extLst xmlns:a="http://schemas.openxmlformats.org/drawingml/2006/main">
              <a:ext uri="{FF2B5EF4-FFF2-40B4-BE49-F238E27FC236}">
                <a16:creationId xmlns:a16="http://schemas.microsoft.com/office/drawing/2014/main" id="{DF450DA3-994B-41F0-922E-AB363065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9" name="fe-k-0">
            <a:extLst xmlns:a="http://schemas.openxmlformats.org/drawingml/2006/main">
              <a:ext uri="{FF2B5EF4-FFF2-40B4-BE49-F238E27FC236}">
                <a16:creationId xmlns:a16="http://schemas.microsoft.com/office/drawing/2014/main" id="{9FB7B46A-8346-42EB-A518-09E29A28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FRAMEWORK</a:t>
            </a:r>
          </a:p>
        </p:txBody>
      </p:sp>
      <p:sp>
        <p:nvSpPr>
          <p:cNvPr id="10" name="fe-v-0">
            <a:extLst xmlns:a="http://schemas.openxmlformats.org/drawingml/2006/main">
              <a:ext uri="{FF2B5EF4-FFF2-40B4-BE49-F238E27FC236}">
                <a16:creationId xmlns:a16="http://schemas.microsoft.com/office/drawing/2014/main" id="{1281504F-5608-4DC6-A142-C905F4FA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1F"/>
                </a:solidFill>
              </a:defRPr>
            </a:pPr>
            <a:r>
              <a:rPr sz="1425" b="1">
                <a:solidFill>
                  <a:srgbClr val="171A1F"/>
                </a:solidFill>
              </a:rPr>
              <a:t>Next.js 15 • React 18 • TypeScript</a:t>
            </a:r>
          </a:p>
        </p:txBody>
      </p:sp>
      <p:sp>
        <p:nvSpPr>
          <p:cNvPr id="11" name="fe-bg-1">
            <a:extLst xmlns:a="http://schemas.openxmlformats.org/drawingml/2006/main">
              <a:ext uri="{FF2B5EF4-FFF2-40B4-BE49-F238E27FC236}">
                <a16:creationId xmlns:a16="http://schemas.microsoft.com/office/drawing/2014/main" id="{A3046343-33D7-48D8-88AA-495158BA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2" name="fe-k-1">
            <a:extLst xmlns:a="http://schemas.openxmlformats.org/drawingml/2006/main">
              <a:ext uri="{FF2B5EF4-FFF2-40B4-BE49-F238E27FC236}">
                <a16:creationId xmlns:a16="http://schemas.microsoft.com/office/drawing/2014/main" id="{76A60F18-A2F4-4244-97EF-F5B66FF1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VISUALISASI</a:t>
            </a:r>
          </a:p>
        </p:txBody>
      </p:sp>
      <p:sp>
        <p:nvSpPr>
          <p:cNvPr id="13" name="fe-v-1">
            <a:extLst xmlns:a="http://schemas.openxmlformats.org/drawingml/2006/main">
              <a:ext uri="{FF2B5EF4-FFF2-40B4-BE49-F238E27FC236}">
                <a16:creationId xmlns:a16="http://schemas.microsoft.com/office/drawing/2014/main" id="{C4D72E6D-9807-4F2B-AF86-B0F00BDF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14575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1F"/>
                </a:solidFill>
              </a:defRPr>
            </a:pPr>
            <a:r>
              <a:rPr sz="1425" b="1">
                <a:solidFill>
                  <a:srgbClr val="171A1F"/>
                </a:solidFill>
              </a:rPr>
              <a:t>Mapbox GL • Recharts • Tailwind CSS</a:t>
            </a:r>
          </a:p>
        </p:txBody>
      </p:sp>
      <p:sp>
        <p:nvSpPr>
          <p:cNvPr id="14" name="fe-bg-2">
            <a:extLst xmlns:a="http://schemas.openxmlformats.org/drawingml/2006/main">
              <a:ext uri="{FF2B5EF4-FFF2-40B4-BE49-F238E27FC236}">
                <a16:creationId xmlns:a16="http://schemas.microsoft.com/office/drawing/2014/main" id="{F5190400-8CD2-4799-9CEB-38282730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5" name="fe-k-2">
            <a:extLst xmlns:a="http://schemas.openxmlformats.org/drawingml/2006/main">
              <a:ext uri="{FF2B5EF4-FFF2-40B4-BE49-F238E27FC236}">
                <a16:creationId xmlns:a16="http://schemas.microsoft.com/office/drawing/2014/main" id="{448563DF-0EED-417F-9D8C-9CEC53C2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DATA ACCESS</a:t>
            </a:r>
          </a:p>
        </p:txBody>
      </p:sp>
      <p:sp>
        <p:nvSpPr>
          <p:cNvPr id="16" name="fe-v-2">
            <a:extLst xmlns:a="http://schemas.openxmlformats.org/drawingml/2006/main">
              <a:ext uri="{FF2B5EF4-FFF2-40B4-BE49-F238E27FC236}">
                <a16:creationId xmlns:a16="http://schemas.microsoft.com/office/drawing/2014/main" id="{218432C0-CE49-423B-9E39-634B9760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1F"/>
                </a:solidFill>
              </a:defRPr>
            </a:pPr>
            <a:r>
              <a:rPr sz="1425" b="1">
                <a:solidFill>
                  <a:srgbClr val="171A1F"/>
                </a:solidFill>
              </a:rPr>
              <a:t>GraphQL Request → endpoint RU :4000/graphql</a:t>
            </a:r>
          </a:p>
        </p:txBody>
      </p:sp>
      <p:sp>
        <p:nvSpPr>
          <p:cNvPr id="17" name="fe-bg-3">
            <a:extLst xmlns:a="http://schemas.openxmlformats.org/drawingml/2006/main">
              <a:ext uri="{FF2B5EF4-FFF2-40B4-BE49-F238E27FC236}">
                <a16:creationId xmlns:a16="http://schemas.microsoft.com/office/drawing/2014/main" id="{7394CD69-47CB-42D7-A482-2E37B146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8" name="fe-k-3">
            <a:extLst xmlns:a="http://schemas.openxmlformats.org/drawingml/2006/main">
              <a:ext uri="{FF2B5EF4-FFF2-40B4-BE49-F238E27FC236}">
                <a16:creationId xmlns:a16="http://schemas.microsoft.com/office/drawing/2014/main" id="{FA1DA64B-94FA-427C-902D-4CF5FAE0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REFRESH</a:t>
            </a:r>
          </a:p>
        </p:txBody>
      </p:sp>
      <p:sp>
        <p:nvSpPr>
          <p:cNvPr id="19" name="fe-v-3">
            <a:extLst xmlns:a="http://schemas.openxmlformats.org/drawingml/2006/main">
              <a:ext uri="{FF2B5EF4-FFF2-40B4-BE49-F238E27FC236}">
                <a16:creationId xmlns:a16="http://schemas.microsoft.com/office/drawing/2014/main" id="{52739224-FD74-4462-982E-90F4E839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28975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1F"/>
                </a:solidFill>
              </a:defRPr>
            </a:pPr>
            <a:r>
              <a:rPr sz="1425" b="1">
                <a:solidFill>
                  <a:srgbClr val="171A1F"/>
                </a:solidFill>
              </a:rPr>
              <a:t>Polling berkala; default setting 10 detik</a:t>
            </a:r>
          </a:p>
        </p:txBody>
      </p:sp>
      <p:sp>
        <p:nvSpPr>
          <p:cNvPr id="20" name="fe-bg-4">
            <a:extLst xmlns:a="http://schemas.openxmlformats.org/drawingml/2006/main">
              <a:ext uri="{FF2B5EF4-FFF2-40B4-BE49-F238E27FC236}">
                <a16:creationId xmlns:a16="http://schemas.microsoft.com/office/drawing/2014/main" id="{BE59562B-7319-44E9-88EE-C741BE98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1" name="fe-k-4">
            <a:extLst xmlns:a="http://schemas.openxmlformats.org/drawingml/2006/main">
              <a:ext uri="{FF2B5EF4-FFF2-40B4-BE49-F238E27FC236}">
                <a16:creationId xmlns:a16="http://schemas.microsoft.com/office/drawing/2014/main" id="{C1F4C426-78DF-43EF-8CE3-8FED6363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MODUL</a:t>
            </a:r>
          </a:p>
        </p:txBody>
      </p:sp>
      <p:sp>
        <p:nvSpPr>
          <p:cNvPr id="22" name="fe-v-4">
            <a:extLst xmlns:a="http://schemas.openxmlformats.org/drawingml/2006/main">
              <a:ext uri="{FF2B5EF4-FFF2-40B4-BE49-F238E27FC236}">
                <a16:creationId xmlns:a16="http://schemas.microsoft.com/office/drawing/2014/main" id="{5EEB9FFD-B5AB-46B1-85B3-D9FEC1FB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1F"/>
                </a:solidFill>
              </a:defRPr>
            </a:pPr>
            <a:r>
              <a:rPr sz="1425" b="1">
                <a:solidFill>
                  <a:srgbClr val="171A1F"/>
                </a:solidFill>
              </a:rPr>
              <a:t>Overview • Devices • Map • Alerts • Events</a:t>
            </a:r>
          </a:p>
        </p:txBody>
      </p:sp>
      <p:sp>
        <p:nvSpPr>
          <p:cNvPr id="23" name="fe-bg-5">
            <a:extLst xmlns:a="http://schemas.openxmlformats.org/drawingml/2006/main">
              <a:ext uri="{FF2B5EF4-FFF2-40B4-BE49-F238E27FC236}">
                <a16:creationId xmlns:a16="http://schemas.microsoft.com/office/drawing/2014/main" id="{A04F7FA3-1DBB-4A7E-A337-3C74BF64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4" name="fe-k-5">
            <a:extLst xmlns:a="http://schemas.openxmlformats.org/drawingml/2006/main">
              <a:ext uri="{FF2B5EF4-FFF2-40B4-BE49-F238E27FC236}">
                <a16:creationId xmlns:a16="http://schemas.microsoft.com/office/drawing/2014/main" id="{636DECBA-01DD-486C-AEEF-2DA8E305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ANALITIK</a:t>
            </a:r>
          </a:p>
        </p:txBody>
      </p:sp>
      <p:sp>
        <p:nvSpPr>
          <p:cNvPr id="25" name="fe-v-5">
            <a:extLst xmlns:a="http://schemas.openxmlformats.org/drawingml/2006/main">
              <a:ext uri="{FF2B5EF4-FFF2-40B4-BE49-F238E27FC236}">
                <a16:creationId xmlns:a16="http://schemas.microsoft.com/office/drawing/2014/main" id="{2B4F7D41-6BB5-4A57-A850-3CD6162E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43375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1F"/>
                </a:solidFill>
              </a:defRPr>
            </a:pPr>
            <a:r>
              <a:rPr sz="1425" b="1">
                <a:solidFill>
                  <a:srgbClr val="171A1F"/>
                </a:solidFill>
              </a:rPr>
              <a:t>Timeline sensor • confidence • status perangkat</a:t>
            </a:r>
          </a:p>
        </p:txBody>
      </p:sp>
      <p:sp>
        <p:nvSpPr>
          <p:cNvPr id="26" name="fe-bg-6">
            <a:extLst xmlns:a="http://schemas.openxmlformats.org/drawingml/2006/main">
              <a:ext uri="{FF2B5EF4-FFF2-40B4-BE49-F238E27FC236}">
                <a16:creationId xmlns:a16="http://schemas.microsoft.com/office/drawing/2014/main" id="{74E0AB25-F232-4858-B2DC-9C2FB90A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7" name="fe-k-6">
            <a:extLst xmlns:a="http://schemas.openxmlformats.org/drawingml/2006/main">
              <a:ext uri="{FF2B5EF4-FFF2-40B4-BE49-F238E27FC236}">
                <a16:creationId xmlns:a16="http://schemas.microsoft.com/office/drawing/2014/main" id="{D3EF00CA-E244-4BF3-A49B-0C480D79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MODE RU</a:t>
            </a:r>
          </a:p>
        </p:txBody>
      </p:sp>
      <p:sp>
        <p:nvSpPr>
          <p:cNvPr id="28" name="fe-v-6">
            <a:extLst xmlns:a="http://schemas.openxmlformats.org/drawingml/2006/main">
              <a:ext uri="{FF2B5EF4-FFF2-40B4-BE49-F238E27FC236}">
                <a16:creationId xmlns:a16="http://schemas.microsoft.com/office/drawing/2014/main" id="{9F3BD1CC-5210-4011-89B0-D72AE696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1F"/>
                </a:solidFill>
              </a:defRPr>
            </a:pPr>
            <a:r>
              <a:rPr sz="1425" b="1">
                <a:solidFill>
                  <a:srgbClr val="171A1F"/>
                </a:solidFill>
              </a:rPr>
              <a:t>Operasional lokal termasuk menu admin/settings</a:t>
            </a:r>
          </a:p>
        </p:txBody>
      </p:sp>
      <p:sp>
        <p:nvSpPr>
          <p:cNvPr id="29" name="fe-bg-7">
            <a:extLst xmlns:a="http://schemas.openxmlformats.org/drawingml/2006/main">
              <a:ext uri="{FF2B5EF4-FFF2-40B4-BE49-F238E27FC236}">
                <a16:creationId xmlns:a16="http://schemas.microsoft.com/office/drawing/2014/main" id="{2F541F95-33B8-45D2-BBA7-E65FE379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244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30" name="fe-k-7">
            <a:extLst xmlns:a="http://schemas.openxmlformats.org/drawingml/2006/main">
              <a:ext uri="{FF2B5EF4-FFF2-40B4-BE49-F238E27FC236}">
                <a16:creationId xmlns:a16="http://schemas.microsoft.com/office/drawing/2014/main" id="{979625A6-EBB2-4448-A03A-E6C06CDC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9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MODE HQ</a:t>
            </a:r>
          </a:p>
        </p:txBody>
      </p:sp>
      <p:sp>
        <p:nvSpPr>
          <p:cNvPr id="31" name="fe-v-7">
            <a:extLst xmlns:a="http://schemas.openxmlformats.org/drawingml/2006/main">
              <a:ext uri="{FF2B5EF4-FFF2-40B4-BE49-F238E27FC236}">
                <a16:creationId xmlns:a16="http://schemas.microsoft.com/office/drawing/2014/main" id="{30EB4CBB-6246-4125-A143-39B4BA32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57775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1F"/>
                </a:solidFill>
              </a:defRPr>
            </a:pPr>
            <a:r>
              <a:rPr sz="1425" b="1">
                <a:solidFill>
                  <a:srgbClr val="171A1F"/>
                </a:solidFill>
              </a:rPr>
              <a:t>Read-only; mutation dan settings disembunyikan</a:t>
            </a:r>
          </a:p>
        </p:txBody>
      </p:sp>
      <p:sp>
        <p:nvSpPr>
          <p:cNvPr id="32" name="fe-deploy-bg">
            <a:extLst xmlns:a="http://schemas.openxmlformats.org/drawingml/2006/main">
              <a:ext uri="{FF2B5EF4-FFF2-40B4-BE49-F238E27FC236}">
                <a16:creationId xmlns:a16="http://schemas.microsoft.com/office/drawing/2014/main" id="{9283A48D-C995-4525-A7DD-25920AC8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EB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e-deploy-bar">
            <a:extLst xmlns:a="http://schemas.openxmlformats.org/drawingml/2006/main">
              <a:ext uri="{FF2B5EF4-FFF2-40B4-BE49-F238E27FC236}">
                <a16:creationId xmlns:a16="http://schemas.microsoft.com/office/drawing/2014/main" id="{4AACBB81-B09B-4A68-9102-F41CC5F8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e-deploy-label">
            <a:extLst xmlns:a="http://schemas.openxmlformats.org/drawingml/2006/main">
              <a:ext uri="{FF2B5EF4-FFF2-40B4-BE49-F238E27FC236}">
                <a16:creationId xmlns:a16="http://schemas.microsoft.com/office/drawing/2014/main" id="{EDA98783-541D-4CE4-B884-A4D2F358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388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414"/>
                </a:solidFill>
              </a:defRPr>
            </a:pPr>
            <a:r>
              <a:rPr sz="1350" b="1">
                <a:solidFill>
                  <a:srgbClr val="9A6414"/>
                </a:solidFill>
              </a:rPr>
              <a:t>KILANG-SUPPLIED ACCESS</a:t>
            </a:r>
          </a:p>
        </p:txBody>
      </p:sp>
      <p:sp>
        <p:nvSpPr>
          <p:cNvPr id="35" name="fe-deploy-body">
            <a:extLst xmlns:a="http://schemas.openxmlformats.org/drawingml/2006/main">
              <a:ext uri="{FF2B5EF4-FFF2-40B4-BE49-F238E27FC236}">
                <a16:creationId xmlns:a16="http://schemas.microsoft.com/office/drawing/2014/main" id="{046E9DB0-DA32-4725-93E1-51439E46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790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Kilang menetapkan internal URL, DNS/IP, TLS certificate, identity/access policy, operator workstation, dan availability target.</a:t>
            </a:r>
          </a:p>
        </p:txBody>
      </p:sp>
    </p:spTree>
    <p:extLst>
      <p:ext uri="{BB962C8B-B14F-4D97-AF65-F5344CB8AC3E}">
        <p14:creationId xmlns:p14="http://schemas.microsoft.com/office/powerpoint/2010/main" val="8431705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line-9">
            <a:extLst xmlns:a="http://schemas.openxmlformats.org/drawingml/2006/main">
              <a:ext uri="{FF2B5EF4-FFF2-40B4-BE49-F238E27FC236}">
                <a16:creationId xmlns:a16="http://schemas.microsoft.com/office/drawing/2014/main" id="{689694C1-C9E2-4C6C-A2B3-8AE3BE56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EED17010-BF19-4AC8-8FBB-FD6155BE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05 · APPLICATION SPECIFICATION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F4501630-E6CE-4817-8E86-599549B1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Backend: ingestion, storage, dan API GraphQL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70BAC892-3522-478A-9386-4598DA4D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IMPLEMENTED RU: SQLite. PostgreSQL/TimescaleDB belum menjadi production baseline yang disetujui.</a:t>
            </a:r>
          </a:p>
        </p:txBody>
      </p:sp>
      <p:sp>
        <p:nvSpPr>
          <p:cNvPr id="5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46F48893-7402-48E6-B096-8672B1F0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9">
            <a:extLst xmlns:a="http://schemas.openxmlformats.org/drawingml/2006/main">
              <a:ext uri="{FF2B5EF4-FFF2-40B4-BE49-F238E27FC236}">
                <a16:creationId xmlns:a16="http://schemas.microsoft.com/office/drawing/2014/main" id="{2158E530-67B0-4603-8086-E6DB010F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9">
            <a:extLst xmlns:a="http://schemas.openxmlformats.org/drawingml/2006/main">
              <a:ext uri="{FF2B5EF4-FFF2-40B4-BE49-F238E27FC236}">
                <a16:creationId xmlns:a16="http://schemas.microsoft.com/office/drawing/2014/main" id="{50F46A2A-A52C-436B-9D5E-1B0174D6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9</a:t>
            </a:r>
          </a:p>
        </p:txBody>
      </p:sp>
      <p:sp>
        <p:nvSpPr>
          <p:cNvPr id="8" name="be-bg-0">
            <a:extLst xmlns:a="http://schemas.openxmlformats.org/drawingml/2006/main">
              <a:ext uri="{FF2B5EF4-FFF2-40B4-BE49-F238E27FC236}">
                <a16:creationId xmlns:a16="http://schemas.microsoft.com/office/drawing/2014/main" id="{647F348C-D919-4238-892B-DCE9A470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9" name="be-k-0">
            <a:extLst xmlns:a="http://schemas.openxmlformats.org/drawingml/2006/main">
              <a:ext uri="{FF2B5EF4-FFF2-40B4-BE49-F238E27FC236}">
                <a16:creationId xmlns:a16="http://schemas.microsoft.com/office/drawing/2014/main" id="{9A7986E3-37A9-4A79-A5F5-18C2D286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RUNTIME/API</a:t>
            </a:r>
          </a:p>
        </p:txBody>
      </p:sp>
      <p:sp>
        <p:nvSpPr>
          <p:cNvPr id="10" name="be-v-0">
            <a:extLst xmlns:a="http://schemas.openxmlformats.org/drawingml/2006/main">
              <a:ext uri="{FF2B5EF4-FFF2-40B4-BE49-F238E27FC236}">
                <a16:creationId xmlns:a16="http://schemas.microsoft.com/office/drawing/2014/main" id="{595354DB-62CC-496C-9E30-AACD2008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</a:defRPr>
            </a:pPr>
            <a:r>
              <a:rPr sz="1350" b="1">
                <a:solidFill>
                  <a:srgbClr val="171A1F"/>
                </a:solidFill>
              </a:rPr>
              <a:t>Node.js • NestJS • Apollo GraphQL • port 4000</a:t>
            </a:r>
          </a:p>
        </p:txBody>
      </p:sp>
      <p:sp>
        <p:nvSpPr>
          <p:cNvPr id="11" name="be-bg-1">
            <a:extLst xmlns:a="http://schemas.openxmlformats.org/drawingml/2006/main">
              <a:ext uri="{FF2B5EF4-FFF2-40B4-BE49-F238E27FC236}">
                <a16:creationId xmlns:a16="http://schemas.microsoft.com/office/drawing/2014/main" id="{07DDCDE9-F76A-4795-881A-04B55B65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2" name="be-k-1">
            <a:extLst xmlns:a="http://schemas.openxmlformats.org/drawingml/2006/main">
              <a:ext uri="{FF2B5EF4-FFF2-40B4-BE49-F238E27FC236}">
                <a16:creationId xmlns:a16="http://schemas.microsoft.com/office/drawing/2014/main" id="{35910C71-EC89-4FA4-80F7-C4ACA6E6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DATA LAYER</a:t>
            </a:r>
          </a:p>
        </p:txBody>
      </p:sp>
      <p:sp>
        <p:nvSpPr>
          <p:cNvPr id="13" name="be-v-1">
            <a:extLst xmlns:a="http://schemas.openxmlformats.org/drawingml/2006/main">
              <a:ext uri="{FF2B5EF4-FFF2-40B4-BE49-F238E27FC236}">
                <a16:creationId xmlns:a16="http://schemas.microsoft.com/office/drawing/2014/main" id="{71C1C6A5-EF6D-44B4-8D8D-DFA55E63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</a:defRPr>
            </a:pPr>
            <a:r>
              <a:rPr sz="1350" b="1">
                <a:solidFill>
                  <a:srgbClr val="171A1F"/>
                </a:solidFill>
              </a:rPr>
              <a:t>Prisma ORM • current RU schema: SQLite file-based</a:t>
            </a:r>
          </a:p>
        </p:txBody>
      </p:sp>
      <p:sp>
        <p:nvSpPr>
          <p:cNvPr id="14" name="be-bg-2">
            <a:extLst xmlns:a="http://schemas.openxmlformats.org/drawingml/2006/main">
              <a:ext uri="{FF2B5EF4-FFF2-40B4-BE49-F238E27FC236}">
                <a16:creationId xmlns:a16="http://schemas.microsoft.com/office/drawing/2014/main" id="{991FF2A3-E15C-4E49-A766-B5D57B29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5" name="be-k-2">
            <a:extLst xmlns:a="http://schemas.openxmlformats.org/drawingml/2006/main">
              <a:ext uri="{FF2B5EF4-FFF2-40B4-BE49-F238E27FC236}">
                <a16:creationId xmlns:a16="http://schemas.microsoft.com/office/drawing/2014/main" id="{2F4DE19E-0216-44E0-9536-4E67B6D3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CORE ENTITIES</a:t>
            </a:r>
          </a:p>
        </p:txBody>
      </p:sp>
      <p:sp>
        <p:nvSpPr>
          <p:cNvPr id="16" name="be-v-2">
            <a:extLst xmlns:a="http://schemas.openxmlformats.org/drawingml/2006/main">
              <a:ext uri="{FF2B5EF4-FFF2-40B4-BE49-F238E27FC236}">
                <a16:creationId xmlns:a16="http://schemas.microsoft.com/office/drawing/2014/main" id="{E3112F25-CF18-44CD-9AA6-A176399D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</a:defRPr>
            </a:pPr>
            <a:r>
              <a:rPr sz="1350" b="1">
                <a:solidFill>
                  <a:srgbClr val="171A1F"/>
                </a:solidFill>
              </a:rPr>
              <a:t>Device • GasReading • SystemSettings • EventLog • User</a:t>
            </a:r>
          </a:p>
        </p:txBody>
      </p:sp>
      <p:sp>
        <p:nvSpPr>
          <p:cNvPr id="17" name="be-bg-3">
            <a:extLst xmlns:a="http://schemas.openxmlformats.org/drawingml/2006/main">
              <a:ext uri="{FF2B5EF4-FFF2-40B4-BE49-F238E27FC236}">
                <a16:creationId xmlns:a16="http://schemas.microsoft.com/office/drawing/2014/main" id="{000E017E-C48E-452A-825F-CC79B332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8" name="be-k-3">
            <a:extLst xmlns:a="http://schemas.openxmlformats.org/drawingml/2006/main">
              <a:ext uri="{FF2B5EF4-FFF2-40B4-BE49-F238E27FC236}">
                <a16:creationId xmlns:a16="http://schemas.microsoft.com/office/drawing/2014/main" id="{10733E51-AACB-4903-B24B-D22F62CB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INGESTION</a:t>
            </a:r>
          </a:p>
        </p:txBody>
      </p:sp>
      <p:sp>
        <p:nvSpPr>
          <p:cNvPr id="19" name="be-v-3">
            <a:extLst xmlns:a="http://schemas.openxmlformats.org/drawingml/2006/main">
              <a:ext uri="{FF2B5EF4-FFF2-40B4-BE49-F238E27FC236}">
                <a16:creationId xmlns:a16="http://schemas.microsoft.com/office/drawing/2014/main" id="{03CA6214-1D1B-4193-8ADE-42632558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</a:defRPr>
            </a:pPr>
            <a:r>
              <a:rPr sz="1350" b="1">
                <a:solidFill>
                  <a:srgbClr val="171A1F"/>
                </a:solidFill>
              </a:rPr>
              <a:t>addReading validates confidence 0–1 and derives LOW/MIDDLE/HIGH</a:t>
            </a:r>
          </a:p>
        </p:txBody>
      </p:sp>
      <p:sp>
        <p:nvSpPr>
          <p:cNvPr id="20" name="be-bg-4">
            <a:extLst xmlns:a="http://schemas.openxmlformats.org/drawingml/2006/main">
              <a:ext uri="{FF2B5EF4-FFF2-40B4-BE49-F238E27FC236}">
                <a16:creationId xmlns:a16="http://schemas.microsoft.com/office/drawing/2014/main" id="{9AE9BF72-B2B4-474E-AF53-3019CE42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1" name="be-k-4">
            <a:extLst xmlns:a="http://schemas.openxmlformats.org/drawingml/2006/main">
              <a:ext uri="{FF2B5EF4-FFF2-40B4-BE49-F238E27FC236}">
                <a16:creationId xmlns:a16="http://schemas.microsoft.com/office/drawing/2014/main" id="{DDC822F2-1269-4DCD-8DB3-DDA56379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ALERT LOGIC</a:t>
            </a:r>
          </a:p>
        </p:txBody>
      </p:sp>
      <p:sp>
        <p:nvSpPr>
          <p:cNvPr id="22" name="be-v-4">
            <a:extLst xmlns:a="http://schemas.openxmlformats.org/drawingml/2006/main">
              <a:ext uri="{FF2B5EF4-FFF2-40B4-BE49-F238E27FC236}">
                <a16:creationId xmlns:a16="http://schemas.microsoft.com/office/drawing/2014/main" id="{82BA4503-89A4-4BCF-B209-370F118D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</a:defRPr>
            </a:pPr>
            <a:r>
              <a:rPr sz="1350" b="1">
                <a:solidFill>
                  <a:srgbClr val="171A1F"/>
                </a:solidFill>
              </a:rPr>
              <a:t>Threshold default warning 0.70 • critical 0.80 • dedup 15 menit</a:t>
            </a:r>
          </a:p>
        </p:txBody>
      </p:sp>
      <p:sp>
        <p:nvSpPr>
          <p:cNvPr id="23" name="be-bg-5">
            <a:extLst xmlns:a="http://schemas.openxmlformats.org/drawingml/2006/main">
              <a:ext uri="{FF2B5EF4-FFF2-40B4-BE49-F238E27FC236}">
                <a16:creationId xmlns:a16="http://schemas.microsoft.com/office/drawing/2014/main" id="{A01F3ED6-576B-474B-B912-796DE9FE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4" name="be-k-5">
            <a:extLst xmlns:a="http://schemas.openxmlformats.org/drawingml/2006/main">
              <a:ext uri="{FF2B5EF4-FFF2-40B4-BE49-F238E27FC236}">
                <a16:creationId xmlns:a16="http://schemas.microsoft.com/office/drawing/2014/main" id="{643C6B4A-2CAB-4470-8D16-703A65CA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API</a:t>
            </a:r>
          </a:p>
        </p:txBody>
      </p:sp>
      <p:sp>
        <p:nvSpPr>
          <p:cNvPr id="25" name="be-v-5">
            <a:extLst xmlns:a="http://schemas.openxmlformats.org/drawingml/2006/main">
              <a:ext uri="{FF2B5EF4-FFF2-40B4-BE49-F238E27FC236}">
                <a16:creationId xmlns:a16="http://schemas.microsoft.com/office/drawing/2014/main" id="{D1740CCF-3925-4F43-834C-8FC244D2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338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</a:defRPr>
            </a:pPr>
            <a:r>
              <a:rPr sz="1350" b="1">
                <a:solidFill>
                  <a:srgbClr val="171A1F"/>
                </a:solidFill>
              </a:rPr>
              <a:t>dashboard • devices • timeline • events • analytics • gatewayPull</a:t>
            </a:r>
          </a:p>
        </p:txBody>
      </p:sp>
      <p:sp>
        <p:nvSpPr>
          <p:cNvPr id="26" name="be-bg-6">
            <a:extLst xmlns:a="http://schemas.openxmlformats.org/drawingml/2006/main">
              <a:ext uri="{FF2B5EF4-FFF2-40B4-BE49-F238E27FC236}">
                <a16:creationId xmlns:a16="http://schemas.microsoft.com/office/drawing/2014/main" id="{72925F0C-A183-4F69-8A60-D39064D1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7" name="be-k-6">
            <a:extLst xmlns:a="http://schemas.openxmlformats.org/drawingml/2006/main">
              <a:ext uri="{FF2B5EF4-FFF2-40B4-BE49-F238E27FC236}">
                <a16:creationId xmlns:a16="http://schemas.microsoft.com/office/drawing/2014/main" id="{15826227-E250-4878-82C3-733938AB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SECURITY STATE</a:t>
            </a:r>
          </a:p>
        </p:txBody>
      </p:sp>
      <p:sp>
        <p:nvSpPr>
          <p:cNvPr id="28" name="be-v-6">
            <a:extLst xmlns:a="http://schemas.openxmlformats.org/drawingml/2006/main">
              <a:ext uri="{FF2B5EF4-FFF2-40B4-BE49-F238E27FC236}">
                <a16:creationId xmlns:a16="http://schemas.microsoft.com/office/drawing/2014/main" id="{039965A5-8E79-4713-9581-A4DD7041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</a:defRPr>
            </a:pPr>
            <a:r>
              <a:rPr sz="1350" b="1">
                <a:solidFill>
                  <a:srgbClr val="171A1F"/>
                </a:solidFill>
              </a:rPr>
              <a:t>Production hides playground/introspection; CORS still broad</a:t>
            </a:r>
          </a:p>
        </p:txBody>
      </p:sp>
      <p:sp>
        <p:nvSpPr>
          <p:cNvPr id="29" name="be-bg-7">
            <a:extLst xmlns:a="http://schemas.openxmlformats.org/drawingml/2006/main">
              <a:ext uri="{FF2B5EF4-FFF2-40B4-BE49-F238E27FC236}">
                <a16:creationId xmlns:a16="http://schemas.microsoft.com/office/drawing/2014/main" id="{852F7FF2-2E72-4958-8277-7D095705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24400"/>
            <a:ext cx="502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E4E1"/>
          </a:solidFill>
          <a:ln xmlns:a="http://schemas.openxmlformats.org/drawingml/2006/main" w="9525">
            <a:solidFill>
              <a:srgbClr val="AF3E35"/>
            </a:solidFill>
            <a:prstDash val="solid"/>
          </a:ln>
        </p:spPr>
      </p:sp>
      <p:sp>
        <p:nvSpPr>
          <p:cNvPr id="30" name="be-k-7">
            <a:extLst xmlns:a="http://schemas.openxmlformats.org/drawingml/2006/main">
              <a:ext uri="{FF2B5EF4-FFF2-40B4-BE49-F238E27FC236}">
                <a16:creationId xmlns:a16="http://schemas.microsoft.com/office/drawing/2014/main" id="{8D6C5DEB-BF32-4B09-AE69-41F60B1B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9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3E35"/>
                </a:solidFill>
              </a:defRPr>
            </a:pPr>
            <a:r>
              <a:rPr sz="1050" b="1">
                <a:solidFill>
                  <a:srgbClr val="AF3E35"/>
                </a:solidFill>
              </a:rPr>
              <a:t>OPEN ITEM</a:t>
            </a:r>
          </a:p>
        </p:txBody>
      </p:sp>
      <p:sp>
        <p:nvSpPr>
          <p:cNvPr id="31" name="be-v-7">
            <a:extLst xmlns:a="http://schemas.openxmlformats.org/drawingml/2006/main">
              <a:ext uri="{FF2B5EF4-FFF2-40B4-BE49-F238E27FC236}">
                <a16:creationId xmlns:a16="http://schemas.microsoft.com/office/drawing/2014/main" id="{D9BC24ED-9FA4-4085-948A-6290BE22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482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</a:defRPr>
            </a:pPr>
            <a:r>
              <a:rPr sz="1350" b="1">
                <a:solidFill>
                  <a:srgbClr val="171A1F"/>
                </a:solidFill>
              </a:rPr>
              <a:t>MQTT adapter, backup/retention RU, auth/TLS and hardening</a:t>
            </a:r>
          </a:p>
        </p:txBody>
      </p:sp>
      <p:sp>
        <p:nvSpPr>
          <p:cNvPr id="32" name="be-db-bg">
            <a:extLst xmlns:a="http://schemas.openxmlformats.org/drawingml/2006/main">
              <a:ext uri="{FF2B5EF4-FFF2-40B4-BE49-F238E27FC236}">
                <a16:creationId xmlns:a16="http://schemas.microsoft.com/office/drawing/2014/main" id="{557504B1-EB4E-48B1-8763-CE2C6014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EB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e-db-bar">
            <a:extLst xmlns:a="http://schemas.openxmlformats.org/drawingml/2006/main">
              <a:ext uri="{FF2B5EF4-FFF2-40B4-BE49-F238E27FC236}">
                <a16:creationId xmlns:a16="http://schemas.microsoft.com/office/drawing/2014/main" id="{7FDF671A-B666-41B1-ADEA-EEF42989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e-db-label">
            <a:extLst xmlns:a="http://schemas.openxmlformats.org/drawingml/2006/main">
              <a:ext uri="{FF2B5EF4-FFF2-40B4-BE49-F238E27FC236}">
                <a16:creationId xmlns:a16="http://schemas.microsoft.com/office/drawing/2014/main" id="{40DFCBE3-6C08-425F-816F-2586DE58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388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414"/>
                </a:solidFill>
              </a:defRPr>
            </a:pPr>
            <a:r>
              <a:rPr sz="1350" b="1">
                <a:solidFill>
                  <a:srgbClr val="9A6414"/>
                </a:solidFill>
              </a:rPr>
              <a:t>DATABASE BASELINE — OPEN</a:t>
            </a:r>
          </a:p>
        </p:txBody>
      </p:sp>
      <p:sp>
        <p:nvSpPr>
          <p:cNvPr id="35" name="be-db-body">
            <a:extLst xmlns:a="http://schemas.openxmlformats.org/drawingml/2006/main">
              <a:ext uri="{FF2B5EF4-FFF2-40B4-BE49-F238E27FC236}">
                <a16:creationId xmlns:a16="http://schemas.microsoft.com/office/drawing/2014/main" id="{7A785BFF-CFE9-4FE7-AF03-CF19B13A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790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Tetapkan SQLite untuk pilot atau migrasi PostgreSQL. Keputusan wajib mencakup sizing, backup, retention, HA, dan recovery objective.</a:t>
            </a:r>
          </a:p>
        </p:txBody>
      </p:sp>
    </p:spTree>
    <p:extLst>
      <p:ext uri="{BB962C8B-B14F-4D97-AF65-F5344CB8AC3E}">
        <p14:creationId xmlns:p14="http://schemas.microsoft.com/office/powerpoint/2010/main" val="18533811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line-10">
            <a:extLst xmlns:a="http://schemas.openxmlformats.org/drawingml/2006/main">
              <a:ext uri="{FF2B5EF4-FFF2-40B4-BE49-F238E27FC236}">
                <a16:creationId xmlns:a16="http://schemas.microsoft.com/office/drawing/2014/main" id="{3D4FD314-50D4-4C4D-928B-BF47D98C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5F75A38C-E3E7-43B6-80FA-8CC84DED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06 · INTER-SITE INTEGRATION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7B0D7628-AF25-4CAC-8720-E1948BBA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DFD-02: RU → VPS/HQ (NOT COMMISSIONED)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D6B98E17-041C-4E58-A376-7763AC4B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RU beroperasi mandiri; VPS menarik data read-only melalui VPN. Remote actuation tidak termasuk scope fase ini.</a:t>
            </a:r>
          </a:p>
        </p:txBody>
      </p:sp>
      <p:sp>
        <p:nvSpPr>
          <p:cNvPr id="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5FAD4EFA-B1AB-43BE-B63A-76CBF39A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10">
            <a:extLst xmlns:a="http://schemas.openxmlformats.org/drawingml/2006/main">
              <a:ext uri="{FF2B5EF4-FFF2-40B4-BE49-F238E27FC236}">
                <a16:creationId xmlns:a16="http://schemas.microsoft.com/office/drawing/2014/main" id="{F6256D32-0638-410C-B2CA-B1E7A04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10">
            <a:extLst xmlns:a="http://schemas.openxmlformats.org/drawingml/2006/main">
              <a:ext uri="{FF2B5EF4-FFF2-40B4-BE49-F238E27FC236}">
                <a16:creationId xmlns:a16="http://schemas.microsoft.com/office/drawing/2014/main" id="{C3D4895C-A3AA-4046-8D0D-F3E1CB5D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10</a:t>
            </a:r>
          </a:p>
        </p:txBody>
      </p:sp>
      <p:sp>
        <p:nvSpPr>
          <p:cNvPr id="8" name="arch-0">
            <a:extLst xmlns:a="http://schemas.openxmlformats.org/drawingml/2006/main">
              <a:ext uri="{FF2B5EF4-FFF2-40B4-BE49-F238E27FC236}">
                <a16:creationId xmlns:a16="http://schemas.microsoft.com/office/drawing/2014/main" id="{DCC6AD34-17B3-469B-B7A3-2089D911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46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9" name="arch-t-0">
            <a:extLst xmlns:a="http://schemas.openxmlformats.org/drawingml/2006/main">
              <a:ext uri="{FF2B5EF4-FFF2-40B4-BE49-F238E27FC236}">
                <a16:creationId xmlns:a16="http://schemas.microsoft.com/office/drawing/2014/main" id="{76AFB4BD-1298-4960-BA43-2A60559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RU Backend</a:t>
            </a:r>
          </a:p>
        </p:txBody>
      </p:sp>
      <p:sp>
        <p:nvSpPr>
          <p:cNvPr id="10" name="arch-s-0">
            <a:extLst xmlns:a="http://schemas.openxmlformats.org/drawingml/2006/main">
              <a:ext uri="{FF2B5EF4-FFF2-40B4-BE49-F238E27FC236}">
                <a16:creationId xmlns:a16="http://schemas.microsoft.com/office/drawing/2014/main" id="{3CDE3619-A475-47F1-9545-D687C338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SQLite lokal</a:t>
            </a:r>
          </a:p>
        </p:txBody>
      </p:sp>
      <p:sp>
        <p:nvSpPr>
          <p:cNvPr id="11" name="arch-a-0">
            <a:extLst xmlns:a="http://schemas.openxmlformats.org/drawingml/2006/main">
              <a:ext uri="{FF2B5EF4-FFF2-40B4-BE49-F238E27FC236}">
                <a16:creationId xmlns:a16="http://schemas.microsoft.com/office/drawing/2014/main" id="{607F189D-6D42-4F95-8F62-F7DC3D5F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57450"/>
            <a:ext cx="34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8A929D"/>
                </a:solidFill>
              </a:defRPr>
            </a:pPr>
            <a:r>
              <a:rPr sz="2400" b="0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12" name="arch-1">
            <a:extLst xmlns:a="http://schemas.openxmlformats.org/drawingml/2006/main">
              <a:ext uri="{FF2B5EF4-FFF2-40B4-BE49-F238E27FC236}">
                <a16:creationId xmlns:a16="http://schemas.microsoft.com/office/drawing/2014/main" id="{CDA13602-018C-4EEE-ABFB-FFFE0C8F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90750"/>
            <a:ext cx="146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3" name="arch-t-1">
            <a:extLst xmlns:a="http://schemas.openxmlformats.org/drawingml/2006/main">
              <a:ext uri="{FF2B5EF4-FFF2-40B4-BE49-F238E27FC236}">
                <a16:creationId xmlns:a16="http://schemas.microsoft.com/office/drawing/2014/main" id="{3AA35034-10B5-4A0C-BDFB-3C7081D9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5267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gatewayPull</a:t>
            </a:r>
          </a:p>
        </p:txBody>
      </p:sp>
      <p:sp>
        <p:nvSpPr>
          <p:cNvPr id="14" name="arch-s-1">
            <a:extLst xmlns:a="http://schemas.openxmlformats.org/drawingml/2006/main">
              <a:ext uri="{FF2B5EF4-FFF2-40B4-BE49-F238E27FC236}">
                <a16:creationId xmlns:a16="http://schemas.microsoft.com/office/drawing/2014/main" id="{608AFD39-125C-4F7E-80CF-A6903CB7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241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GraphQL + auth</a:t>
            </a:r>
          </a:p>
        </p:txBody>
      </p:sp>
      <p:sp>
        <p:nvSpPr>
          <p:cNvPr id="15" name="arch-a-1">
            <a:extLst xmlns:a="http://schemas.openxmlformats.org/drawingml/2006/main">
              <a:ext uri="{FF2B5EF4-FFF2-40B4-BE49-F238E27FC236}">
                <a16:creationId xmlns:a16="http://schemas.microsoft.com/office/drawing/2014/main" id="{56214C7C-EF6E-4AA6-8519-E586DD8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57450"/>
            <a:ext cx="34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8A929D"/>
                </a:solidFill>
              </a:defRPr>
            </a:pPr>
            <a:r>
              <a:rPr sz="2400" b="0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16" name="arch-2">
            <a:extLst xmlns:a="http://schemas.openxmlformats.org/drawingml/2006/main">
              <a:ext uri="{FF2B5EF4-FFF2-40B4-BE49-F238E27FC236}">
                <a16:creationId xmlns:a16="http://schemas.microsoft.com/office/drawing/2014/main" id="{54380F8E-58D3-49C0-9315-82DCBF8D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146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7" name="arch-t-2">
            <a:extLst xmlns:a="http://schemas.openxmlformats.org/drawingml/2006/main">
              <a:ext uri="{FF2B5EF4-FFF2-40B4-BE49-F238E27FC236}">
                <a16:creationId xmlns:a16="http://schemas.microsoft.com/office/drawing/2014/main" id="{BE1A1386-36A9-449C-BF11-35E44922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5267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VPN</a:t>
            </a:r>
          </a:p>
        </p:txBody>
      </p:sp>
      <p:sp>
        <p:nvSpPr>
          <p:cNvPr id="18" name="arch-s-2">
            <a:extLst xmlns:a="http://schemas.openxmlformats.org/drawingml/2006/main">
              <a:ext uri="{FF2B5EF4-FFF2-40B4-BE49-F238E27FC236}">
                <a16:creationId xmlns:a16="http://schemas.microsoft.com/office/drawing/2014/main" id="{634662A1-6C3A-41E2-98AE-C2722291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private route</a:t>
            </a:r>
          </a:p>
        </p:txBody>
      </p:sp>
      <p:sp>
        <p:nvSpPr>
          <p:cNvPr id="19" name="arch-a-2">
            <a:extLst xmlns:a="http://schemas.openxmlformats.org/drawingml/2006/main">
              <a:ext uri="{FF2B5EF4-FFF2-40B4-BE49-F238E27FC236}">
                <a16:creationId xmlns:a16="http://schemas.microsoft.com/office/drawing/2014/main" id="{9175891E-4DBA-4FE9-91AA-AC11AD09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57450"/>
            <a:ext cx="34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8A929D"/>
                </a:solidFill>
              </a:defRPr>
            </a:pPr>
            <a:r>
              <a:rPr sz="2400" b="0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20" name="arch-3">
            <a:extLst xmlns:a="http://schemas.openxmlformats.org/drawingml/2006/main">
              <a:ext uri="{FF2B5EF4-FFF2-40B4-BE49-F238E27FC236}">
                <a16:creationId xmlns:a16="http://schemas.microsoft.com/office/drawing/2014/main" id="{7A048E0C-C5D4-4D28-B8A3-09F15604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146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9525">
            <a:solidFill>
              <a:srgbClr val="17356F"/>
            </a:solidFill>
            <a:prstDash val="solid"/>
          </a:ln>
        </p:spPr>
      </p:sp>
      <p:sp>
        <p:nvSpPr>
          <p:cNvPr id="21" name="arch-t-3">
            <a:extLst xmlns:a="http://schemas.openxmlformats.org/drawingml/2006/main">
              <a:ext uri="{FF2B5EF4-FFF2-40B4-BE49-F238E27FC236}">
                <a16:creationId xmlns:a16="http://schemas.microsoft.com/office/drawing/2014/main" id="{08118FD9-11A4-4597-883C-DE99B07B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5267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Gateway VPS</a:t>
            </a:r>
          </a:p>
        </p:txBody>
      </p:sp>
      <p:sp>
        <p:nvSpPr>
          <p:cNvPr id="22" name="arch-s-3">
            <a:extLst xmlns:a="http://schemas.openxmlformats.org/drawingml/2006/main">
              <a:ext uri="{FF2B5EF4-FFF2-40B4-BE49-F238E27FC236}">
                <a16:creationId xmlns:a16="http://schemas.microsoft.com/office/drawing/2014/main" id="{BF80557C-83D7-4A55-BDDB-E0431A54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6"/>
                </a:solidFill>
              </a:defRPr>
            </a:pPr>
            <a:r>
              <a:rPr sz="1200" b="0">
                <a:solidFill>
                  <a:srgbClr val="CBD5E6"/>
                </a:solidFill>
              </a:rPr>
              <a:t>pull tiap 30 s</a:t>
            </a:r>
          </a:p>
        </p:txBody>
      </p:sp>
      <p:sp>
        <p:nvSpPr>
          <p:cNvPr id="23" name="arch-a-3">
            <a:extLst xmlns:a="http://schemas.openxmlformats.org/drawingml/2006/main">
              <a:ext uri="{FF2B5EF4-FFF2-40B4-BE49-F238E27FC236}">
                <a16:creationId xmlns:a16="http://schemas.microsoft.com/office/drawing/2014/main" id="{9842F3D4-FA8B-4489-BAFE-B4D4AF5D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57450"/>
            <a:ext cx="34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8A929D"/>
                </a:solidFill>
              </a:defRPr>
            </a:pPr>
            <a:r>
              <a:rPr sz="2400" b="0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24" name="arch-4">
            <a:extLst xmlns:a="http://schemas.openxmlformats.org/drawingml/2006/main">
              <a:ext uri="{FF2B5EF4-FFF2-40B4-BE49-F238E27FC236}">
                <a16:creationId xmlns:a16="http://schemas.microsoft.com/office/drawing/2014/main" id="{D0E7E806-9C65-4496-BF22-5840886A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146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5" name="arch-t-4">
            <a:extLst xmlns:a="http://schemas.openxmlformats.org/drawingml/2006/main">
              <a:ext uri="{FF2B5EF4-FFF2-40B4-BE49-F238E27FC236}">
                <a16:creationId xmlns:a16="http://schemas.microsoft.com/office/drawing/2014/main" id="{94576696-9A27-4F68-AC54-01D52266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5267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PostgreSQL</a:t>
            </a:r>
          </a:p>
        </p:txBody>
      </p:sp>
      <p:sp>
        <p:nvSpPr>
          <p:cNvPr id="26" name="arch-s-4">
            <a:extLst xmlns:a="http://schemas.openxmlformats.org/drawingml/2006/main">
              <a:ext uri="{FF2B5EF4-FFF2-40B4-BE49-F238E27FC236}">
                <a16:creationId xmlns:a16="http://schemas.microsoft.com/office/drawing/2014/main" id="{EEF92A33-21F3-42B4-905C-971FDE4A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7 / 90 hari</a:t>
            </a:r>
          </a:p>
        </p:txBody>
      </p:sp>
      <p:sp>
        <p:nvSpPr>
          <p:cNvPr id="27" name="arch-a-4">
            <a:extLst xmlns:a="http://schemas.openxmlformats.org/drawingml/2006/main">
              <a:ext uri="{FF2B5EF4-FFF2-40B4-BE49-F238E27FC236}">
                <a16:creationId xmlns:a16="http://schemas.microsoft.com/office/drawing/2014/main" id="{8A415BF2-62C0-4A70-BA97-9A16EB80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57450"/>
            <a:ext cx="34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8A929D"/>
                </a:solidFill>
              </a:defRPr>
            </a:pPr>
            <a:r>
              <a:rPr sz="2400" b="0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28" name="arch-5">
            <a:extLst xmlns:a="http://schemas.openxmlformats.org/drawingml/2006/main">
              <a:ext uri="{FF2B5EF4-FFF2-40B4-BE49-F238E27FC236}">
                <a16:creationId xmlns:a16="http://schemas.microsoft.com/office/drawing/2014/main" id="{51EBE752-1AE3-4E79-B24E-F0390D0F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146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9" name="arch-t-5">
            <a:extLst xmlns:a="http://schemas.openxmlformats.org/drawingml/2006/main">
              <a:ext uri="{FF2B5EF4-FFF2-40B4-BE49-F238E27FC236}">
                <a16:creationId xmlns:a16="http://schemas.microsoft.com/office/drawing/2014/main" id="{EFB2E042-A778-4992-B239-802D0BFE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5267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HQ Frontend</a:t>
            </a:r>
          </a:p>
        </p:txBody>
      </p:sp>
      <p:sp>
        <p:nvSpPr>
          <p:cNvPr id="30" name="arch-s-5">
            <a:extLst xmlns:a="http://schemas.openxmlformats.org/drawingml/2006/main">
              <a:ext uri="{FF2B5EF4-FFF2-40B4-BE49-F238E27FC236}">
                <a16:creationId xmlns:a16="http://schemas.microsoft.com/office/drawing/2014/main" id="{F5696650-9F73-4867-8EA6-1DFE8A0E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read-only</a:t>
            </a:r>
          </a:p>
        </p:txBody>
      </p:sp>
      <p:sp>
        <p:nvSpPr>
          <p:cNvPr id="31" name="push-proof-bg">
            <a:extLst xmlns:a="http://schemas.openxmlformats.org/drawingml/2006/main">
              <a:ext uri="{FF2B5EF4-FFF2-40B4-BE49-F238E27FC236}">
                <a16:creationId xmlns:a16="http://schemas.microsoft.com/office/drawing/2014/main" id="{14E93CB3-3DA5-4673-9D3F-628D7B26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ush-proof-bar">
            <a:extLst xmlns:a="http://schemas.openxmlformats.org/drawingml/2006/main">
              <a:ext uri="{FF2B5EF4-FFF2-40B4-BE49-F238E27FC236}">
                <a16:creationId xmlns:a16="http://schemas.microsoft.com/office/drawing/2014/main" id="{1449BBDA-EBF5-4DD1-83A9-C9EDE990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ush-proof-label">
            <a:extLst xmlns:a="http://schemas.openxmlformats.org/drawingml/2006/main">
              <a:ext uri="{FF2B5EF4-FFF2-40B4-BE49-F238E27FC236}">
                <a16:creationId xmlns:a16="http://schemas.microsoft.com/office/drawing/2014/main" id="{83433B18-D512-48DE-9284-68025659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VPS RETENTION TARGET</a:t>
            </a:r>
          </a:p>
        </p:txBody>
      </p:sp>
      <p:sp>
        <p:nvSpPr>
          <p:cNvPr id="34" name="push-proof-body">
            <a:extLst xmlns:a="http://schemas.openxmlformats.org/drawingml/2006/main">
              <a:ext uri="{FF2B5EF4-FFF2-40B4-BE49-F238E27FC236}">
                <a16:creationId xmlns:a16="http://schemas.microsoft.com/office/drawing/2014/main" id="{F1B2167A-A564-465F-96F4-85021682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Reading dan non-critical event: 7 hari. Critical event: 90 hari. Final retention policy memerlukan approval Kilang.</a:t>
            </a:r>
          </a:p>
        </p:txBody>
      </p:sp>
      <p:sp>
        <p:nvSpPr>
          <p:cNvPr id="35" name="ai-proof-bg">
            <a:extLst xmlns:a="http://schemas.openxmlformats.org/drawingml/2006/main">
              <a:ext uri="{FF2B5EF4-FFF2-40B4-BE49-F238E27FC236}">
                <a16:creationId xmlns:a16="http://schemas.microsoft.com/office/drawing/2014/main" id="{494A0A80-04DC-4A13-9448-B652F2C6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EB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i-proof-bar">
            <a:extLst xmlns:a="http://schemas.openxmlformats.org/drawingml/2006/main">
              <a:ext uri="{FF2B5EF4-FFF2-40B4-BE49-F238E27FC236}">
                <a16:creationId xmlns:a16="http://schemas.microsoft.com/office/drawing/2014/main" id="{FA788499-D5A9-4219-B818-3AD89B42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ai-proof-label">
            <a:extLst xmlns:a="http://schemas.openxmlformats.org/drawingml/2006/main">
              <a:ext uri="{FF2B5EF4-FFF2-40B4-BE49-F238E27FC236}">
                <a16:creationId xmlns:a16="http://schemas.microsoft.com/office/drawing/2014/main" id="{0BF9509E-F329-4023-A4C3-CECF8297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76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414"/>
                </a:solidFill>
              </a:defRPr>
            </a:pPr>
            <a:r>
              <a:rPr sz="1350" b="1">
                <a:solidFill>
                  <a:srgbClr val="9A6414"/>
                </a:solidFill>
              </a:rPr>
              <a:t>NOT COMMISSIONED</a:t>
            </a:r>
          </a:p>
        </p:txBody>
      </p:sp>
      <p:sp>
        <p:nvSpPr>
          <p:cNvPr id="38" name="ai-proof-body">
            <a:extLst xmlns:a="http://schemas.openxmlformats.org/drawingml/2006/main">
              <a:ext uri="{FF2B5EF4-FFF2-40B4-BE49-F238E27FC236}">
                <a16:creationId xmlns:a16="http://schemas.microsoft.com/office/drawing/2014/main" id="{E46EA426-5C7B-4723-B822-87BC8054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Gateway service tersedia di repo. Production deployment, VPN, credential, DNS, backup, dan monitoring belum diverifikasi.</a:t>
            </a:r>
          </a:p>
        </p:txBody>
      </p:sp>
    </p:spTree>
    <p:extLst>
      <p:ext uri="{BB962C8B-B14F-4D97-AF65-F5344CB8AC3E}">
        <p14:creationId xmlns:p14="http://schemas.microsoft.com/office/powerpoint/2010/main" val="20031294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line-11">
            <a:extLst xmlns:a="http://schemas.openxmlformats.org/drawingml/2006/main">
              <a:ext uri="{FF2B5EF4-FFF2-40B4-BE49-F238E27FC236}">
                <a16:creationId xmlns:a16="http://schemas.microsoft.com/office/drawing/2014/main" id="{68B94CA9-F064-42A7-B2B8-B720989D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F751689C-4972-4292-8F51-B5C2B614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07 · FIELD DEVICE SPECIFICATION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14B94235-FCB1-4851-AB73-6C64924F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GLD Node: hardware, firmware, dan telemetri</a:t>
            </a:r>
          </a:p>
        </p:txBody>
      </p:sp>
      <p:sp>
        <p:nvSpPr>
          <p:cNvPr id="4" name="subtitle-11">
            <a:extLst xmlns:a="http://schemas.openxmlformats.org/drawingml/2006/main">
              <a:ext uri="{FF2B5EF4-FFF2-40B4-BE49-F238E27FC236}">
                <a16:creationId xmlns:a16="http://schemas.microsoft.com/office/drawing/2014/main" id="{BBDDEB9E-1804-401D-B137-704F1DAB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Firmware v0.8.14 • 8-channel MQ acquisition • on-device inference • 24 VDC ≥2 A.</a:t>
            </a:r>
          </a:p>
        </p:txBody>
      </p:sp>
      <p:sp>
        <p:nvSpPr>
          <p:cNvPr id="5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7C794F86-DEC3-4F05-88A9-6AE21086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11">
            <a:extLst xmlns:a="http://schemas.openxmlformats.org/drawingml/2006/main">
              <a:ext uri="{FF2B5EF4-FFF2-40B4-BE49-F238E27FC236}">
                <a16:creationId xmlns:a16="http://schemas.microsoft.com/office/drawing/2014/main" id="{690D932B-C671-43BF-90F7-366340D8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11">
            <a:extLst xmlns:a="http://schemas.openxmlformats.org/drawingml/2006/main">
              <a:ext uri="{FF2B5EF4-FFF2-40B4-BE49-F238E27FC236}">
                <a16:creationId xmlns:a16="http://schemas.microsoft.com/office/drawing/2014/main" id="{EC7A0BDE-ED35-45C9-839A-8374825D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11</a:t>
            </a:r>
          </a:p>
        </p:txBody>
      </p:sp>
      <p:sp>
        <p:nvSpPr>
          <p:cNvPr id="8" name="gld-0-bg">
            <a:extLst xmlns:a="http://schemas.openxmlformats.org/drawingml/2006/main">
              <a:ext uri="{FF2B5EF4-FFF2-40B4-BE49-F238E27FC236}">
                <a16:creationId xmlns:a16="http://schemas.microsoft.com/office/drawing/2014/main" id="{211F7A37-FE6D-40FF-9FDC-B75FD681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219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ld-0-label">
            <a:extLst xmlns:a="http://schemas.openxmlformats.org/drawingml/2006/main">
              <a:ext uri="{FF2B5EF4-FFF2-40B4-BE49-F238E27FC236}">
                <a16:creationId xmlns:a16="http://schemas.microsoft.com/office/drawing/2014/main" id="{10860EC4-F2BE-4221-BBC8-FBC24F9E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MCU</a:t>
            </a:r>
          </a:p>
        </p:txBody>
      </p:sp>
      <p:sp>
        <p:nvSpPr>
          <p:cNvPr id="10" name="gld-0-value">
            <a:extLst xmlns:a="http://schemas.openxmlformats.org/drawingml/2006/main">
              <a:ext uri="{FF2B5EF4-FFF2-40B4-BE49-F238E27FC236}">
                <a16:creationId xmlns:a16="http://schemas.microsoft.com/office/drawing/2014/main" id="{F282B53C-7FCC-4D3B-A8FE-75A37991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ESP32-S3-WROOM-1U-N16R8</a:t>
            </a:r>
          </a:p>
        </p:txBody>
      </p:sp>
      <p:sp>
        <p:nvSpPr>
          <p:cNvPr id="11" name="gld-1-bg">
            <a:extLst xmlns:a="http://schemas.openxmlformats.org/drawingml/2006/main">
              <a:ext uri="{FF2B5EF4-FFF2-40B4-BE49-F238E27FC236}">
                <a16:creationId xmlns:a16="http://schemas.microsoft.com/office/drawing/2014/main" id="{CB23B3EC-EE84-4898-B431-990555B0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3219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ld-1-label">
            <a:extLst xmlns:a="http://schemas.openxmlformats.org/drawingml/2006/main">
              <a:ext uri="{FF2B5EF4-FFF2-40B4-BE49-F238E27FC236}">
                <a16:creationId xmlns:a16="http://schemas.microsoft.com/office/drawing/2014/main" id="{DDC9F3A7-7AD8-48D4-A00A-26D6CE5E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ADC</a:t>
            </a:r>
          </a:p>
        </p:txBody>
      </p:sp>
      <p:sp>
        <p:nvSpPr>
          <p:cNvPr id="13" name="gld-1-value">
            <a:extLst xmlns:a="http://schemas.openxmlformats.org/drawingml/2006/main">
              <a:ext uri="{FF2B5EF4-FFF2-40B4-BE49-F238E27FC236}">
                <a16:creationId xmlns:a16="http://schemas.microsoft.com/office/drawing/2014/main" id="{4628B105-AE07-45B1-AC4A-2E992A3E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4792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ADS1256, 24-bit</a:t>
            </a:r>
          </a:p>
        </p:txBody>
      </p:sp>
      <p:sp>
        <p:nvSpPr>
          <p:cNvPr id="14" name="gld-2-bg">
            <a:extLst xmlns:a="http://schemas.openxmlformats.org/drawingml/2006/main">
              <a:ext uri="{FF2B5EF4-FFF2-40B4-BE49-F238E27FC236}">
                <a16:creationId xmlns:a16="http://schemas.microsoft.com/office/drawing/2014/main" id="{63996ABA-BFC0-497C-8720-963245D0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3219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ld-2-label">
            <a:extLst xmlns:a="http://schemas.openxmlformats.org/drawingml/2006/main">
              <a:ext uri="{FF2B5EF4-FFF2-40B4-BE49-F238E27FC236}">
                <a16:creationId xmlns:a16="http://schemas.microsoft.com/office/drawing/2014/main" id="{A53F657F-6FC1-4008-8AFF-96082134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SENSOR</a:t>
            </a:r>
          </a:p>
        </p:txBody>
      </p:sp>
      <p:sp>
        <p:nvSpPr>
          <p:cNvPr id="16" name="gld-2-value">
            <a:extLst xmlns:a="http://schemas.openxmlformats.org/drawingml/2006/main">
              <a:ext uri="{FF2B5EF4-FFF2-40B4-BE49-F238E27FC236}">
                <a16:creationId xmlns:a16="http://schemas.microsoft.com/office/drawing/2014/main" id="{D73B6B1E-7F2B-40BE-8E72-9187FFD1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4792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8 × MQ</a:t>
            </a:r>
          </a:p>
        </p:txBody>
      </p:sp>
      <p:sp>
        <p:nvSpPr>
          <p:cNvPr id="17" name="gld-3-bg">
            <a:extLst xmlns:a="http://schemas.openxmlformats.org/drawingml/2006/main">
              <a:ext uri="{FF2B5EF4-FFF2-40B4-BE49-F238E27FC236}">
                <a16:creationId xmlns:a16="http://schemas.microsoft.com/office/drawing/2014/main" id="{BC4D4DEA-5E22-4441-A930-2A6708B9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219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ld-3-label">
            <a:extLst xmlns:a="http://schemas.openxmlformats.org/drawingml/2006/main">
              <a:ext uri="{FF2B5EF4-FFF2-40B4-BE49-F238E27FC236}">
                <a16:creationId xmlns:a16="http://schemas.microsoft.com/office/drawing/2014/main" id="{092B0AD5-795A-4272-AD8D-8C7653C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TELEMETRI</a:t>
            </a:r>
          </a:p>
        </p:txBody>
      </p:sp>
      <p:sp>
        <p:nvSpPr>
          <p:cNvPr id="19" name="gld-3-value">
            <a:extLst xmlns:a="http://schemas.openxmlformats.org/drawingml/2006/main">
              <a:ext uri="{FF2B5EF4-FFF2-40B4-BE49-F238E27FC236}">
                <a16:creationId xmlns:a16="http://schemas.microsoft.com/office/drawing/2014/main" id="{F0C72B1D-2132-47EB-AF6F-74DCA0F7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LoRa tiap 10 detik</a:t>
            </a:r>
          </a:p>
        </p:txBody>
      </p:sp>
      <p:sp>
        <p:nvSpPr>
          <p:cNvPr id="20" name="gld-4-bg">
            <a:extLst xmlns:a="http://schemas.openxmlformats.org/drawingml/2006/main">
              <a:ext uri="{FF2B5EF4-FFF2-40B4-BE49-F238E27FC236}">
                <a16:creationId xmlns:a16="http://schemas.microsoft.com/office/drawing/2014/main" id="{3CA4ED86-AC0A-44F3-8069-D5CA35C4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3219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ld-4-label">
            <a:extLst xmlns:a="http://schemas.openxmlformats.org/drawingml/2006/main">
              <a:ext uri="{FF2B5EF4-FFF2-40B4-BE49-F238E27FC236}">
                <a16:creationId xmlns:a16="http://schemas.microsoft.com/office/drawing/2014/main" id="{76093D8B-8032-40BB-9B34-F269FF72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3E35"/>
                </a:solidFill>
              </a:defRPr>
            </a:pPr>
            <a:r>
              <a:rPr sz="1125" b="1">
                <a:solidFill>
                  <a:srgbClr val="AF3E35"/>
                </a:solidFill>
              </a:rPr>
              <a:t>ALARM</a:t>
            </a:r>
          </a:p>
        </p:txBody>
      </p:sp>
      <p:sp>
        <p:nvSpPr>
          <p:cNvPr id="22" name="gld-4-value">
            <a:extLst xmlns:a="http://schemas.openxmlformats.org/drawingml/2006/main">
              <a:ext uri="{FF2B5EF4-FFF2-40B4-BE49-F238E27FC236}">
                <a16:creationId xmlns:a16="http://schemas.microsoft.com/office/drawing/2014/main" id="{FC32EB8F-9295-4CD6-A1EC-DDABE5C9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2902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gasClass ≠ 0; confidence ≥30%</a:t>
            </a:r>
          </a:p>
        </p:txBody>
      </p:sp>
      <p:sp>
        <p:nvSpPr>
          <p:cNvPr id="23" name="gld-5-bg">
            <a:extLst xmlns:a="http://schemas.openxmlformats.org/drawingml/2006/main">
              <a:ext uri="{FF2B5EF4-FFF2-40B4-BE49-F238E27FC236}">
                <a16:creationId xmlns:a16="http://schemas.microsoft.com/office/drawing/2014/main" id="{EB51AD50-97BC-46C2-BBD4-9EC2F086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3219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ld-5-label">
            <a:extLst xmlns:a="http://schemas.openxmlformats.org/drawingml/2006/main">
              <a:ext uri="{FF2B5EF4-FFF2-40B4-BE49-F238E27FC236}">
                <a16:creationId xmlns:a16="http://schemas.microsoft.com/office/drawing/2014/main" id="{70167632-D793-4355-99CA-288BC07B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KEAMANAN FRAME</a:t>
            </a:r>
          </a:p>
        </p:txBody>
      </p:sp>
      <p:sp>
        <p:nvSpPr>
          <p:cNvPr id="25" name="gld-5-value">
            <a:extLst xmlns:a="http://schemas.openxmlformats.org/drawingml/2006/main">
              <a:ext uri="{FF2B5EF4-FFF2-40B4-BE49-F238E27FC236}">
                <a16:creationId xmlns:a16="http://schemas.microsoft.com/office/drawing/2014/main" id="{0717B6BC-2FE8-4443-80A4-A1FA53F9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2902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AES-128-GCM, 39 byte</a:t>
            </a:r>
          </a:p>
        </p:txBody>
      </p:sp>
      <p:sp>
        <p:nvSpPr>
          <p:cNvPr id="26" name="gld-6-bg">
            <a:extLst xmlns:a="http://schemas.openxmlformats.org/drawingml/2006/main">
              <a:ext uri="{FF2B5EF4-FFF2-40B4-BE49-F238E27FC236}">
                <a16:creationId xmlns:a16="http://schemas.microsoft.com/office/drawing/2014/main" id="{16C69832-9371-47BF-8CB3-4F19CC4B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219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ld-6-label">
            <a:extLst xmlns:a="http://schemas.openxmlformats.org/drawingml/2006/main">
              <a:ext uri="{FF2B5EF4-FFF2-40B4-BE49-F238E27FC236}">
                <a16:creationId xmlns:a16="http://schemas.microsoft.com/office/drawing/2014/main" id="{F10880A2-F1E6-4FDC-B659-E55A41F4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AI</a:t>
            </a:r>
          </a:p>
        </p:txBody>
      </p:sp>
      <p:sp>
        <p:nvSpPr>
          <p:cNvPr id="28" name="gld-6-value">
            <a:extLst xmlns:a="http://schemas.openxmlformats.org/drawingml/2006/main">
              <a:ext uri="{FF2B5EF4-FFF2-40B4-BE49-F238E27FC236}">
                <a16:creationId xmlns:a16="http://schemas.microsoft.com/office/drawing/2014/main" id="{7C4F5EFF-0D5A-4119-A329-08C3CF51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CNN Dual-Branch, int8</a:t>
            </a:r>
          </a:p>
        </p:txBody>
      </p:sp>
      <p:sp>
        <p:nvSpPr>
          <p:cNvPr id="29" name="gld-7-bg">
            <a:extLst xmlns:a="http://schemas.openxmlformats.org/drawingml/2006/main">
              <a:ext uri="{FF2B5EF4-FFF2-40B4-BE49-F238E27FC236}">
                <a16:creationId xmlns:a16="http://schemas.microsoft.com/office/drawing/2014/main" id="{478B9BC5-7776-4213-90F0-BBB96159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38650"/>
            <a:ext cx="3219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ld-7-label">
            <a:extLst xmlns:a="http://schemas.openxmlformats.org/drawingml/2006/main">
              <a:ext uri="{FF2B5EF4-FFF2-40B4-BE49-F238E27FC236}">
                <a16:creationId xmlns:a16="http://schemas.microsoft.com/office/drawing/2014/main" id="{2578EF59-DC58-4719-824A-C1BAB8A6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52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7A55"/>
                </a:solidFill>
              </a:defRPr>
            </a:pPr>
            <a:r>
              <a:rPr sz="1125" b="1">
                <a:solidFill>
                  <a:srgbClr val="277A55"/>
                </a:solidFill>
              </a:rPr>
              <a:t>CATU DAYA</a:t>
            </a:r>
          </a:p>
        </p:txBody>
      </p:sp>
      <p:sp>
        <p:nvSpPr>
          <p:cNvPr id="31" name="gld-7-value">
            <a:extLst xmlns:a="http://schemas.openxmlformats.org/drawingml/2006/main">
              <a:ext uri="{FF2B5EF4-FFF2-40B4-BE49-F238E27FC236}">
                <a16:creationId xmlns:a16="http://schemas.microsoft.com/office/drawing/2014/main" id="{6C22F09E-8450-4715-A302-B338C56D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012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24VDC ≥2A per unit</a:t>
            </a:r>
          </a:p>
        </p:txBody>
      </p:sp>
      <p:sp>
        <p:nvSpPr>
          <p:cNvPr id="32" name="gld-8-bg">
            <a:extLst xmlns:a="http://schemas.openxmlformats.org/drawingml/2006/main">
              <a:ext uri="{FF2B5EF4-FFF2-40B4-BE49-F238E27FC236}">
                <a16:creationId xmlns:a16="http://schemas.microsoft.com/office/drawing/2014/main" id="{D282BFD6-A136-439F-B730-6EABF722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38650"/>
            <a:ext cx="3219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ld-8-label">
            <a:extLst xmlns:a="http://schemas.openxmlformats.org/drawingml/2006/main">
              <a:ext uri="{FF2B5EF4-FFF2-40B4-BE49-F238E27FC236}">
                <a16:creationId xmlns:a16="http://schemas.microsoft.com/office/drawing/2014/main" id="{519CF19F-6C88-489D-A6AE-FA2794CC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MOUNTING</a:t>
            </a:r>
          </a:p>
        </p:txBody>
      </p:sp>
      <p:sp>
        <p:nvSpPr>
          <p:cNvPr id="34" name="gld-8-value">
            <a:extLst xmlns:a="http://schemas.openxmlformats.org/drawingml/2006/main">
              <a:ext uri="{FF2B5EF4-FFF2-40B4-BE49-F238E27FC236}">
                <a16:creationId xmlns:a16="http://schemas.microsoft.com/office/drawing/2014/main" id="{E6140B91-E78B-4497-944F-05557199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012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L-bracket referensi Emerson</a:t>
            </a:r>
          </a:p>
        </p:txBody>
      </p:sp>
      <p:sp>
        <p:nvSpPr>
          <p:cNvPr id="35" name="gld-caveat">
            <a:extLst xmlns:a="http://schemas.openxmlformats.org/drawingml/2006/main">
              <a:ext uri="{FF2B5EF4-FFF2-40B4-BE49-F238E27FC236}">
                <a16:creationId xmlns:a16="http://schemas.microsoft.com/office/drawing/2014/main" id="{8A640B68-D347-457A-9197-DA86C3C1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* 99,20% berasal dari laporan model int8. On-device execution memerlukan traceability ke firmware commit dan binary release.</a:t>
            </a:r>
          </a:p>
        </p:txBody>
      </p:sp>
    </p:spTree>
    <p:extLst>
      <p:ext uri="{BB962C8B-B14F-4D97-AF65-F5344CB8AC3E}">
        <p14:creationId xmlns:p14="http://schemas.microsoft.com/office/powerpoint/2010/main" val="774200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line-12">
            <a:extLst xmlns:a="http://schemas.openxmlformats.org/drawingml/2006/main">
              <a:ext uri="{FF2B5EF4-FFF2-40B4-BE49-F238E27FC236}">
                <a16:creationId xmlns:a16="http://schemas.microsoft.com/office/drawing/2014/main" id="{79857E57-844A-4DD7-89F8-5361A335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872A1456-32A8-407A-8463-EA5130DF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07 · FIELD DEVICE SPECIFICATION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955F5C6D-362C-4A3F-8E22-39F85B8B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Cluster Head dan Gateway — functional specification</a:t>
            </a:r>
          </a:p>
        </p:txBody>
      </p:sp>
      <p:sp>
        <p:nvSpPr>
          <p:cNvPr id="4" name="subtitle-12">
            <a:extLst xmlns:a="http://schemas.openxmlformats.org/drawingml/2006/main">
              <a:ext uri="{FF2B5EF4-FFF2-40B4-BE49-F238E27FC236}">
                <a16:creationId xmlns:a16="http://schemas.microsoft.com/office/drawing/2014/main" id="{2FF4E2BD-30DF-4FA0-B365-74B336AE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Cluster Head menyediakan cache/relay LoRa; Gateway menyediakan LoRa-to-MQTT bridge. Seluruh buffer bersifat volatile.</a:t>
            </a:r>
          </a:p>
        </p:txBody>
      </p:sp>
      <p:sp>
        <p:nvSpPr>
          <p:cNvPr id="5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325809EF-8840-40D7-B2C6-9DC62102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12">
            <a:extLst xmlns:a="http://schemas.openxmlformats.org/drawingml/2006/main">
              <a:ext uri="{FF2B5EF4-FFF2-40B4-BE49-F238E27FC236}">
                <a16:creationId xmlns:a16="http://schemas.microsoft.com/office/drawing/2014/main" id="{A537F7B7-7F7D-43CD-9570-3673B438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12">
            <a:extLst xmlns:a="http://schemas.openxmlformats.org/drawingml/2006/main">
              <a:ext uri="{FF2B5EF4-FFF2-40B4-BE49-F238E27FC236}">
                <a16:creationId xmlns:a16="http://schemas.microsoft.com/office/drawing/2014/main" id="{7CC4053A-6AFD-475F-8F2C-2CE7215B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12</a:t>
            </a:r>
          </a:p>
        </p:txBody>
      </p:sp>
      <p:sp>
        <p:nvSpPr>
          <p:cNvPr id="8" name="split">
            <a:extLst xmlns:a="http://schemas.openxmlformats.org/drawingml/2006/main">
              <a:ext uri="{FF2B5EF4-FFF2-40B4-BE49-F238E27FC236}">
                <a16:creationId xmlns:a16="http://schemas.microsoft.com/office/drawing/2014/main" id="{3FCAEA8C-96BA-46C9-AFF5-C8233E31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190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-head">
            <a:extLst xmlns:a="http://schemas.openxmlformats.org/drawingml/2006/main">
              <a:ext uri="{FF2B5EF4-FFF2-40B4-BE49-F238E27FC236}">
                <a16:creationId xmlns:a16="http://schemas.microsoft.com/office/drawing/2014/main" id="{674FE5F5-42A6-49E3-812C-79E7B333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7C5"/>
                </a:solidFill>
              </a:defRPr>
            </a:pPr>
            <a:r>
              <a:rPr sz="2100" b="1">
                <a:solidFill>
                  <a:srgbClr val="2457C5"/>
                </a:solidFill>
              </a:rPr>
              <a:t>CLUSTER HEAD</a:t>
            </a:r>
          </a:p>
        </p:txBody>
      </p:sp>
      <p:sp>
        <p:nvSpPr>
          <p:cNvPr id="10" name="gw-head">
            <a:extLst xmlns:a="http://schemas.openxmlformats.org/drawingml/2006/main">
              <a:ext uri="{FF2B5EF4-FFF2-40B4-BE49-F238E27FC236}">
                <a16:creationId xmlns:a16="http://schemas.microsoft.com/office/drawing/2014/main" id="{BB811830-6416-434A-B45F-F64B6802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7C5"/>
                </a:solidFill>
              </a:defRPr>
            </a:pPr>
            <a:r>
              <a:rPr sz="2100" b="1">
                <a:solidFill>
                  <a:srgbClr val="2457C5"/>
                </a:solidFill>
              </a:rPr>
              <a:t>GATEWAY</a:t>
            </a:r>
          </a:p>
        </p:txBody>
      </p:sp>
      <p:sp>
        <p:nvSpPr>
          <p:cNvPr id="11" name="dot-88-288">
            <a:extLst xmlns:a="http://schemas.openxmlformats.org/drawingml/2006/main">
              <a:ext uri="{FF2B5EF4-FFF2-40B4-BE49-F238E27FC236}">
                <a16:creationId xmlns:a16="http://schemas.microsoft.com/office/drawing/2014/main" id="{968F2420-4440-45E5-9519-AEEC7F5C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-0-title">
            <a:extLst xmlns:a="http://schemas.openxmlformats.org/drawingml/2006/main">
              <a:ext uri="{FF2B5EF4-FFF2-40B4-BE49-F238E27FC236}">
                <a16:creationId xmlns:a16="http://schemas.microsoft.com/office/drawing/2014/main" id="{325C7190-FAF9-4941-9228-6CC261CC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Dual SX1262</a:t>
            </a:r>
          </a:p>
        </p:txBody>
      </p:sp>
      <p:sp>
        <p:nvSpPr>
          <p:cNvPr id="13" name="ch-0-detail">
            <a:extLst xmlns:a="http://schemas.openxmlformats.org/drawingml/2006/main">
              <a:ext uri="{FF2B5EF4-FFF2-40B4-BE49-F238E27FC236}">
                <a16:creationId xmlns:a16="http://schemas.microsoft.com/office/drawing/2014/main" id="{FD30A77A-3747-4D4A-8408-372BAC7A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STAR ke GLD + MESH ke CH/Gateway</a:t>
            </a:r>
          </a:p>
        </p:txBody>
      </p:sp>
      <p:sp>
        <p:nvSpPr>
          <p:cNvPr id="14" name="dot-88-364">
            <a:extLst xmlns:a="http://schemas.openxmlformats.org/drawingml/2006/main">
              <a:ext uri="{FF2B5EF4-FFF2-40B4-BE49-F238E27FC236}">
                <a16:creationId xmlns:a16="http://schemas.microsoft.com/office/drawing/2014/main" id="{305D0335-D7C2-485E-8F24-8B5677B6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-1-title">
            <a:extLst xmlns:a="http://schemas.openxmlformats.org/drawingml/2006/main">
              <a:ext uri="{FF2B5EF4-FFF2-40B4-BE49-F238E27FC236}">
                <a16:creationId xmlns:a16="http://schemas.microsoft.com/office/drawing/2014/main" id="{BDA22452-00C6-4215-901A-459862B1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Cache 32 node</a:t>
            </a:r>
          </a:p>
        </p:txBody>
      </p:sp>
      <p:sp>
        <p:nvSpPr>
          <p:cNvPr id="16" name="ch-1-detail">
            <a:extLst xmlns:a="http://schemas.openxmlformats.org/drawingml/2006/main">
              <a:ext uri="{FF2B5EF4-FFF2-40B4-BE49-F238E27FC236}">
                <a16:creationId xmlns:a16="http://schemas.microsoft.com/office/drawing/2014/main" id="{0F9ED794-5319-435A-B011-2D5F25FE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Failover parent otomatis berbasis RSSI</a:t>
            </a:r>
          </a:p>
        </p:txBody>
      </p:sp>
      <p:sp>
        <p:nvSpPr>
          <p:cNvPr id="17" name="dot-88-440">
            <a:extLst xmlns:a="http://schemas.openxmlformats.org/drawingml/2006/main">
              <a:ext uri="{FF2B5EF4-FFF2-40B4-BE49-F238E27FC236}">
                <a16:creationId xmlns:a16="http://schemas.microsoft.com/office/drawing/2014/main" id="{9090BF1B-CBB3-4376-86E8-339F0CF1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-2-title">
            <a:extLst xmlns:a="http://schemas.openxmlformats.org/drawingml/2006/main">
              <a:ext uri="{FF2B5EF4-FFF2-40B4-BE49-F238E27FC236}">
                <a16:creationId xmlns:a16="http://schemas.microsoft.com/office/drawing/2014/main" id="{78818BEA-4BBE-4C32-8E61-50382AF5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2 panel solar + 18650</a:t>
            </a:r>
          </a:p>
        </p:txBody>
      </p:sp>
      <p:sp>
        <p:nvSpPr>
          <p:cNvPr id="19" name="ch-2-detail">
            <a:extLst xmlns:a="http://schemas.openxmlformats.org/drawingml/2006/main">
              <a:ext uri="{FF2B5EF4-FFF2-40B4-BE49-F238E27FC236}">
                <a16:creationId xmlns:a16="http://schemas.microsoft.com/office/drawing/2014/main" id="{A932A435-E1ED-4F7F-B23A-C327B140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Surplus daya 1,5–4,4 Wh/hari</a:t>
            </a:r>
          </a:p>
        </p:txBody>
      </p:sp>
      <p:sp>
        <p:nvSpPr>
          <p:cNvPr id="20" name="dot-88-516">
            <a:extLst xmlns:a="http://schemas.openxmlformats.org/drawingml/2006/main">
              <a:ext uri="{FF2B5EF4-FFF2-40B4-BE49-F238E27FC236}">
                <a16:creationId xmlns:a16="http://schemas.microsoft.com/office/drawing/2014/main" id="{017F0125-E8B3-4A11-AA36-05AA3288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-3-title">
            <a:extLst xmlns:a="http://schemas.openxmlformats.org/drawingml/2006/main">
              <a:ext uri="{FF2B5EF4-FFF2-40B4-BE49-F238E27FC236}">
                <a16:creationId xmlns:a16="http://schemas.microsoft.com/office/drawing/2014/main" id="{106B6FF6-AC69-4B46-A511-6B7B587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16 unit tersedia</a:t>
            </a:r>
          </a:p>
        </p:txBody>
      </p:sp>
      <p:sp>
        <p:nvSpPr>
          <p:cNvPr id="22" name="ch-3-detail">
            <a:extLst xmlns:a="http://schemas.openxmlformats.org/drawingml/2006/main">
              <a:ext uri="{FF2B5EF4-FFF2-40B4-BE49-F238E27FC236}">
                <a16:creationId xmlns:a16="http://schemas.microsoft.com/office/drawing/2014/main" id="{84D3B55C-5518-4C8B-88D6-1BF9FC7E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9 CH besar + 7 CH kecil</a:t>
            </a:r>
          </a:p>
        </p:txBody>
      </p:sp>
      <p:sp>
        <p:nvSpPr>
          <p:cNvPr id="23" name="dot-682-288">
            <a:extLst xmlns:a="http://schemas.openxmlformats.org/drawingml/2006/main">
              <a:ext uri="{FF2B5EF4-FFF2-40B4-BE49-F238E27FC236}">
                <a16:creationId xmlns:a16="http://schemas.microsoft.com/office/drawing/2014/main" id="{057DBC50-85B5-4335-A1C9-E96B985B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w-0-title">
            <a:extLst xmlns:a="http://schemas.openxmlformats.org/drawingml/2006/main">
              <a:ext uri="{FF2B5EF4-FFF2-40B4-BE49-F238E27FC236}">
                <a16:creationId xmlns:a16="http://schemas.microsoft.com/office/drawing/2014/main" id="{19D514C1-BE4A-4E6C-A98B-CBD04E50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670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Radio mesh 921,0 MHz</a:t>
            </a:r>
          </a:p>
        </p:txBody>
      </p:sp>
      <p:sp>
        <p:nvSpPr>
          <p:cNvPr id="25" name="gw-0-detail">
            <a:extLst xmlns:a="http://schemas.openxmlformats.org/drawingml/2006/main">
              <a:ext uri="{FF2B5EF4-FFF2-40B4-BE49-F238E27FC236}">
                <a16:creationId xmlns:a16="http://schemas.microsoft.com/office/drawing/2014/main" id="{6187C4A5-47C7-4115-AF89-852F396F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52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SF9 • 17 dBm</a:t>
            </a:r>
          </a:p>
        </p:txBody>
      </p:sp>
      <p:sp>
        <p:nvSpPr>
          <p:cNvPr id="26" name="dot-682-364">
            <a:extLst xmlns:a="http://schemas.openxmlformats.org/drawingml/2006/main">
              <a:ext uri="{FF2B5EF4-FFF2-40B4-BE49-F238E27FC236}">
                <a16:creationId xmlns:a16="http://schemas.microsoft.com/office/drawing/2014/main" id="{9D09A80C-B6B2-40DA-ACBE-2A0664D4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w-1-title">
            <a:extLst xmlns:a="http://schemas.openxmlformats.org/drawingml/2006/main">
              <a:ext uri="{FF2B5EF4-FFF2-40B4-BE49-F238E27FC236}">
                <a16:creationId xmlns:a16="http://schemas.microsoft.com/office/drawing/2014/main" id="{B75BCEF0-3880-413F-A07A-5C77EA6F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Bridge Wi-Fi/LAN ke MQTT</a:t>
            </a:r>
          </a:p>
        </p:txBody>
      </p:sp>
      <p:sp>
        <p:nvSpPr>
          <p:cNvPr id="28" name="gw-1-detail">
            <a:extLst xmlns:a="http://schemas.openxmlformats.org/drawingml/2006/main">
              <a:ext uri="{FF2B5EF4-FFF2-40B4-BE49-F238E27FC236}">
                <a16:creationId xmlns:a16="http://schemas.microsoft.com/office/drawing/2014/main" id="{F3307589-8EAA-4ADE-BD0C-3798A44D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766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MAC didaftarkan; satu subnet dengan server</a:t>
            </a:r>
          </a:p>
        </p:txBody>
      </p:sp>
      <p:sp>
        <p:nvSpPr>
          <p:cNvPr id="29" name="dot-682-440">
            <a:extLst xmlns:a="http://schemas.openxmlformats.org/drawingml/2006/main">
              <a:ext uri="{FF2B5EF4-FFF2-40B4-BE49-F238E27FC236}">
                <a16:creationId xmlns:a16="http://schemas.microsoft.com/office/drawing/2014/main" id="{6F501090-EF4D-4996-89A2-BAF1FF79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w-2-title">
            <a:extLst xmlns:a="http://schemas.openxmlformats.org/drawingml/2006/main">
              <a:ext uri="{FF2B5EF4-FFF2-40B4-BE49-F238E27FC236}">
                <a16:creationId xmlns:a16="http://schemas.microsoft.com/office/drawing/2014/main" id="{775062FD-D5BA-43F6-B474-998FE9A8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Buffer 8 item RAM</a:t>
            </a:r>
          </a:p>
        </p:txBody>
      </p:sp>
      <p:sp>
        <p:nvSpPr>
          <p:cNvPr id="31" name="gw-2-detail">
            <a:extLst xmlns:a="http://schemas.openxmlformats.org/drawingml/2006/main">
              <a:ext uri="{FF2B5EF4-FFF2-40B4-BE49-F238E27FC236}">
                <a16:creationId xmlns:a16="http://schemas.microsoft.com/office/drawing/2014/main" id="{3E557E23-A906-47CE-9DF7-439F89CD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005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Volatil, bukan penyimpanan permanen</a:t>
            </a:r>
          </a:p>
        </p:txBody>
      </p:sp>
      <p:sp>
        <p:nvSpPr>
          <p:cNvPr id="32" name="dot-682-516">
            <a:extLst xmlns:a="http://schemas.openxmlformats.org/drawingml/2006/main">
              <a:ext uri="{FF2B5EF4-FFF2-40B4-BE49-F238E27FC236}">
                <a16:creationId xmlns:a16="http://schemas.microsoft.com/office/drawing/2014/main" id="{FCF6A3F4-FA8E-41AB-BD27-712ADD70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w-3-title">
            <a:extLst xmlns:a="http://schemas.openxmlformats.org/drawingml/2006/main">
              <a:ext uri="{FF2B5EF4-FFF2-40B4-BE49-F238E27FC236}">
                <a16:creationId xmlns:a16="http://schemas.microsoft.com/office/drawing/2014/main" id="{FD294D66-3E3C-42B6-A3C4-408763AC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387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Unit indoor</a:t>
            </a:r>
          </a:p>
        </p:txBody>
      </p:sp>
      <p:sp>
        <p:nvSpPr>
          <p:cNvPr id="34" name="gw-3-detail">
            <a:extLst xmlns:a="http://schemas.openxmlformats.org/drawingml/2006/main">
              <a:ext uri="{FF2B5EF4-FFF2-40B4-BE49-F238E27FC236}">
                <a16:creationId xmlns:a16="http://schemas.microsoft.com/office/drawing/2014/main" id="{6ECAD7BB-F562-478C-9548-8867CB92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244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Antena ditempatkan outdoor/rooftop</a:t>
            </a:r>
          </a:p>
        </p:txBody>
      </p:sp>
      <p:sp>
        <p:nvSpPr>
          <p:cNvPr id="35" name="capacity-bg">
            <a:extLst xmlns:a="http://schemas.openxmlformats.org/drawingml/2006/main">
              <a:ext uri="{FF2B5EF4-FFF2-40B4-BE49-F238E27FC236}">
                <a16:creationId xmlns:a16="http://schemas.microsoft.com/office/drawing/2014/main" id="{9DD57EE7-2620-4522-AF41-54B67436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EB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apacity-bar">
            <a:extLst xmlns:a="http://schemas.openxmlformats.org/drawingml/2006/main">
              <a:ext uri="{FF2B5EF4-FFF2-40B4-BE49-F238E27FC236}">
                <a16:creationId xmlns:a16="http://schemas.microsoft.com/office/drawing/2014/main" id="{A7E67C68-E616-48B4-A826-1C92D91F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apacity-label">
            <a:extLst xmlns:a="http://schemas.openxmlformats.org/drawingml/2006/main">
              <a:ext uri="{FF2B5EF4-FFF2-40B4-BE49-F238E27FC236}">
                <a16:creationId xmlns:a16="http://schemas.microsoft.com/office/drawing/2014/main" id="{4B1ABC9F-260A-42E7-B873-CCF7EF3B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388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414"/>
                </a:solidFill>
              </a:defRPr>
            </a:pPr>
            <a:r>
              <a:rPr sz="1350" b="1">
                <a:solidFill>
                  <a:srgbClr val="9A6414"/>
                </a:solidFill>
              </a:rPr>
              <a:t>CAPACITY LIMIT — OPEN</a:t>
            </a:r>
          </a:p>
        </p:txBody>
      </p:sp>
      <p:sp>
        <p:nvSpPr>
          <p:cNvPr id="38" name="capacity-body">
            <a:extLst xmlns:a="http://schemas.openxmlformats.org/drawingml/2006/main">
              <a:ext uri="{FF2B5EF4-FFF2-40B4-BE49-F238E27FC236}">
                <a16:creationId xmlns:a16="http://schemas.microsoft.com/office/drawing/2014/main" id="{9C90F8D6-A4B8-47E8-862F-D9B4B64A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790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Maximum supported GLD Node per Cluster Head dan per Gateway belum ditetapkan melalui load test.</a:t>
            </a:r>
          </a:p>
        </p:txBody>
      </p:sp>
    </p:spTree>
    <p:extLst>
      <p:ext uri="{BB962C8B-B14F-4D97-AF65-F5344CB8AC3E}">
        <p14:creationId xmlns:p14="http://schemas.microsoft.com/office/powerpoint/2010/main" val="5328411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line-13">
            <a:extLst xmlns:a="http://schemas.openxmlformats.org/drawingml/2006/main">
              <a:ext uri="{FF2B5EF4-FFF2-40B4-BE49-F238E27FC236}">
                <a16:creationId xmlns:a16="http://schemas.microsoft.com/office/drawing/2014/main" id="{C08589FD-D941-4727-97EE-F1052ABF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89021850-5B35-466D-AE28-287B9928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08 · RF SPECIFICATION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DCAC0C2F-CF91-400A-B772-C883AF83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STAR dan MESH menggunakan domain radio terpisah</a:t>
            </a:r>
          </a:p>
        </p:txBody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E7AC940C-11DF-47E5-AF63-E3E6DD85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Frekuensi, spreading factor, dan sync word dikonfigurasi berbeda untuk mengisolasi kedua link.</a:t>
            </a:r>
          </a:p>
        </p:txBody>
      </p:sp>
      <p:sp>
        <p:nvSpPr>
          <p:cNvPr id="5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ABCACEFA-4A39-4F0B-BC26-58DC4B29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13">
            <a:extLst xmlns:a="http://schemas.openxmlformats.org/drawingml/2006/main">
              <a:ext uri="{FF2B5EF4-FFF2-40B4-BE49-F238E27FC236}">
                <a16:creationId xmlns:a16="http://schemas.microsoft.com/office/drawing/2014/main" id="{74D3732D-5DA2-4063-A15D-86B8120D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13">
            <a:extLst xmlns:a="http://schemas.openxmlformats.org/drawingml/2006/main">
              <a:ext uri="{FF2B5EF4-FFF2-40B4-BE49-F238E27FC236}">
                <a16:creationId xmlns:a16="http://schemas.microsoft.com/office/drawing/2014/main" id="{5F64000A-460C-4A96-B5CD-27F3D0D2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13</a:t>
            </a:r>
          </a:p>
        </p:txBody>
      </p:sp>
      <p:sp>
        <p:nvSpPr>
          <p:cNvPr id="8" name="radio-h1">
            <a:extLst xmlns:a="http://schemas.openxmlformats.org/drawingml/2006/main">
              <a:ext uri="{FF2B5EF4-FFF2-40B4-BE49-F238E27FC236}">
                <a16:creationId xmlns:a16="http://schemas.microsoft.com/office/drawing/2014/main" id="{968B4EC0-C91D-4074-BE01-2340AE87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929D"/>
                </a:solidFill>
              </a:defRPr>
            </a:pPr>
            <a:r>
              <a:rPr sz="1350" b="1">
                <a:solidFill>
                  <a:srgbClr val="8A929D"/>
                </a:solidFill>
              </a:rPr>
              <a:t>PARAMETER</a:t>
            </a:r>
          </a:p>
        </p:txBody>
      </p:sp>
      <p:sp>
        <p:nvSpPr>
          <p:cNvPr id="9" name="radio-h2">
            <a:extLst xmlns:a="http://schemas.openxmlformats.org/drawingml/2006/main">
              <a:ext uri="{FF2B5EF4-FFF2-40B4-BE49-F238E27FC236}">
                <a16:creationId xmlns:a16="http://schemas.microsoft.com/office/drawing/2014/main" id="{ADE65554-6649-4A2F-B74F-4609DB21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288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STAR — GLD ↔ CH</a:t>
            </a:r>
          </a:p>
        </p:txBody>
      </p:sp>
      <p:sp>
        <p:nvSpPr>
          <p:cNvPr id="10" name="radio-h3">
            <a:extLst xmlns:a="http://schemas.openxmlformats.org/drawingml/2006/main">
              <a:ext uri="{FF2B5EF4-FFF2-40B4-BE49-F238E27FC236}">
                <a16:creationId xmlns:a16="http://schemas.microsoft.com/office/drawing/2014/main" id="{CE061972-4443-4E3C-9660-DD734D4E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288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6F"/>
                </a:solidFill>
              </a:defRPr>
            </a:pPr>
            <a:r>
              <a:rPr sz="1350" b="1">
                <a:solidFill>
                  <a:srgbClr val="17356F"/>
                </a:solidFill>
              </a:rPr>
              <a:t>MESH — CH ↔ GW</a:t>
            </a:r>
          </a:p>
        </p:txBody>
      </p:sp>
      <p:sp>
        <p:nvSpPr>
          <p:cNvPr id="11" name="radio-line-0">
            <a:extLst xmlns:a="http://schemas.openxmlformats.org/drawingml/2006/main">
              <a:ext uri="{FF2B5EF4-FFF2-40B4-BE49-F238E27FC236}">
                <a16:creationId xmlns:a16="http://schemas.microsoft.com/office/drawing/2014/main" id="{3211413E-9991-4A08-8B8D-AFD7CE23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p-0">
            <a:extLst xmlns:a="http://schemas.openxmlformats.org/drawingml/2006/main">
              <a:ext uri="{FF2B5EF4-FFF2-40B4-BE49-F238E27FC236}">
                <a16:creationId xmlns:a16="http://schemas.microsoft.com/office/drawing/2014/main" id="{D4B58105-197F-4207-8E7A-E994FBBF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</a:defRPr>
            </a:pPr>
            <a:r>
              <a:rPr sz="1500" b="1">
                <a:solidFill>
                  <a:srgbClr val="171A1F"/>
                </a:solidFill>
              </a:rPr>
              <a:t>Frekuensi</a:t>
            </a:r>
          </a:p>
        </p:txBody>
      </p:sp>
      <p:sp>
        <p:nvSpPr>
          <p:cNvPr id="13" name="rs-0">
            <a:extLst xmlns:a="http://schemas.openxmlformats.org/drawingml/2006/main">
              <a:ext uri="{FF2B5EF4-FFF2-40B4-BE49-F238E27FC236}">
                <a16:creationId xmlns:a16="http://schemas.microsoft.com/office/drawing/2014/main" id="{10B8A531-6323-46EF-9CA4-40311A12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</a:defRPr>
            </a:pPr>
            <a:r>
              <a:rPr sz="1575" b="0">
                <a:solidFill>
                  <a:srgbClr val="171A1F"/>
                </a:solidFill>
              </a:rPr>
              <a:t>920,0 MHz</a:t>
            </a:r>
          </a:p>
        </p:txBody>
      </p:sp>
      <p:sp>
        <p:nvSpPr>
          <p:cNvPr id="14" name="rm-0">
            <a:extLst xmlns:a="http://schemas.openxmlformats.org/drawingml/2006/main">
              <a:ext uri="{FF2B5EF4-FFF2-40B4-BE49-F238E27FC236}">
                <a16:creationId xmlns:a16="http://schemas.microsoft.com/office/drawing/2014/main" id="{03454ED7-6AAD-4327-96BD-C5529289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</a:defRPr>
            </a:pPr>
            <a:r>
              <a:rPr sz="1575" b="0">
                <a:solidFill>
                  <a:srgbClr val="171A1F"/>
                </a:solidFill>
              </a:rPr>
              <a:t>921,0 MHz</a:t>
            </a:r>
          </a:p>
        </p:txBody>
      </p:sp>
      <p:sp>
        <p:nvSpPr>
          <p:cNvPr id="15" name="radio-line-1">
            <a:extLst xmlns:a="http://schemas.openxmlformats.org/drawingml/2006/main">
              <a:ext uri="{FF2B5EF4-FFF2-40B4-BE49-F238E27FC236}">
                <a16:creationId xmlns:a16="http://schemas.microsoft.com/office/drawing/2014/main" id="{8EC0FE11-AECB-4ED2-8FC5-2434D02E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p-1">
            <a:extLst xmlns:a="http://schemas.openxmlformats.org/drawingml/2006/main">
              <a:ext uri="{FF2B5EF4-FFF2-40B4-BE49-F238E27FC236}">
                <a16:creationId xmlns:a16="http://schemas.microsoft.com/office/drawing/2014/main" id="{784618E7-8744-4B36-986D-6D5EF2E7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</a:defRPr>
            </a:pPr>
            <a:r>
              <a:rPr sz="1500" b="1">
                <a:solidFill>
                  <a:srgbClr val="171A1F"/>
                </a:solidFill>
              </a:rPr>
              <a:t>Spreading Factor</a:t>
            </a:r>
          </a:p>
        </p:txBody>
      </p:sp>
      <p:sp>
        <p:nvSpPr>
          <p:cNvPr id="17" name="rs-1">
            <a:extLst xmlns:a="http://schemas.openxmlformats.org/drawingml/2006/main">
              <a:ext uri="{FF2B5EF4-FFF2-40B4-BE49-F238E27FC236}">
                <a16:creationId xmlns:a16="http://schemas.microsoft.com/office/drawing/2014/main" id="{6F7C0CE6-C568-4782-9966-96BB59B6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99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</a:defRPr>
            </a:pPr>
            <a:r>
              <a:rPr sz="1575" b="0">
                <a:solidFill>
                  <a:srgbClr val="171A1F"/>
                </a:solidFill>
              </a:rPr>
              <a:t>SF7</a:t>
            </a:r>
          </a:p>
        </p:txBody>
      </p:sp>
      <p:sp>
        <p:nvSpPr>
          <p:cNvPr id="18" name="rm-1">
            <a:extLst xmlns:a="http://schemas.openxmlformats.org/drawingml/2006/main">
              <a:ext uri="{FF2B5EF4-FFF2-40B4-BE49-F238E27FC236}">
                <a16:creationId xmlns:a16="http://schemas.microsoft.com/office/drawing/2014/main" id="{AEA9F0A2-9337-45E9-AB28-EEFEE2E7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9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</a:defRPr>
            </a:pPr>
            <a:r>
              <a:rPr sz="1575" b="0">
                <a:solidFill>
                  <a:srgbClr val="171A1F"/>
                </a:solidFill>
              </a:rPr>
              <a:t>SF9</a:t>
            </a:r>
          </a:p>
        </p:txBody>
      </p:sp>
      <p:sp>
        <p:nvSpPr>
          <p:cNvPr id="19" name="radio-line-2">
            <a:extLst xmlns:a="http://schemas.openxmlformats.org/drawingml/2006/main">
              <a:ext uri="{FF2B5EF4-FFF2-40B4-BE49-F238E27FC236}">
                <a16:creationId xmlns:a16="http://schemas.microsoft.com/office/drawing/2014/main" id="{989C2C35-429F-4687-84F8-1CF9D0A8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p-2">
            <a:extLst xmlns:a="http://schemas.openxmlformats.org/drawingml/2006/main">
              <a:ext uri="{FF2B5EF4-FFF2-40B4-BE49-F238E27FC236}">
                <a16:creationId xmlns:a16="http://schemas.microsoft.com/office/drawing/2014/main" id="{20462433-4872-4917-9249-D3F5AF03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</a:defRPr>
            </a:pPr>
            <a:r>
              <a:rPr sz="1500" b="1">
                <a:solidFill>
                  <a:srgbClr val="171A1F"/>
                </a:solidFill>
              </a:rPr>
              <a:t>TX power</a:t>
            </a:r>
          </a:p>
        </p:txBody>
      </p:sp>
      <p:sp>
        <p:nvSpPr>
          <p:cNvPr id="21" name="rs-2">
            <a:extLst xmlns:a="http://schemas.openxmlformats.org/drawingml/2006/main">
              <a:ext uri="{FF2B5EF4-FFF2-40B4-BE49-F238E27FC236}">
                <a16:creationId xmlns:a16="http://schemas.microsoft.com/office/drawing/2014/main" id="{11D310EE-8E85-4CA7-815B-22A3F027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</a:defRPr>
            </a:pPr>
            <a:r>
              <a:rPr sz="1575" b="0">
                <a:solidFill>
                  <a:srgbClr val="171A1F"/>
                </a:solidFill>
              </a:rPr>
              <a:t>17 dBm</a:t>
            </a:r>
          </a:p>
        </p:txBody>
      </p:sp>
      <p:sp>
        <p:nvSpPr>
          <p:cNvPr id="22" name="rm-2">
            <a:extLst xmlns:a="http://schemas.openxmlformats.org/drawingml/2006/main">
              <a:ext uri="{FF2B5EF4-FFF2-40B4-BE49-F238E27FC236}">
                <a16:creationId xmlns:a16="http://schemas.microsoft.com/office/drawing/2014/main" id="{5366B179-6533-4B53-AE44-4E888964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623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</a:defRPr>
            </a:pPr>
            <a:r>
              <a:rPr sz="1575" b="0">
                <a:solidFill>
                  <a:srgbClr val="171A1F"/>
                </a:solidFill>
              </a:rPr>
              <a:t>17 dBm</a:t>
            </a:r>
          </a:p>
        </p:txBody>
      </p:sp>
      <p:sp>
        <p:nvSpPr>
          <p:cNvPr id="23" name="radio-line-3">
            <a:extLst xmlns:a="http://schemas.openxmlformats.org/drawingml/2006/main">
              <a:ext uri="{FF2B5EF4-FFF2-40B4-BE49-F238E27FC236}">
                <a16:creationId xmlns:a16="http://schemas.microsoft.com/office/drawing/2014/main" id="{1E6089E5-BDE1-4E66-A18E-F738B853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p-3">
            <a:extLst xmlns:a="http://schemas.openxmlformats.org/drawingml/2006/main">
              <a:ext uri="{FF2B5EF4-FFF2-40B4-BE49-F238E27FC236}">
                <a16:creationId xmlns:a16="http://schemas.microsoft.com/office/drawing/2014/main" id="{5BA74350-A77F-4C64-89B8-C6513A4B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</a:defRPr>
            </a:pPr>
            <a:r>
              <a:rPr sz="1500" b="1">
                <a:solidFill>
                  <a:srgbClr val="171A1F"/>
                </a:solidFill>
              </a:rPr>
              <a:t>Sync word</a:t>
            </a:r>
          </a:p>
        </p:txBody>
      </p:sp>
      <p:sp>
        <p:nvSpPr>
          <p:cNvPr id="25" name="rs-3">
            <a:extLst xmlns:a="http://schemas.openxmlformats.org/drawingml/2006/main">
              <a:ext uri="{FF2B5EF4-FFF2-40B4-BE49-F238E27FC236}">
                <a16:creationId xmlns:a16="http://schemas.microsoft.com/office/drawing/2014/main" id="{7E14D352-EC17-498B-8486-710D1B80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</a:defRPr>
            </a:pPr>
            <a:r>
              <a:rPr sz="1575" b="0">
                <a:solidFill>
                  <a:srgbClr val="171A1F"/>
                </a:solidFill>
              </a:rPr>
              <a:t>0x12</a:t>
            </a:r>
          </a:p>
        </p:txBody>
      </p:sp>
      <p:sp>
        <p:nvSpPr>
          <p:cNvPr id="26" name="rm-3">
            <a:extLst xmlns:a="http://schemas.openxmlformats.org/drawingml/2006/main">
              <a:ext uri="{FF2B5EF4-FFF2-40B4-BE49-F238E27FC236}">
                <a16:creationId xmlns:a16="http://schemas.microsoft.com/office/drawing/2014/main" id="{DFDF04B4-0648-4145-9113-947D0688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148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</a:defRPr>
            </a:pPr>
            <a:r>
              <a:rPr sz="1575" b="0">
                <a:solidFill>
                  <a:srgbClr val="171A1F"/>
                </a:solidFill>
              </a:rPr>
              <a:t>0x34</a:t>
            </a:r>
          </a:p>
        </p:txBody>
      </p:sp>
      <p:sp>
        <p:nvSpPr>
          <p:cNvPr id="27" name="range-l-0">
            <a:extLst xmlns:a="http://schemas.openxmlformats.org/drawingml/2006/main">
              <a:ext uri="{FF2B5EF4-FFF2-40B4-BE49-F238E27FC236}">
                <a16:creationId xmlns:a16="http://schemas.microsoft.com/office/drawing/2014/main" id="{AC9B0917-E8C4-4503-B444-A501647A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</a:defRPr>
            </a:pPr>
            <a:r>
              <a:rPr sz="1350" b="1">
                <a:solidFill>
                  <a:srgbClr val="171A1F"/>
                </a:solidFill>
              </a:rPr>
              <a:t>100 m terbuka</a:t>
            </a:r>
          </a:p>
        </p:txBody>
      </p:sp>
      <p:sp>
        <p:nvSpPr>
          <p:cNvPr id="28" name="range-bg-0">
            <a:extLst xmlns:a="http://schemas.openxmlformats.org/drawingml/2006/main">
              <a:ext uri="{FF2B5EF4-FFF2-40B4-BE49-F238E27FC236}">
                <a16:creationId xmlns:a16="http://schemas.microsoft.com/office/drawing/2014/main" id="{1AE3BFBA-5577-4140-8A52-F1B569FA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581025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ange-fill-0">
            <a:extLst xmlns:a="http://schemas.openxmlformats.org/drawingml/2006/main">
              <a:ext uri="{FF2B5EF4-FFF2-40B4-BE49-F238E27FC236}">
                <a16:creationId xmlns:a16="http://schemas.microsoft.com/office/drawing/2014/main" id="{45B4EB4E-5ABA-4446-B480-13DAE7BF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581025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ange-v-0">
            <a:extLst xmlns:a="http://schemas.openxmlformats.org/drawingml/2006/main">
              <a:ext uri="{FF2B5EF4-FFF2-40B4-BE49-F238E27FC236}">
                <a16:creationId xmlns:a16="http://schemas.microsoft.com/office/drawing/2014/main" id="{11D821EA-D496-4480-896A-922CB70F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958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PDR 100%</a:t>
            </a:r>
          </a:p>
        </p:txBody>
      </p:sp>
      <p:sp>
        <p:nvSpPr>
          <p:cNvPr id="31" name="range-l-1">
            <a:extLst xmlns:a="http://schemas.openxmlformats.org/drawingml/2006/main">
              <a:ext uri="{FF2B5EF4-FFF2-40B4-BE49-F238E27FC236}">
                <a16:creationId xmlns:a16="http://schemas.microsoft.com/office/drawing/2014/main" id="{3065179F-C273-4D76-9C6F-021C5EE7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</a:defRPr>
            </a:pPr>
            <a:r>
              <a:rPr sz="1350" b="1">
                <a:solidFill>
                  <a:srgbClr val="171A1F"/>
                </a:solidFill>
              </a:rPr>
              <a:t>242 m Gerbang Utara</a:t>
            </a:r>
          </a:p>
        </p:txBody>
      </p:sp>
      <p:sp>
        <p:nvSpPr>
          <p:cNvPr id="32" name="range-bg-1">
            <a:extLst xmlns:a="http://schemas.openxmlformats.org/drawingml/2006/main">
              <a:ext uri="{FF2B5EF4-FFF2-40B4-BE49-F238E27FC236}">
                <a16:creationId xmlns:a16="http://schemas.microsoft.com/office/drawing/2014/main" id="{4FF1EB07-7957-471A-98A6-CFC76CEE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91150"/>
            <a:ext cx="581025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ange-fill-1">
            <a:extLst xmlns:a="http://schemas.openxmlformats.org/drawingml/2006/main">
              <a:ext uri="{FF2B5EF4-FFF2-40B4-BE49-F238E27FC236}">
                <a16:creationId xmlns:a16="http://schemas.microsoft.com/office/drawing/2014/main" id="{85AE0966-EFE8-4AA3-8945-269D4412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91150"/>
            <a:ext cx="581025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ange-v-1">
            <a:extLst xmlns:a="http://schemas.openxmlformats.org/drawingml/2006/main">
              <a:ext uri="{FF2B5EF4-FFF2-40B4-BE49-F238E27FC236}">
                <a16:creationId xmlns:a16="http://schemas.microsoft.com/office/drawing/2014/main" id="{BB784CA4-A433-496E-84CF-1D631F8D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054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PDR 100%</a:t>
            </a:r>
          </a:p>
        </p:txBody>
      </p:sp>
      <p:sp>
        <p:nvSpPr>
          <p:cNvPr id="35" name="range-l-2">
            <a:extLst xmlns:a="http://schemas.openxmlformats.org/drawingml/2006/main">
              <a:ext uri="{FF2B5EF4-FFF2-40B4-BE49-F238E27FC236}">
                <a16:creationId xmlns:a16="http://schemas.microsoft.com/office/drawing/2014/main" id="{B37FFA0B-1E8A-4584-A488-530AF565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</a:defRPr>
            </a:pPr>
            <a:r>
              <a:rPr sz="1350" b="1">
                <a:solidFill>
                  <a:srgbClr val="171A1F"/>
                </a:solidFill>
              </a:rPr>
              <a:t>200 m terhalang gedung</a:t>
            </a:r>
          </a:p>
        </p:txBody>
      </p:sp>
      <p:sp>
        <p:nvSpPr>
          <p:cNvPr id="36" name="range-bg-2">
            <a:extLst xmlns:a="http://schemas.openxmlformats.org/drawingml/2006/main">
              <a:ext uri="{FF2B5EF4-FFF2-40B4-BE49-F238E27FC236}">
                <a16:creationId xmlns:a16="http://schemas.microsoft.com/office/drawing/2014/main" id="{CC531FF9-7422-414A-B079-41F566E5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00725"/>
            <a:ext cx="581025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ange-fill-2">
            <a:extLst xmlns:a="http://schemas.openxmlformats.org/drawingml/2006/main">
              <a:ext uri="{FF2B5EF4-FFF2-40B4-BE49-F238E27FC236}">
                <a16:creationId xmlns:a16="http://schemas.microsoft.com/office/drawing/2014/main" id="{C5D9C3DF-AD82-4759-A453-D86F3CD6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00725"/>
            <a:ext cx="5054918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ange-v-2">
            <a:extLst xmlns:a="http://schemas.openxmlformats.org/drawingml/2006/main">
              <a:ext uri="{FF2B5EF4-FFF2-40B4-BE49-F238E27FC236}">
                <a16:creationId xmlns:a16="http://schemas.microsoft.com/office/drawing/2014/main" id="{2659F575-D133-4253-B0C0-FE914D35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15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PDR 87%</a:t>
            </a:r>
          </a:p>
        </p:txBody>
      </p:sp>
    </p:spTree>
    <p:extLst>
      <p:ext uri="{BB962C8B-B14F-4D97-AF65-F5344CB8AC3E}">
        <p14:creationId xmlns:p14="http://schemas.microsoft.com/office/powerpoint/2010/main" val="7678255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line-14">
            <a:extLst xmlns:a="http://schemas.openxmlformats.org/drawingml/2006/main">
              <a:ext uri="{FF2B5EF4-FFF2-40B4-BE49-F238E27FC236}">
                <a16:creationId xmlns:a16="http://schemas.microsoft.com/office/drawing/2014/main" id="{1F60BD01-DF95-46B5-8B72-FCBA1CB5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F26A87DF-1B8F-4139-A50B-A7470D97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09 · HAZARDOUS-AREA COMPLIANCE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9A7C5629-5C8A-4763-A0D6-80CF6344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Instalasi permanen dilarang sebelum sertifikasi</a:t>
            </a:r>
          </a:p>
        </p:txBody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ADC0A814-8D64-4D7A-9788-A9AD0297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Enclosure menggunakan dua kompartemen dengan seal/cable gland; compliance ATEX belum diverifikasi.</a:t>
            </a:r>
          </a:p>
        </p:txBody>
      </p:sp>
      <p:sp>
        <p:nvSpPr>
          <p:cNvPr id="5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62B23093-FB79-42E4-866A-56515DBE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14">
            <a:extLst xmlns:a="http://schemas.openxmlformats.org/drawingml/2006/main">
              <a:ext uri="{FF2B5EF4-FFF2-40B4-BE49-F238E27FC236}">
                <a16:creationId xmlns:a16="http://schemas.microsoft.com/office/drawing/2014/main" id="{DA540ECD-8951-4785-BD26-EC879BC9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14">
            <a:extLst xmlns:a="http://schemas.openxmlformats.org/drawingml/2006/main">
              <a:ext uri="{FF2B5EF4-FFF2-40B4-BE49-F238E27FC236}">
                <a16:creationId xmlns:a16="http://schemas.microsoft.com/office/drawing/2014/main" id="{FB0EF66F-C550-4380-9F53-7866BAA5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14</a:t>
            </a:r>
          </a:p>
        </p:txBody>
      </p:sp>
      <p:sp>
        <p:nvSpPr>
          <p:cNvPr id="8" name="atex-status-bg">
            <a:extLst xmlns:a="http://schemas.openxmlformats.org/drawingml/2006/main">
              <a:ext uri="{FF2B5EF4-FFF2-40B4-BE49-F238E27FC236}">
                <a16:creationId xmlns:a16="http://schemas.microsoft.com/office/drawing/2014/main" id="{9555703A-F717-4AF7-ABA9-1018D431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ex-status-bar">
            <a:extLst xmlns:a="http://schemas.openxmlformats.org/drawingml/2006/main">
              <a:ext uri="{FF2B5EF4-FFF2-40B4-BE49-F238E27FC236}">
                <a16:creationId xmlns:a16="http://schemas.microsoft.com/office/drawing/2014/main" id="{160558BE-62F4-46E1-B9A6-F17E1BBF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tex-status-label">
            <a:extLst xmlns:a="http://schemas.openxmlformats.org/drawingml/2006/main">
              <a:ext uri="{FF2B5EF4-FFF2-40B4-BE49-F238E27FC236}">
                <a16:creationId xmlns:a16="http://schemas.microsoft.com/office/drawing/2014/main" id="{4CE27116-3C85-4D6C-9B24-89FD5A95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F3E35"/>
                </a:solidFill>
              </a:defRPr>
            </a:pPr>
            <a:r>
              <a:rPr sz="1350" b="1">
                <a:solidFill>
                  <a:srgbClr val="AF3E35"/>
                </a:solidFill>
              </a:rPr>
              <a:t>INSTALLATION HOLD</a:t>
            </a:r>
          </a:p>
        </p:txBody>
      </p:sp>
      <p:sp>
        <p:nvSpPr>
          <p:cNvPr id="11" name="atex-status-body">
            <a:extLst xmlns:a="http://schemas.openxmlformats.org/drawingml/2006/main">
              <a:ext uri="{FF2B5EF4-FFF2-40B4-BE49-F238E27FC236}">
                <a16:creationId xmlns:a16="http://schemas.microsoft.com/office/drawing/2014/main" id="{33237588-893F-46CA-9245-3F9E51C7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ATEX certificate dan elevated-mounting approval belum tersedia. Permanent installation tidak diizinkan.</a:t>
            </a:r>
          </a:p>
        </p:txBody>
      </p:sp>
      <p:sp>
        <p:nvSpPr>
          <p:cNvPr id="12" name="atex-elec">
            <a:extLst xmlns:a="http://schemas.openxmlformats.org/drawingml/2006/main">
              <a:ext uri="{FF2B5EF4-FFF2-40B4-BE49-F238E27FC236}">
                <a16:creationId xmlns:a16="http://schemas.microsoft.com/office/drawing/2014/main" id="{E0B14D52-0E7E-4821-B848-C110919C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37338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3" name="atex-elec-title">
            <a:extLst xmlns:a="http://schemas.openxmlformats.org/drawingml/2006/main">
              <a:ext uri="{FF2B5EF4-FFF2-40B4-BE49-F238E27FC236}">
                <a16:creationId xmlns:a16="http://schemas.microsoft.com/office/drawing/2014/main" id="{42D22901-ABF5-4099-B4D9-F9C90757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57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A1F"/>
                </a:solidFill>
              </a:defRPr>
            </a:pPr>
            <a:r>
              <a:rPr sz="1950" b="1">
                <a:solidFill>
                  <a:srgbClr val="171A1F"/>
                </a:solidFill>
              </a:rPr>
              <a:t>MODUL ELEKTRONIK</a:t>
            </a:r>
          </a:p>
        </p:txBody>
      </p:sp>
      <p:sp>
        <p:nvSpPr>
          <p:cNvPr id="14" name="atex-elec-body">
            <a:extLst xmlns:a="http://schemas.openxmlformats.org/drawingml/2006/main">
              <a:ext uri="{FF2B5EF4-FFF2-40B4-BE49-F238E27FC236}">
                <a16:creationId xmlns:a16="http://schemas.microsoft.com/office/drawing/2014/main" id="{20B723FF-C175-4E1D-BE18-C140C8F1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616C"/>
                </a:solidFill>
              </a:defRPr>
            </a:pPr>
            <a:r>
              <a:rPr sz="1500" b="0">
                <a:solidFill>
                  <a:srgbClr val="59616C"/>
                </a:solidFill>
              </a:rPr>
              <a:t>PCB + power di enclosure Ex-Proof</a:t>
            </a:r>
          </a:p>
        </p:txBody>
      </p:sp>
      <p:sp>
        <p:nvSpPr>
          <p:cNvPr id="15" name="atex-arrow">
            <a:extLst xmlns:a="http://schemas.openxmlformats.org/drawingml/2006/main">
              <a:ext uri="{FF2B5EF4-FFF2-40B4-BE49-F238E27FC236}">
                <a16:creationId xmlns:a16="http://schemas.microsoft.com/office/drawing/2014/main" id="{5BDCFBE2-4186-42E0-B708-45374EB0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290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7C5"/>
                </a:solidFill>
              </a:defRPr>
            </a:pPr>
            <a:r>
              <a:rPr sz="1500" b="1">
                <a:solidFill>
                  <a:srgbClr val="2457C5"/>
                </a:solidFill>
              </a:rPr>
              <a:t>SEAL / CABLE GLAND  →</a:t>
            </a:r>
          </a:p>
        </p:txBody>
      </p:sp>
      <p:sp>
        <p:nvSpPr>
          <p:cNvPr id="16" name="atex-sensor">
            <a:extLst xmlns:a="http://schemas.openxmlformats.org/drawingml/2006/main">
              <a:ext uri="{FF2B5EF4-FFF2-40B4-BE49-F238E27FC236}">
                <a16:creationId xmlns:a16="http://schemas.microsoft.com/office/drawing/2014/main" id="{BAA8ED47-B712-4DA5-B519-8F257F0D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37338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7" name="atex-sensor-title">
            <a:extLst xmlns:a="http://schemas.openxmlformats.org/drawingml/2006/main">
              <a:ext uri="{FF2B5EF4-FFF2-40B4-BE49-F238E27FC236}">
                <a16:creationId xmlns:a16="http://schemas.microsoft.com/office/drawing/2014/main" id="{588F060D-402E-4169-8BF4-6D7AD8DE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A1F"/>
                </a:solidFill>
              </a:defRPr>
            </a:pPr>
            <a:r>
              <a:rPr sz="1950" b="1">
                <a:solidFill>
                  <a:srgbClr val="171A1F"/>
                </a:solidFill>
              </a:rPr>
              <a:t>SENSOR CARTRIDGE</a:t>
            </a:r>
          </a:p>
        </p:txBody>
      </p:sp>
      <p:sp>
        <p:nvSpPr>
          <p:cNvPr id="18" name="atex-sensor-body">
            <a:extLst xmlns:a="http://schemas.openxmlformats.org/drawingml/2006/main">
              <a:ext uri="{FF2B5EF4-FFF2-40B4-BE49-F238E27FC236}">
                <a16:creationId xmlns:a16="http://schemas.microsoft.com/office/drawing/2014/main" id="{F555B551-8622-45F7-AA48-65E877D7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616C"/>
                </a:solidFill>
              </a:defRPr>
            </a:pPr>
            <a:r>
              <a:rPr sz="1500" b="0">
                <a:solidFill>
                  <a:srgbClr val="59616C"/>
                </a:solidFill>
              </a:rPr>
              <a:t>Elektronik sensor di kompartemen terpisah</a:t>
            </a:r>
          </a:p>
        </p:txBody>
      </p:sp>
      <p:sp>
        <p:nvSpPr>
          <p:cNvPr id="19" name="dot-108-528">
            <a:extLst xmlns:a="http://schemas.openxmlformats.org/drawingml/2006/main">
              <a:ext uri="{FF2B5EF4-FFF2-40B4-BE49-F238E27FC236}">
                <a16:creationId xmlns:a16="http://schemas.microsoft.com/office/drawing/2014/main" id="{C3B47BB0-E61A-4F4B-B687-684067D6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tex-mount-title">
            <a:extLst xmlns:a="http://schemas.openxmlformats.org/drawingml/2006/main">
              <a:ext uri="{FF2B5EF4-FFF2-40B4-BE49-F238E27FC236}">
                <a16:creationId xmlns:a16="http://schemas.microsoft.com/office/drawing/2014/main" id="{5FFDFC90-1652-4356-9173-C5B71664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Non-intrusive mounting</a:t>
            </a:r>
          </a:p>
        </p:txBody>
      </p:sp>
      <p:sp>
        <p:nvSpPr>
          <p:cNvPr id="21" name="atex-mount-detail">
            <a:extLst xmlns:a="http://schemas.openxmlformats.org/drawingml/2006/main">
              <a:ext uri="{FF2B5EF4-FFF2-40B4-BE49-F238E27FC236}">
                <a16:creationId xmlns:a16="http://schemas.microsoft.com/office/drawing/2014/main" id="{FFB410A5-E34B-4BC4-9F18-F8DF3627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38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L/U-bracket pada existing structure; drilling dan welding dilarang</a:t>
            </a:r>
          </a:p>
        </p:txBody>
      </p:sp>
      <p:sp>
        <p:nvSpPr>
          <p:cNvPr id="22" name="dot-680-528">
            <a:extLst xmlns:a="http://schemas.openxmlformats.org/drawingml/2006/main">
              <a:ext uri="{FF2B5EF4-FFF2-40B4-BE49-F238E27FC236}">
                <a16:creationId xmlns:a16="http://schemas.microsoft.com/office/drawing/2014/main" id="{AB3C8D5E-BDC5-4AF7-87F9-71AD1BDC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29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tex-power-title">
            <a:extLst xmlns:a="http://schemas.openxmlformats.org/drawingml/2006/main">
              <a:ext uri="{FF2B5EF4-FFF2-40B4-BE49-F238E27FC236}">
                <a16:creationId xmlns:a16="http://schemas.microsoft.com/office/drawing/2014/main" id="{D87DB803-A9D3-4B6E-B59A-AF6CA329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Hazardous-area power protection</a:t>
            </a:r>
          </a:p>
        </p:txBody>
      </p:sp>
      <p:sp>
        <p:nvSpPr>
          <p:cNvPr id="24" name="atex-power-detail">
            <a:extLst xmlns:a="http://schemas.openxmlformats.org/drawingml/2006/main">
              <a:ext uri="{FF2B5EF4-FFF2-40B4-BE49-F238E27FC236}">
                <a16:creationId xmlns:a16="http://schemas.microsoft.com/office/drawing/2014/main" id="{D28993CE-E9AE-4EB9-8007-EF1CE917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38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24 VDC protection wajib sesuai zone; Gateway ditempatkan di safe area</a:t>
            </a:r>
          </a:p>
        </p:txBody>
      </p:sp>
    </p:spTree>
    <p:extLst>
      <p:ext uri="{BB962C8B-B14F-4D97-AF65-F5344CB8AC3E}">
        <p14:creationId xmlns:p14="http://schemas.microsoft.com/office/powerpoint/2010/main" val="3291192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line-15">
            <a:extLst xmlns:a="http://schemas.openxmlformats.org/drawingml/2006/main">
              <a:ext uri="{FF2B5EF4-FFF2-40B4-BE49-F238E27FC236}">
                <a16:creationId xmlns:a16="http://schemas.microsoft.com/office/drawing/2014/main" id="{4ADB6DB1-A563-4424-AC8B-C49AA5D9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5">
            <a:extLst xmlns:a="http://schemas.openxmlformats.org/drawingml/2006/main">
              <a:ext uri="{FF2B5EF4-FFF2-40B4-BE49-F238E27FC236}">
                <a16:creationId xmlns:a16="http://schemas.microsoft.com/office/drawing/2014/main" id="{CA160A1E-F478-43B2-BE32-2D58BB19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10 · GAS DETECTION AND AI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51791AB0-FB65-4758-AA67-7DF88DE7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Model AI tidak mencakup tiga gas requirement RU</a:t>
            </a:r>
          </a:p>
        </p:txBody>
      </p:sp>
      <p:sp>
        <p:nvSpPr>
          <p:cNvPr id="4" name="subtitle-15">
            <a:extLst xmlns:a="http://schemas.openxmlformats.org/drawingml/2006/main">
              <a:ext uri="{FF2B5EF4-FFF2-40B4-BE49-F238E27FC236}">
                <a16:creationId xmlns:a16="http://schemas.microsoft.com/office/drawing/2014/main" id="{193205D2-0CDF-40DE-9B25-27C345C9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Current model classes: LPG, CO₂, H₂, dan clean air. Benzena, CO, dan H₂S tidak tercakup.</a:t>
            </a:r>
          </a:p>
        </p:txBody>
      </p:sp>
      <p:sp>
        <p:nvSpPr>
          <p:cNvPr id="5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D89EFF4D-79BE-4FEA-B1DE-7BEA1C34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15">
            <a:extLst xmlns:a="http://schemas.openxmlformats.org/drawingml/2006/main">
              <a:ext uri="{FF2B5EF4-FFF2-40B4-BE49-F238E27FC236}">
                <a16:creationId xmlns:a16="http://schemas.microsoft.com/office/drawing/2014/main" id="{E15D2651-07E3-41E9-9D19-834D635E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15">
            <a:extLst xmlns:a="http://schemas.openxmlformats.org/drawingml/2006/main">
              <a:ext uri="{FF2B5EF4-FFF2-40B4-BE49-F238E27FC236}">
                <a16:creationId xmlns:a16="http://schemas.microsoft.com/office/drawing/2014/main" id="{FB275E9A-3202-45FF-ACFE-DA0ED875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15</a:t>
            </a:r>
          </a:p>
        </p:txBody>
      </p:sp>
      <p:sp>
        <p:nvSpPr>
          <p:cNvPr id="8" name="ai-acc-bg">
            <a:extLst xmlns:a="http://schemas.openxmlformats.org/drawingml/2006/main">
              <a:ext uri="{FF2B5EF4-FFF2-40B4-BE49-F238E27FC236}">
                <a16:creationId xmlns:a16="http://schemas.microsoft.com/office/drawing/2014/main" id="{78239B9D-E8BC-4039-BC8D-94B8E3BE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162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i-acc-label">
            <a:extLst xmlns:a="http://schemas.openxmlformats.org/drawingml/2006/main">
              <a:ext uri="{FF2B5EF4-FFF2-40B4-BE49-F238E27FC236}">
                <a16:creationId xmlns:a16="http://schemas.microsoft.com/office/drawing/2014/main" id="{EF177FBB-4722-484C-BEBC-8ABFED2C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7A55"/>
                </a:solidFill>
              </a:defRPr>
            </a:pPr>
            <a:r>
              <a:rPr sz="1125" b="1">
                <a:solidFill>
                  <a:srgbClr val="277A55"/>
                </a:solidFill>
              </a:rPr>
              <a:t>AKURASI MODEL INT8</a:t>
            </a:r>
          </a:p>
        </p:txBody>
      </p:sp>
      <p:sp>
        <p:nvSpPr>
          <p:cNvPr id="10" name="ai-acc-value">
            <a:extLst xmlns:a="http://schemas.openxmlformats.org/drawingml/2006/main">
              <a:ext uri="{FF2B5EF4-FFF2-40B4-BE49-F238E27FC236}">
                <a16:creationId xmlns:a16="http://schemas.microsoft.com/office/drawing/2014/main" id="{CDAA53CE-44FC-41F0-A240-2647759B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99,20%</a:t>
            </a:r>
          </a:p>
        </p:txBody>
      </p:sp>
      <p:sp>
        <p:nvSpPr>
          <p:cNvPr id="11" name="ai-field-bg">
            <a:extLst xmlns:a="http://schemas.openxmlformats.org/drawingml/2006/main">
              <a:ext uri="{FF2B5EF4-FFF2-40B4-BE49-F238E27FC236}">
                <a16:creationId xmlns:a16="http://schemas.microsoft.com/office/drawing/2014/main" id="{EA63BA25-1093-4B8E-8830-859A52DB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3162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i-field-label">
            <a:extLst xmlns:a="http://schemas.openxmlformats.org/drawingml/2006/main">
              <a:ext uri="{FF2B5EF4-FFF2-40B4-BE49-F238E27FC236}">
                <a16:creationId xmlns:a16="http://schemas.microsoft.com/office/drawing/2014/main" id="{635EE939-CEB8-4AD1-BCC1-A7ABB77B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UJI REAL-TIME</a:t>
            </a:r>
          </a:p>
        </p:txBody>
      </p:sp>
      <p:sp>
        <p:nvSpPr>
          <p:cNvPr id="13" name="ai-field-value">
            <a:extLst xmlns:a="http://schemas.openxmlformats.org/drawingml/2006/main">
              <a:ext uri="{FF2B5EF4-FFF2-40B4-BE49-F238E27FC236}">
                <a16:creationId xmlns:a16="http://schemas.microsoft.com/office/drawing/2014/main" id="{5AC56B36-95C6-452B-89AD-E7FC4F54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9825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97,65%</a:t>
            </a:r>
          </a:p>
        </p:txBody>
      </p:sp>
      <p:sp>
        <p:nvSpPr>
          <p:cNvPr id="14" name="ai-size-bg">
            <a:extLst xmlns:a="http://schemas.openxmlformats.org/drawingml/2006/main">
              <a:ext uri="{FF2B5EF4-FFF2-40B4-BE49-F238E27FC236}">
                <a16:creationId xmlns:a16="http://schemas.microsoft.com/office/drawing/2014/main" id="{3E07929E-967D-46B2-9411-6AC8748B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38350"/>
            <a:ext cx="3162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i-size-label">
            <a:extLst xmlns:a="http://schemas.openxmlformats.org/drawingml/2006/main">
              <a:ext uri="{FF2B5EF4-FFF2-40B4-BE49-F238E27FC236}">
                <a16:creationId xmlns:a16="http://schemas.microsoft.com/office/drawing/2014/main" id="{9B195B6D-6111-4E5B-91F9-6BF9535C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526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UKURAN MODEL</a:t>
            </a:r>
          </a:p>
        </p:txBody>
      </p:sp>
      <p:sp>
        <p:nvSpPr>
          <p:cNvPr id="16" name="ai-size-value">
            <a:extLst xmlns:a="http://schemas.openxmlformats.org/drawingml/2006/main">
              <a:ext uri="{FF2B5EF4-FFF2-40B4-BE49-F238E27FC236}">
                <a16:creationId xmlns:a16="http://schemas.microsoft.com/office/drawing/2014/main" id="{4C69842E-705B-48BA-90EC-67870926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9825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9,14 KB</a:t>
            </a:r>
          </a:p>
        </p:txBody>
      </p:sp>
      <p:sp>
        <p:nvSpPr>
          <p:cNvPr id="17" name="ai-covered-head">
            <a:extLst xmlns:a="http://schemas.openxmlformats.org/drawingml/2006/main">
              <a:ext uri="{FF2B5EF4-FFF2-40B4-BE49-F238E27FC236}">
                <a16:creationId xmlns:a16="http://schemas.microsoft.com/office/drawing/2014/main" id="{42F28134-135A-4027-B1AB-223068ED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7A55"/>
                </a:solidFill>
              </a:defRPr>
            </a:pPr>
            <a:r>
              <a:rPr sz="1350" b="1">
                <a:solidFill>
                  <a:srgbClr val="277A55"/>
                </a:solidFill>
              </a:rPr>
              <a:t>KELAS MODEL SAAT INI</a:t>
            </a:r>
          </a:p>
        </p:txBody>
      </p:sp>
      <p:sp>
        <p:nvSpPr>
          <p:cNvPr id="18" name="ai-ok-0">
            <a:extLst xmlns:a="http://schemas.openxmlformats.org/drawingml/2006/main">
              <a:ext uri="{FF2B5EF4-FFF2-40B4-BE49-F238E27FC236}">
                <a16:creationId xmlns:a16="http://schemas.microsoft.com/office/drawing/2014/main" id="{C801B121-49F1-41FD-91A4-8CEF8AC1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409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77A55"/>
                </a:solidFill>
              </a:defRPr>
            </a:pPr>
            <a:r>
              <a:rPr sz="1575" b="1">
                <a:solidFill>
                  <a:srgbClr val="277A55"/>
                </a:solidFill>
              </a:rPr>
              <a:t>LPG</a:t>
            </a:r>
          </a:p>
        </p:txBody>
      </p:sp>
      <p:sp>
        <p:nvSpPr>
          <p:cNvPr id="19" name="ai-ok-1">
            <a:extLst xmlns:a="http://schemas.openxmlformats.org/drawingml/2006/main">
              <a:ext uri="{FF2B5EF4-FFF2-40B4-BE49-F238E27FC236}">
                <a16:creationId xmlns:a16="http://schemas.microsoft.com/office/drawing/2014/main" id="{7F160E0E-DFA3-440C-9122-D8616A49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90950"/>
            <a:ext cx="1409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77A55"/>
                </a:solidFill>
              </a:defRPr>
            </a:pPr>
            <a:r>
              <a:rPr sz="1575" b="1">
                <a:solidFill>
                  <a:srgbClr val="277A55"/>
                </a:solidFill>
              </a:rPr>
              <a:t>CO₂</a:t>
            </a:r>
          </a:p>
        </p:txBody>
      </p:sp>
      <p:sp>
        <p:nvSpPr>
          <p:cNvPr id="20" name="ai-ok-2">
            <a:extLst xmlns:a="http://schemas.openxmlformats.org/drawingml/2006/main">
              <a:ext uri="{FF2B5EF4-FFF2-40B4-BE49-F238E27FC236}">
                <a16:creationId xmlns:a16="http://schemas.microsoft.com/office/drawing/2014/main" id="{ABB13490-A0EA-46AA-8A37-221BE02B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90950"/>
            <a:ext cx="1409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77A55"/>
                </a:solidFill>
              </a:defRPr>
            </a:pPr>
            <a:r>
              <a:rPr sz="1575" b="1">
                <a:solidFill>
                  <a:srgbClr val="277A55"/>
                </a:solidFill>
              </a:rPr>
              <a:t>H₂</a:t>
            </a:r>
          </a:p>
        </p:txBody>
      </p:sp>
      <p:sp>
        <p:nvSpPr>
          <p:cNvPr id="21" name="ai-ok-3">
            <a:extLst xmlns:a="http://schemas.openxmlformats.org/drawingml/2006/main">
              <a:ext uri="{FF2B5EF4-FFF2-40B4-BE49-F238E27FC236}">
                <a16:creationId xmlns:a16="http://schemas.microsoft.com/office/drawing/2014/main" id="{7CE0579E-8CCD-4C9F-8E3F-2A73D2AE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90950"/>
            <a:ext cx="1409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77A55"/>
                </a:solidFill>
              </a:defRPr>
            </a:pPr>
            <a:r>
              <a:rPr sz="1575" b="1">
                <a:solidFill>
                  <a:srgbClr val="277A55"/>
                </a:solidFill>
              </a:rPr>
              <a:t>Udara Bersih</a:t>
            </a:r>
          </a:p>
        </p:txBody>
      </p:sp>
      <p:sp>
        <p:nvSpPr>
          <p:cNvPr id="22" name="ai-gap-head">
            <a:extLst xmlns:a="http://schemas.openxmlformats.org/drawingml/2006/main">
              <a:ext uri="{FF2B5EF4-FFF2-40B4-BE49-F238E27FC236}">
                <a16:creationId xmlns:a16="http://schemas.microsoft.com/office/drawing/2014/main" id="{DBD05C8A-C28F-4395-9E33-0834FA9E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F3E35"/>
                </a:solidFill>
              </a:defRPr>
            </a:pPr>
            <a:r>
              <a:rPr sz="1350" b="1">
                <a:solidFill>
                  <a:srgbClr val="AF3E35"/>
                </a:solidFill>
              </a:rPr>
              <a:t>REQUIREMENT BELUM DICAKUP</a:t>
            </a:r>
          </a:p>
        </p:txBody>
      </p:sp>
      <p:sp>
        <p:nvSpPr>
          <p:cNvPr id="23" name="ai-gap-0">
            <a:extLst xmlns:a="http://schemas.openxmlformats.org/drawingml/2006/main">
              <a:ext uri="{FF2B5EF4-FFF2-40B4-BE49-F238E27FC236}">
                <a16:creationId xmlns:a16="http://schemas.microsoft.com/office/drawing/2014/main" id="{6FBF85C6-AC8B-4047-B95C-C0650C28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228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E4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F3E35"/>
                </a:solidFill>
              </a:defRPr>
            </a:pPr>
            <a:r>
              <a:rPr sz="1500" b="1">
                <a:solidFill>
                  <a:srgbClr val="AF3E35"/>
                </a:solidFill>
              </a:rPr>
              <a:t>Benzena</a:t>
            </a:r>
          </a:p>
        </p:txBody>
      </p:sp>
      <p:sp>
        <p:nvSpPr>
          <p:cNvPr id="24" name="ai-gap-1">
            <a:extLst xmlns:a="http://schemas.openxmlformats.org/drawingml/2006/main">
              <a:ext uri="{FF2B5EF4-FFF2-40B4-BE49-F238E27FC236}">
                <a16:creationId xmlns:a16="http://schemas.microsoft.com/office/drawing/2014/main" id="{9FCEBC53-EBBE-446E-901D-2271C41D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43500"/>
            <a:ext cx="2228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E4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F3E35"/>
                </a:solidFill>
              </a:defRPr>
            </a:pPr>
            <a:r>
              <a:rPr sz="1500" b="1">
                <a:solidFill>
                  <a:srgbClr val="AF3E35"/>
                </a:solidFill>
              </a:rPr>
              <a:t>CO</a:t>
            </a:r>
          </a:p>
        </p:txBody>
      </p:sp>
      <p:sp>
        <p:nvSpPr>
          <p:cNvPr id="25" name="ai-gap-2">
            <a:extLst xmlns:a="http://schemas.openxmlformats.org/drawingml/2006/main">
              <a:ext uri="{FF2B5EF4-FFF2-40B4-BE49-F238E27FC236}">
                <a16:creationId xmlns:a16="http://schemas.microsoft.com/office/drawing/2014/main" id="{DCD3E9BC-FF74-48CB-A14C-FF6B010A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43500"/>
            <a:ext cx="2228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E4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F3E35"/>
                </a:solidFill>
              </a:defRPr>
            </a:pPr>
            <a:r>
              <a:rPr sz="1500" b="1">
                <a:solidFill>
                  <a:srgbClr val="AF3E35"/>
                </a:solidFill>
              </a:rPr>
              <a:t>H₂S</a:t>
            </a:r>
          </a:p>
        </p:txBody>
      </p:sp>
      <p:sp>
        <p:nvSpPr>
          <p:cNvPr id="26" name="ai-gap-3">
            <a:extLst xmlns:a="http://schemas.openxmlformats.org/drawingml/2006/main">
              <a:ext uri="{FF2B5EF4-FFF2-40B4-BE49-F238E27FC236}">
                <a16:creationId xmlns:a16="http://schemas.microsoft.com/office/drawing/2014/main" id="{E9583D9A-ADE4-4E88-B7A6-8D4082A0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43500"/>
            <a:ext cx="2228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E4E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F3E35"/>
                </a:solidFill>
              </a:defRPr>
            </a:pPr>
            <a:r>
              <a:rPr sz="1500" b="1">
                <a:solidFill>
                  <a:srgbClr val="AF3E35"/>
                </a:solidFill>
              </a:rPr>
              <a:t>Metana belum tervalidasi</a:t>
            </a:r>
          </a:p>
        </p:txBody>
      </p:sp>
    </p:spTree>
    <p:extLst>
      <p:ext uri="{BB962C8B-B14F-4D97-AF65-F5344CB8AC3E}">
        <p14:creationId xmlns:p14="http://schemas.microsoft.com/office/powerpoint/2010/main" val="19856395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line-16">
            <a:extLst xmlns:a="http://schemas.openxmlformats.org/drawingml/2006/main">
              <a:ext uri="{FF2B5EF4-FFF2-40B4-BE49-F238E27FC236}">
                <a16:creationId xmlns:a16="http://schemas.microsoft.com/office/drawing/2014/main" id="{A86F47AB-D9B5-4154-987A-553F0852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6">
            <a:extLst xmlns:a="http://schemas.openxmlformats.org/drawingml/2006/main">
              <a:ext uri="{FF2B5EF4-FFF2-40B4-BE49-F238E27FC236}">
                <a16:creationId xmlns:a16="http://schemas.microsoft.com/office/drawing/2014/main" id="{F37890C7-08C5-4843-8AB1-54CB6F16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11 · RU DEPLOYMENT SPECIFICATION</a:t>
            </a:r>
          </a:p>
        </p:txBody>
      </p:sp>
      <p:sp>
        <p:nvSpPr>
          <p:cNvPr id="3" name="title-16">
            <a:extLst xmlns:a="http://schemas.openxmlformats.org/drawingml/2006/main">
              <a:ext uri="{FF2B5EF4-FFF2-40B4-BE49-F238E27FC236}">
                <a16:creationId xmlns:a16="http://schemas.microsoft.com/office/drawing/2014/main" id="{BABD9769-3492-4EC6-876D-B6C982B8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RU services pada server/VM internal Kilang</a:t>
            </a:r>
          </a:p>
        </p:txBody>
      </p:sp>
      <p:sp>
        <p:nvSpPr>
          <p:cNvPr id="4" name="subtitle-16">
            <a:extLst xmlns:a="http://schemas.openxmlformats.org/drawingml/2006/main">
              <a:ext uri="{FF2B5EF4-FFF2-40B4-BE49-F238E27FC236}">
                <a16:creationId xmlns:a16="http://schemas.microsoft.com/office/drawing/2014/main" id="{4C9029B2-F500-4AC3-B1B7-F2CB8E06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Port yang ditampilkan adalah current repo/bench defaults. Production firewall rules ditetapkan IT/OT Kilang.</a:t>
            </a:r>
          </a:p>
        </p:txBody>
      </p:sp>
      <p:sp>
        <p:nvSpPr>
          <p:cNvPr id="5" name="footer-rule-16">
            <a:extLst xmlns:a="http://schemas.openxmlformats.org/drawingml/2006/main">
              <a:ext uri="{FF2B5EF4-FFF2-40B4-BE49-F238E27FC236}">
                <a16:creationId xmlns:a16="http://schemas.microsoft.com/office/drawing/2014/main" id="{22FEE1C5-073F-429C-B7FD-7356C75C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16">
            <a:extLst xmlns:a="http://schemas.openxmlformats.org/drawingml/2006/main">
              <a:ext uri="{FF2B5EF4-FFF2-40B4-BE49-F238E27FC236}">
                <a16:creationId xmlns:a16="http://schemas.microsoft.com/office/drawing/2014/main" id="{555DB451-2BAE-4654-9454-98F06FD9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16">
            <a:extLst xmlns:a="http://schemas.openxmlformats.org/drawingml/2006/main">
              <a:ext uri="{FF2B5EF4-FFF2-40B4-BE49-F238E27FC236}">
                <a16:creationId xmlns:a16="http://schemas.microsoft.com/office/drawing/2014/main" id="{B7B15333-9403-421A-9CB6-E40E4EA9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16</a:t>
            </a:r>
          </a:p>
        </p:txBody>
      </p:sp>
      <p:sp>
        <p:nvSpPr>
          <p:cNvPr id="8" name="net-0">
            <a:extLst xmlns:a="http://schemas.openxmlformats.org/drawingml/2006/main">
              <a:ext uri="{FF2B5EF4-FFF2-40B4-BE49-F238E27FC236}">
                <a16:creationId xmlns:a16="http://schemas.microsoft.com/office/drawing/2014/main" id="{2CCF9318-BD0D-48C5-9EC1-73E5415E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048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9" name="net-t-0">
            <a:extLst xmlns:a="http://schemas.openxmlformats.org/drawingml/2006/main">
              <a:ext uri="{FF2B5EF4-FFF2-40B4-BE49-F238E27FC236}">
                <a16:creationId xmlns:a16="http://schemas.microsoft.com/office/drawing/2014/main" id="{226DE32C-482B-4BEC-A0AE-CFAFD7B9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57C5"/>
                </a:solidFill>
              </a:defRPr>
            </a:pPr>
            <a:r>
              <a:rPr sz="1725" b="1">
                <a:solidFill>
                  <a:srgbClr val="2457C5"/>
                </a:solidFill>
              </a:rPr>
              <a:t>INGRESS</a:t>
            </a:r>
          </a:p>
        </p:txBody>
      </p:sp>
      <p:sp>
        <p:nvSpPr>
          <p:cNvPr id="10" name="net-s-0">
            <a:extLst xmlns:a="http://schemas.openxmlformats.org/drawingml/2006/main">
              <a:ext uri="{FF2B5EF4-FFF2-40B4-BE49-F238E27FC236}">
                <a16:creationId xmlns:a16="http://schemas.microsoft.com/office/drawing/2014/main" id="{E2D7E33D-057D-430C-ACF2-4152B3DB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MQTT 1884* • Node-RED 1880</a:t>
            </a:r>
          </a:p>
        </p:txBody>
      </p:sp>
      <p:sp>
        <p:nvSpPr>
          <p:cNvPr id="11" name="net-a-0">
            <a:extLst xmlns:a="http://schemas.openxmlformats.org/drawingml/2006/main">
              <a:ext uri="{FF2B5EF4-FFF2-40B4-BE49-F238E27FC236}">
                <a16:creationId xmlns:a16="http://schemas.microsoft.com/office/drawing/2014/main" id="{66AC6C43-9169-4526-99D4-977B03AC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765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A929D"/>
                </a:solidFill>
              </a:defRPr>
            </a:pPr>
            <a:r>
              <a:rPr sz="2550" b="0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12" name="net-1">
            <a:extLst xmlns:a="http://schemas.openxmlformats.org/drawingml/2006/main">
              <a:ext uri="{FF2B5EF4-FFF2-40B4-BE49-F238E27FC236}">
                <a16:creationId xmlns:a16="http://schemas.microsoft.com/office/drawing/2014/main" id="{AFAFFB74-00E7-4703-8254-EEE302E2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3048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3" name="net-t-1">
            <a:extLst xmlns:a="http://schemas.openxmlformats.org/drawingml/2006/main">
              <a:ext uri="{FF2B5EF4-FFF2-40B4-BE49-F238E27FC236}">
                <a16:creationId xmlns:a16="http://schemas.microsoft.com/office/drawing/2014/main" id="{78BDA95E-5A31-4B83-A089-26DE41AF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57C5"/>
                </a:solidFill>
              </a:defRPr>
            </a:pPr>
            <a:r>
              <a:rPr sz="1725" b="1">
                <a:solidFill>
                  <a:srgbClr val="2457C5"/>
                </a:solidFill>
              </a:rPr>
              <a:t>BACKEND</a:t>
            </a:r>
          </a:p>
        </p:txBody>
      </p:sp>
      <p:sp>
        <p:nvSpPr>
          <p:cNvPr id="14" name="net-s-1">
            <a:extLst xmlns:a="http://schemas.openxmlformats.org/drawingml/2006/main">
              <a:ext uri="{FF2B5EF4-FFF2-40B4-BE49-F238E27FC236}">
                <a16:creationId xmlns:a16="http://schemas.microsoft.com/office/drawing/2014/main" id="{ED9D694A-D56F-4D38-AB3F-8173CA05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717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GraphQL 4000 • database lokal</a:t>
            </a:r>
          </a:p>
        </p:txBody>
      </p:sp>
      <p:sp>
        <p:nvSpPr>
          <p:cNvPr id="15" name="net-a-1">
            <a:extLst xmlns:a="http://schemas.openxmlformats.org/drawingml/2006/main">
              <a:ext uri="{FF2B5EF4-FFF2-40B4-BE49-F238E27FC236}">
                <a16:creationId xmlns:a16="http://schemas.microsoft.com/office/drawing/2014/main" id="{521F349C-7AE0-4A55-8048-D28E5326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A929D"/>
                </a:solidFill>
              </a:defRPr>
            </a:pPr>
            <a:r>
              <a:rPr sz="2550" b="0">
                <a:solidFill>
                  <a:srgbClr val="8A929D"/>
                </a:solidFill>
              </a:rPr>
              <a:t>→</a:t>
            </a:r>
          </a:p>
        </p:txBody>
      </p:sp>
      <p:sp>
        <p:nvSpPr>
          <p:cNvPr id="16" name="net-2">
            <a:extLst xmlns:a="http://schemas.openxmlformats.org/drawingml/2006/main">
              <a:ext uri="{FF2B5EF4-FFF2-40B4-BE49-F238E27FC236}">
                <a16:creationId xmlns:a16="http://schemas.microsoft.com/office/drawing/2014/main" id="{0949565C-D357-4A2D-961F-B0DDD06E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048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9525">
            <a:solidFill>
              <a:srgbClr val="17356F"/>
            </a:solidFill>
            <a:prstDash val="solid"/>
          </a:ln>
        </p:spPr>
      </p:sp>
      <p:sp>
        <p:nvSpPr>
          <p:cNvPr id="17" name="net-t-2">
            <a:extLst xmlns:a="http://schemas.openxmlformats.org/drawingml/2006/main">
              <a:ext uri="{FF2B5EF4-FFF2-40B4-BE49-F238E27FC236}">
                <a16:creationId xmlns:a16="http://schemas.microsoft.com/office/drawing/2014/main" id="{9D854453-FDE6-4EFB-9436-F5A776DC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8" name="net-s-2">
            <a:extLst xmlns:a="http://schemas.openxmlformats.org/drawingml/2006/main">
              <a:ext uri="{FF2B5EF4-FFF2-40B4-BE49-F238E27FC236}">
                <a16:creationId xmlns:a16="http://schemas.microsoft.com/office/drawing/2014/main" id="{30EAA9D4-D007-407B-AEBA-90211538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717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BD5E6"/>
                </a:solidFill>
              </a:defRPr>
            </a:pPr>
            <a:r>
              <a:rPr sz="1350" b="0">
                <a:solidFill>
                  <a:srgbClr val="CBD5E6"/>
                </a:solidFill>
              </a:rPr>
              <a:t>RU web 3002 • browser operator</a:t>
            </a:r>
          </a:p>
        </p:txBody>
      </p:sp>
      <p:sp>
        <p:nvSpPr>
          <p:cNvPr id="19" name="payload-bg">
            <a:extLst xmlns:a="http://schemas.openxmlformats.org/drawingml/2006/main">
              <a:ext uri="{FF2B5EF4-FFF2-40B4-BE49-F238E27FC236}">
                <a16:creationId xmlns:a16="http://schemas.microsoft.com/office/drawing/2014/main" id="{E1388124-294B-4A74-B016-9F48DF79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162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yload-label">
            <a:extLst xmlns:a="http://schemas.openxmlformats.org/drawingml/2006/main">
              <a:ext uri="{FF2B5EF4-FFF2-40B4-BE49-F238E27FC236}">
                <a16:creationId xmlns:a16="http://schemas.microsoft.com/office/drawing/2014/main" id="{7BD33D60-775B-4B73-96FB-830EB9CE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RUNTIME</a:t>
            </a:r>
          </a:p>
        </p:txBody>
      </p:sp>
      <p:sp>
        <p:nvSpPr>
          <p:cNvPr id="21" name="payload-value">
            <a:extLst xmlns:a="http://schemas.openxmlformats.org/drawingml/2006/main">
              <a:ext uri="{FF2B5EF4-FFF2-40B4-BE49-F238E27FC236}">
                <a16:creationId xmlns:a16="http://schemas.microsoft.com/office/drawing/2014/main" id="{0BB6DFF8-B877-4886-900E-9CB87DF7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Docker Compose</a:t>
            </a:r>
          </a:p>
        </p:txBody>
      </p:sp>
      <p:sp>
        <p:nvSpPr>
          <p:cNvPr id="22" name="alarm-period-bg">
            <a:extLst xmlns:a="http://schemas.openxmlformats.org/drawingml/2006/main">
              <a:ext uri="{FF2B5EF4-FFF2-40B4-BE49-F238E27FC236}">
                <a16:creationId xmlns:a16="http://schemas.microsoft.com/office/drawing/2014/main" id="{F47A482D-956C-4919-B742-95DBBF39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3162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larm-period-label">
            <a:extLst xmlns:a="http://schemas.openxmlformats.org/drawingml/2006/main">
              <a:ext uri="{FF2B5EF4-FFF2-40B4-BE49-F238E27FC236}">
                <a16:creationId xmlns:a16="http://schemas.microsoft.com/office/drawing/2014/main" id="{A9CA36EF-B886-4670-A8EC-DE5F6215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481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3E35"/>
                </a:solidFill>
              </a:defRPr>
            </a:pPr>
            <a:r>
              <a:rPr sz="1125" b="1">
                <a:solidFill>
                  <a:srgbClr val="AF3E35"/>
                </a:solidFill>
              </a:rPr>
              <a:t>RU DATABASE SAAT INI</a:t>
            </a:r>
          </a:p>
        </p:txBody>
      </p:sp>
      <p:sp>
        <p:nvSpPr>
          <p:cNvPr id="24" name="alarm-period-value">
            <a:extLst xmlns:a="http://schemas.openxmlformats.org/drawingml/2006/main">
              <a:ext uri="{FF2B5EF4-FFF2-40B4-BE49-F238E27FC236}">
                <a16:creationId xmlns:a16="http://schemas.microsoft.com/office/drawing/2014/main" id="{73E5623D-1ADE-41AB-87BD-F94EDE6D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05275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SQLite</a:t>
            </a:r>
          </a:p>
        </p:txBody>
      </p:sp>
      <p:sp>
        <p:nvSpPr>
          <p:cNvPr id="25" name="normal-period-bg">
            <a:extLst xmlns:a="http://schemas.openxmlformats.org/drawingml/2006/main">
              <a:ext uri="{FF2B5EF4-FFF2-40B4-BE49-F238E27FC236}">
                <a16:creationId xmlns:a16="http://schemas.microsoft.com/office/drawing/2014/main" id="{F55AB8B6-A74C-41FB-8F2A-D51E617B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3162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normal-period-label">
            <a:extLst xmlns:a="http://schemas.openxmlformats.org/drawingml/2006/main">
              <a:ext uri="{FF2B5EF4-FFF2-40B4-BE49-F238E27FC236}">
                <a16:creationId xmlns:a16="http://schemas.microsoft.com/office/drawing/2014/main" id="{2FFB5C7A-0BFD-4843-B1A6-98A49EDD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481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HQ GATEWAY</a:t>
            </a:r>
          </a:p>
        </p:txBody>
      </p:sp>
      <p:sp>
        <p:nvSpPr>
          <p:cNvPr id="27" name="normal-period-value">
            <a:extLst xmlns:a="http://schemas.openxmlformats.org/drawingml/2006/main">
              <a:ext uri="{FF2B5EF4-FFF2-40B4-BE49-F238E27FC236}">
                <a16:creationId xmlns:a16="http://schemas.microsoft.com/office/drawing/2014/main" id="{F97EFAB4-BF8C-4794-BADD-6007A652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05275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</a:defRPr>
            </a:pPr>
            <a:r>
              <a:rPr sz="1800" b="1">
                <a:solidFill>
                  <a:srgbClr val="171A1F"/>
                </a:solidFill>
              </a:rPr>
              <a:t>4100 + PostgreSQL</a:t>
            </a:r>
          </a:p>
        </p:txBody>
      </p:sp>
      <p:sp>
        <p:nvSpPr>
          <p:cNvPr id="28" name="wifi-security-bg">
            <a:extLst xmlns:a="http://schemas.openxmlformats.org/drawingml/2006/main">
              <a:ext uri="{FF2B5EF4-FFF2-40B4-BE49-F238E27FC236}">
                <a16:creationId xmlns:a16="http://schemas.microsoft.com/office/drawing/2014/main" id="{5BCDB9AD-A6F4-4791-B805-44F1FD54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EB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ifi-security-bar">
            <a:extLst xmlns:a="http://schemas.openxmlformats.org/drawingml/2006/main">
              <a:ext uri="{FF2B5EF4-FFF2-40B4-BE49-F238E27FC236}">
                <a16:creationId xmlns:a16="http://schemas.microsoft.com/office/drawing/2014/main" id="{AE8BB76D-5BF2-4661-9749-75FA4BFB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ifi-security-label">
            <a:extLst xmlns:a="http://schemas.openxmlformats.org/drawingml/2006/main">
              <a:ext uri="{FF2B5EF4-FFF2-40B4-BE49-F238E27FC236}">
                <a16:creationId xmlns:a16="http://schemas.microsoft.com/office/drawing/2014/main" id="{72559DC7-B86F-492B-BFC7-0E1235CD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911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414"/>
                </a:solidFill>
              </a:defRPr>
            </a:pPr>
            <a:r>
              <a:rPr sz="1350" b="1">
                <a:solidFill>
                  <a:srgbClr val="9A6414"/>
                </a:solidFill>
              </a:rPr>
              <a:t>MINIMUM FIREWALL POLICY</a:t>
            </a:r>
          </a:p>
        </p:txBody>
      </p:sp>
      <p:sp>
        <p:nvSpPr>
          <p:cNvPr id="31" name="wifi-security-body">
            <a:extLst xmlns:a="http://schemas.openxmlformats.org/drawingml/2006/main">
              <a:ext uri="{FF2B5EF4-FFF2-40B4-BE49-F238E27FC236}">
                <a16:creationId xmlns:a16="http://schemas.microsoft.com/office/drawing/2014/main" id="{51676879-FDF0-46A5-8684-DE6DF19B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Allow: Gateway→MQTT, operator→frontend, frontend→backend, dan RU→VPS via VPN jika disetujui. Deny public access ke Node-RED admin.</a:t>
            </a:r>
          </a:p>
        </p:txBody>
      </p:sp>
    </p:spTree>
    <p:extLst>
      <p:ext uri="{BB962C8B-B14F-4D97-AF65-F5344CB8AC3E}">
        <p14:creationId xmlns:p14="http://schemas.microsoft.com/office/powerpoint/2010/main" val="1807943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line-17">
            <a:extLst xmlns:a="http://schemas.openxmlformats.org/drawingml/2006/main">
              <a:ext uri="{FF2B5EF4-FFF2-40B4-BE49-F238E27FC236}">
                <a16:creationId xmlns:a16="http://schemas.microsoft.com/office/drawing/2014/main" id="{539E35AD-FF83-4373-8B0E-C022BC08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7">
            <a:extLst xmlns:a="http://schemas.openxmlformats.org/drawingml/2006/main">
              <a:ext uri="{FF2B5EF4-FFF2-40B4-BE49-F238E27FC236}">
                <a16:creationId xmlns:a16="http://schemas.microsoft.com/office/drawing/2014/main" id="{9F27B0E5-436B-4247-85EF-59F7EB57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12 · POWER SPECIFICATION</a:t>
            </a:r>
          </a:p>
        </p:txBody>
      </p:sp>
      <p:sp>
        <p:nvSpPr>
          <p:cNvPr id="3" name="title-17">
            <a:extLst xmlns:a="http://schemas.openxmlformats.org/drawingml/2006/main">
              <a:ext uri="{FF2B5EF4-FFF2-40B4-BE49-F238E27FC236}">
                <a16:creationId xmlns:a16="http://schemas.microsoft.com/office/drawing/2014/main" id="{A3CDF6B0-0B08-4B14-92E4-967E0BEC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Baseline 24 VDC; portable battery tidak digunakan</a:t>
            </a:r>
          </a:p>
        </p:txBody>
      </p:sp>
      <p:sp>
        <p:nvSpPr>
          <p:cNvPr id="4" name="subtitle-17">
            <a:extLst xmlns:a="http://schemas.openxmlformats.org/drawingml/2006/main">
              <a:ext uri="{FF2B5EF4-FFF2-40B4-BE49-F238E27FC236}">
                <a16:creationId xmlns:a16="http://schemas.microsoft.com/office/drawing/2014/main" id="{DD9A85B1-1325-45F3-ACA4-E35FD9A8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Cluster Head menggunakan dual solar panel dan 18650 battery; hazardous-area certification belum tersedia.</a:t>
            </a:r>
          </a:p>
        </p:txBody>
      </p:sp>
      <p:sp>
        <p:nvSpPr>
          <p:cNvPr id="5" name="footer-rule-17">
            <a:extLst xmlns:a="http://schemas.openxmlformats.org/drawingml/2006/main">
              <a:ext uri="{FF2B5EF4-FFF2-40B4-BE49-F238E27FC236}">
                <a16:creationId xmlns:a16="http://schemas.microsoft.com/office/drawing/2014/main" id="{11E60FEE-62D9-4571-86A0-D4FB35EF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17">
            <a:extLst xmlns:a="http://schemas.openxmlformats.org/drawingml/2006/main">
              <a:ext uri="{FF2B5EF4-FFF2-40B4-BE49-F238E27FC236}">
                <a16:creationId xmlns:a16="http://schemas.microsoft.com/office/drawing/2014/main" id="{E5970214-F830-4FE6-8FA8-60963935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17">
            <a:extLst xmlns:a="http://schemas.openxmlformats.org/drawingml/2006/main">
              <a:ext uri="{FF2B5EF4-FFF2-40B4-BE49-F238E27FC236}">
                <a16:creationId xmlns:a16="http://schemas.microsoft.com/office/drawing/2014/main" id="{F05933A0-AB4A-4528-B7F5-779DA5EC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17</a:t>
            </a:r>
          </a:p>
        </p:txBody>
      </p:sp>
      <p:sp>
        <p:nvSpPr>
          <p:cNvPr id="8" name="power-gld">
            <a:extLst xmlns:a="http://schemas.openxmlformats.org/drawingml/2006/main">
              <a:ext uri="{FF2B5EF4-FFF2-40B4-BE49-F238E27FC236}">
                <a16:creationId xmlns:a16="http://schemas.microsoft.com/office/drawing/2014/main" id="{AA587193-0D07-4264-9840-5CF5D6A1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7C5"/>
                </a:solidFill>
              </a:defRPr>
            </a:pPr>
            <a:r>
              <a:rPr sz="2175" b="1">
                <a:solidFill>
                  <a:srgbClr val="2457C5"/>
                </a:solidFill>
              </a:rPr>
              <a:t>GLD NODE</a:t>
            </a:r>
          </a:p>
        </p:txBody>
      </p:sp>
      <p:sp>
        <p:nvSpPr>
          <p:cNvPr id="9" name="power-ch">
            <a:extLst xmlns:a="http://schemas.openxmlformats.org/drawingml/2006/main">
              <a:ext uri="{FF2B5EF4-FFF2-40B4-BE49-F238E27FC236}">
                <a16:creationId xmlns:a16="http://schemas.microsoft.com/office/drawing/2014/main" id="{ECB8543B-7A15-47C8-B257-E25BBE5B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7C5"/>
                </a:solidFill>
              </a:defRPr>
            </a:pPr>
            <a:r>
              <a:rPr sz="2175" b="1">
                <a:solidFill>
                  <a:srgbClr val="2457C5"/>
                </a:solidFill>
              </a:rPr>
              <a:t>CLUSTER HEAD</a:t>
            </a:r>
          </a:p>
        </p:txBody>
      </p:sp>
      <p:sp>
        <p:nvSpPr>
          <p:cNvPr id="10" name="dot-88-294">
            <a:extLst xmlns:a="http://schemas.openxmlformats.org/drawingml/2006/main">
              <a:ext uri="{FF2B5EF4-FFF2-40B4-BE49-F238E27FC236}">
                <a16:creationId xmlns:a16="http://schemas.microsoft.com/office/drawing/2014/main" id="{BA7FC916-58FA-46E6-9000-BC4AD4C6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-gld-1-title">
            <a:extLst xmlns:a="http://schemas.openxmlformats.org/drawingml/2006/main">
              <a:ext uri="{FF2B5EF4-FFF2-40B4-BE49-F238E27FC236}">
                <a16:creationId xmlns:a16="http://schemas.microsoft.com/office/drawing/2014/main" id="{5CB6D30D-D72C-48D2-A164-85B60055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Input 24 VDC ≥2 A per unit</a:t>
            </a:r>
          </a:p>
        </p:txBody>
      </p:sp>
      <p:sp>
        <p:nvSpPr>
          <p:cNvPr id="12" name="p-gld-1-detail">
            <a:extLst xmlns:a="http://schemas.openxmlformats.org/drawingml/2006/main">
              <a:ext uri="{FF2B5EF4-FFF2-40B4-BE49-F238E27FC236}">
                <a16:creationId xmlns:a16="http://schemas.microsoft.com/office/drawing/2014/main" id="{CB0E460D-3DDA-47AC-B1E8-F5F7BD89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Production power baseline</a:t>
            </a:r>
          </a:p>
        </p:txBody>
      </p:sp>
      <p:sp>
        <p:nvSpPr>
          <p:cNvPr id="13" name="dot-88-384">
            <a:extLst xmlns:a="http://schemas.openxmlformats.org/drawingml/2006/main">
              <a:ext uri="{FF2B5EF4-FFF2-40B4-BE49-F238E27FC236}">
                <a16:creationId xmlns:a16="http://schemas.microsoft.com/office/drawing/2014/main" id="{8D918B1D-17F6-482F-B0DF-3168B554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-gld-2-title">
            <a:extLst xmlns:a="http://schemas.openxmlformats.org/drawingml/2006/main">
              <a:ext uri="{FF2B5EF4-FFF2-40B4-BE49-F238E27FC236}">
                <a16:creationId xmlns:a16="http://schemas.microsoft.com/office/drawing/2014/main" id="{3BC5E7C5-0A72-481D-ACDF-2E9EF56F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Cable dan PSU disediakan RU</a:t>
            </a:r>
          </a:p>
        </p:txBody>
      </p:sp>
      <p:sp>
        <p:nvSpPr>
          <p:cNvPr id="15" name="p-gld-2-detail">
            <a:extLst xmlns:a="http://schemas.openxmlformats.org/drawingml/2006/main">
              <a:ext uri="{FF2B5EF4-FFF2-40B4-BE49-F238E27FC236}">
                <a16:creationId xmlns:a16="http://schemas.microsoft.com/office/drawing/2014/main" id="{8E2A8594-668B-4DA2-875D-CE0758A4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Satu protected circuit per installation point</a:t>
            </a:r>
          </a:p>
        </p:txBody>
      </p:sp>
      <p:sp>
        <p:nvSpPr>
          <p:cNvPr id="16" name="dot-88-474">
            <a:extLst xmlns:a="http://schemas.openxmlformats.org/drawingml/2006/main">
              <a:ext uri="{FF2B5EF4-FFF2-40B4-BE49-F238E27FC236}">
                <a16:creationId xmlns:a16="http://schemas.microsoft.com/office/drawing/2014/main" id="{3D34A9E9-E0FC-4CA8-9097-03D0CA96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-gld-3-title">
            <a:extLst xmlns:a="http://schemas.openxmlformats.org/drawingml/2006/main">
              <a:ext uri="{FF2B5EF4-FFF2-40B4-BE49-F238E27FC236}">
                <a16:creationId xmlns:a16="http://schemas.microsoft.com/office/drawing/2014/main" id="{59B5BFFF-4448-491C-AD42-88BDBDF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Portable battery excluded</a:t>
            </a:r>
          </a:p>
        </p:txBody>
      </p:sp>
      <p:sp>
        <p:nvSpPr>
          <p:cNvPr id="18" name="p-gld-3-detail">
            <a:extLst xmlns:a="http://schemas.openxmlformats.org/drawingml/2006/main">
              <a:ext uri="{FF2B5EF4-FFF2-40B4-BE49-F238E27FC236}">
                <a16:creationId xmlns:a16="http://schemas.microsoft.com/office/drawing/2014/main" id="{C1C6EE3F-FCBE-437C-B152-EE8B70B6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Measured endurance 1,76 hari; requirement 30 hari</a:t>
            </a:r>
          </a:p>
        </p:txBody>
      </p:sp>
      <p:sp>
        <p:nvSpPr>
          <p:cNvPr id="19" name="dot-682-294">
            <a:extLst xmlns:a="http://schemas.openxmlformats.org/drawingml/2006/main">
              <a:ext uri="{FF2B5EF4-FFF2-40B4-BE49-F238E27FC236}">
                <a16:creationId xmlns:a16="http://schemas.microsoft.com/office/drawing/2014/main" id="{85FF7E9D-6960-44D5-8B6A-8D87739D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-ch-1-title">
            <a:extLst xmlns:a="http://schemas.openxmlformats.org/drawingml/2006/main">
              <a:ext uri="{FF2B5EF4-FFF2-40B4-BE49-F238E27FC236}">
                <a16:creationId xmlns:a16="http://schemas.microsoft.com/office/drawing/2014/main" id="{C478CF9B-B4B2-491B-93B6-64993AEA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241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Dual-panel energy surplus</a:t>
            </a:r>
          </a:p>
        </p:txBody>
      </p:sp>
      <p:sp>
        <p:nvSpPr>
          <p:cNvPr id="21" name="p-ch-1-detail">
            <a:extLst xmlns:a="http://schemas.openxmlformats.org/drawingml/2006/main">
              <a:ext uri="{FF2B5EF4-FFF2-40B4-BE49-F238E27FC236}">
                <a16:creationId xmlns:a16="http://schemas.microsoft.com/office/drawing/2014/main" id="{5221B43C-291D-4859-AC9B-9B1F122E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99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Calculated surplus 1,5–4,4 Wh/hari</a:t>
            </a:r>
          </a:p>
        </p:txBody>
      </p:sp>
      <p:sp>
        <p:nvSpPr>
          <p:cNvPr id="22" name="dot-682-384">
            <a:extLst xmlns:a="http://schemas.openxmlformats.org/drawingml/2006/main">
              <a:ext uri="{FF2B5EF4-FFF2-40B4-BE49-F238E27FC236}">
                <a16:creationId xmlns:a16="http://schemas.microsoft.com/office/drawing/2014/main" id="{7A106F9C-3C04-4495-91B7-28172139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-ch-2-title">
            <a:extLst xmlns:a="http://schemas.openxmlformats.org/drawingml/2006/main">
              <a:ext uri="{FF2B5EF4-FFF2-40B4-BE49-F238E27FC236}">
                <a16:creationId xmlns:a16="http://schemas.microsoft.com/office/drawing/2014/main" id="{DAD3A200-AC54-4A6C-AD4A-086808A2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814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Panel → BQ25185 → 18650</a:t>
            </a:r>
          </a:p>
        </p:txBody>
      </p:sp>
      <p:sp>
        <p:nvSpPr>
          <p:cNvPr id="24" name="p-ch-2-detail">
            <a:extLst xmlns:a="http://schemas.openxmlformats.org/drawingml/2006/main">
              <a:ext uri="{FF2B5EF4-FFF2-40B4-BE49-F238E27FC236}">
                <a16:creationId xmlns:a16="http://schemas.microsoft.com/office/drawing/2014/main" id="{5DC23419-89ED-454C-BF0D-644721C1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TPS63020 3,3V menuju beban</a:t>
            </a:r>
          </a:p>
        </p:txBody>
      </p:sp>
      <p:sp>
        <p:nvSpPr>
          <p:cNvPr id="25" name="dot-682-474">
            <a:extLst xmlns:a="http://schemas.openxmlformats.org/drawingml/2006/main">
              <a:ext uri="{FF2B5EF4-FFF2-40B4-BE49-F238E27FC236}">
                <a16:creationId xmlns:a16="http://schemas.microsoft.com/office/drawing/2014/main" id="{25C8DB2C-67FC-4F44-BC5C-A2549824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-ch-3-title">
            <a:extLst xmlns:a="http://schemas.openxmlformats.org/drawingml/2006/main">
              <a:ext uri="{FF2B5EF4-FFF2-40B4-BE49-F238E27FC236}">
                <a16:creationId xmlns:a16="http://schemas.microsoft.com/office/drawing/2014/main" id="{384B7A09-D928-4234-A499-551B3E8C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386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1F"/>
                </a:solidFill>
              </a:defRPr>
            </a:pPr>
            <a:r>
              <a:rPr sz="1650" b="1">
                <a:solidFill>
                  <a:srgbClr val="171A1F"/>
                </a:solidFill>
              </a:rPr>
              <a:t>Solar/battery certification unavailable</a:t>
            </a:r>
          </a:p>
        </p:txBody>
      </p:sp>
      <p:sp>
        <p:nvSpPr>
          <p:cNvPr id="27" name="p-ch-3-detail">
            <a:extLst xmlns:a="http://schemas.openxmlformats.org/drawingml/2006/main">
              <a:ext uri="{FF2B5EF4-FFF2-40B4-BE49-F238E27FC236}">
                <a16:creationId xmlns:a16="http://schemas.microsoft.com/office/drawing/2014/main" id="{C6D2EC55-A7DC-4E0F-9888-B4EE1D75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244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Hazardous-area verification mandatory</a:t>
            </a:r>
          </a:p>
        </p:txBody>
      </p:sp>
      <p:sp>
        <p:nvSpPr>
          <p:cNvPr id="28" name="battery-track">
            <a:extLst xmlns:a="http://schemas.openxmlformats.org/drawingml/2006/main">
              <a:ext uri="{FF2B5EF4-FFF2-40B4-BE49-F238E27FC236}">
                <a16:creationId xmlns:a16="http://schemas.microsoft.com/office/drawing/2014/main" id="{9B961644-ADAD-498A-B4DA-741F1CBA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42035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attery-fill">
            <a:extLst xmlns:a="http://schemas.openxmlformats.org/drawingml/2006/main">
              <a:ext uri="{FF2B5EF4-FFF2-40B4-BE49-F238E27FC236}">
                <a16:creationId xmlns:a16="http://schemas.microsoft.com/office/drawing/2014/main" id="{96B57EDB-01F8-4647-A27B-BB9D1BDE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6096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ttery-label">
            <a:extLst xmlns:a="http://schemas.openxmlformats.org/drawingml/2006/main">
              <a:ext uri="{FF2B5EF4-FFF2-40B4-BE49-F238E27FC236}">
                <a16:creationId xmlns:a16="http://schemas.microsoft.com/office/drawing/2014/main" id="{D3331594-70B0-461B-B645-254AA07E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F3E35"/>
                </a:solidFill>
              </a:defRPr>
            </a:pPr>
            <a:r>
              <a:rPr sz="1350" b="1">
                <a:solidFill>
                  <a:srgbClr val="AF3E35"/>
                </a:solidFill>
              </a:rPr>
              <a:t>Baterai GLD: 1,76 / 30 hari</a:t>
            </a:r>
          </a:p>
        </p:txBody>
      </p:sp>
    </p:spTree>
    <p:extLst>
      <p:ext uri="{BB962C8B-B14F-4D97-AF65-F5344CB8AC3E}">
        <p14:creationId xmlns:p14="http://schemas.microsoft.com/office/powerpoint/2010/main" val="2890820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line-18">
            <a:extLst xmlns:a="http://schemas.openxmlformats.org/drawingml/2006/main">
              <a:ext uri="{FF2B5EF4-FFF2-40B4-BE49-F238E27FC236}">
                <a16:creationId xmlns:a16="http://schemas.microsoft.com/office/drawing/2014/main" id="{C1736028-729E-4B32-A2D8-2B17575E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8">
            <a:extLst xmlns:a="http://schemas.openxmlformats.org/drawingml/2006/main">
              <a:ext uri="{FF2B5EF4-FFF2-40B4-BE49-F238E27FC236}">
                <a16:creationId xmlns:a16="http://schemas.microsoft.com/office/drawing/2014/main" id="{1DC67CA8-1020-466B-8FCC-60859936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13 · COMMISSIONING PREREQUISITES</a:t>
            </a:r>
          </a:p>
        </p:txBody>
      </p:sp>
      <p:sp>
        <p:nvSpPr>
          <p:cNvPr id="3" name="title-18">
            <a:extLst xmlns:a="http://schemas.openxmlformats.org/drawingml/2006/main">
              <a:ext uri="{FF2B5EF4-FFF2-40B4-BE49-F238E27FC236}">
                <a16:creationId xmlns:a16="http://schemas.microsoft.com/office/drawing/2014/main" id="{A5A7298C-1FAF-4CE8-B4BC-3EAE6F01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Delapan open item memblokir commissioning</a:t>
            </a:r>
          </a:p>
        </p:txBody>
      </p:sp>
      <p:sp>
        <p:nvSpPr>
          <p:cNvPr id="4" name="subtitle-18">
            <a:extLst xmlns:a="http://schemas.openxmlformats.org/drawingml/2006/main">
              <a:ext uri="{FF2B5EF4-FFF2-40B4-BE49-F238E27FC236}">
                <a16:creationId xmlns:a16="http://schemas.microsoft.com/office/drawing/2014/main" id="{21D99558-39D4-4FC2-99FC-06275FC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Tidak ada open item pada slide ini yang dapat ditutup hanya dengan hasil uji laboratorium.</a:t>
            </a:r>
          </a:p>
        </p:txBody>
      </p:sp>
      <p:sp>
        <p:nvSpPr>
          <p:cNvPr id="5" name="footer-rule-18">
            <a:extLst xmlns:a="http://schemas.openxmlformats.org/drawingml/2006/main">
              <a:ext uri="{FF2B5EF4-FFF2-40B4-BE49-F238E27FC236}">
                <a16:creationId xmlns:a16="http://schemas.microsoft.com/office/drawing/2014/main" id="{0E56E7E8-C437-4C27-BB2A-7B5533C8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18">
            <a:extLst xmlns:a="http://schemas.openxmlformats.org/drawingml/2006/main">
              <a:ext uri="{FF2B5EF4-FFF2-40B4-BE49-F238E27FC236}">
                <a16:creationId xmlns:a16="http://schemas.microsoft.com/office/drawing/2014/main" id="{77082D53-EE79-4B40-86CE-F9698CF2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18">
            <a:extLst xmlns:a="http://schemas.openxmlformats.org/drawingml/2006/main">
              <a:ext uri="{FF2B5EF4-FFF2-40B4-BE49-F238E27FC236}">
                <a16:creationId xmlns:a16="http://schemas.microsoft.com/office/drawing/2014/main" id="{0CAB59B3-A561-4AC3-AD02-ED6620D9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18</a:t>
            </a:r>
          </a:p>
        </p:txBody>
      </p:sp>
      <p:sp>
        <p:nvSpPr>
          <p:cNvPr id="8" name="gate-bg-0">
            <a:extLst xmlns:a="http://schemas.openxmlformats.org/drawingml/2006/main">
              <a:ext uri="{FF2B5EF4-FFF2-40B4-BE49-F238E27FC236}">
                <a16:creationId xmlns:a16="http://schemas.microsoft.com/office/drawing/2014/main" id="{5834962D-294B-4399-BB63-7DA3D758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029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9" name="dot-90-233">
            <a:extLst xmlns:a="http://schemas.openxmlformats.org/drawingml/2006/main">
              <a:ext uri="{FF2B5EF4-FFF2-40B4-BE49-F238E27FC236}">
                <a16:creationId xmlns:a16="http://schemas.microsoft.com/office/drawing/2014/main" id="{4CA98FD5-8F50-48C6-A36F-B7A076E4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ate-t-0">
            <a:extLst xmlns:a="http://schemas.openxmlformats.org/drawingml/2006/main">
              <a:ext uri="{FF2B5EF4-FFF2-40B4-BE49-F238E27FC236}">
                <a16:creationId xmlns:a16="http://schemas.microsoft.com/office/drawing/2014/main" id="{007A4193-0EE7-447F-A8C1-FB94FED0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</a:defRPr>
            </a:pPr>
            <a:r>
              <a:rPr sz="1500" b="1">
                <a:solidFill>
                  <a:srgbClr val="171A1F"/>
                </a:solidFill>
              </a:rPr>
              <a:t>TRA/JSA approval</a:t>
            </a:r>
          </a:p>
        </p:txBody>
      </p:sp>
      <p:sp>
        <p:nvSpPr>
          <p:cNvPr id="11" name="gate-d-0">
            <a:extLst xmlns:a="http://schemas.openxmlformats.org/drawingml/2006/main">
              <a:ext uri="{FF2B5EF4-FFF2-40B4-BE49-F238E27FC236}">
                <a16:creationId xmlns:a16="http://schemas.microsoft.com/office/drawing/2014/main" id="{8404A048-AE69-47FA-A262-8449495F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OPEN — internal draft only</a:t>
            </a:r>
          </a:p>
        </p:txBody>
      </p:sp>
      <p:sp>
        <p:nvSpPr>
          <p:cNvPr id="12" name="gate-bg-1">
            <a:extLst xmlns:a="http://schemas.openxmlformats.org/drawingml/2006/main">
              <a:ext uri="{FF2B5EF4-FFF2-40B4-BE49-F238E27FC236}">
                <a16:creationId xmlns:a16="http://schemas.microsoft.com/office/drawing/2014/main" id="{68B88E1D-72EA-45A5-8121-F24574A2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029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3" name="dot-658-233">
            <a:extLst xmlns:a="http://schemas.openxmlformats.org/drawingml/2006/main">
              <a:ext uri="{FF2B5EF4-FFF2-40B4-BE49-F238E27FC236}">
                <a16:creationId xmlns:a16="http://schemas.microsoft.com/office/drawing/2014/main" id="{180E8C3F-BE74-4C6B-83B4-E4BAC511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ate-t-1">
            <a:extLst xmlns:a="http://schemas.openxmlformats.org/drawingml/2006/main">
              <a:ext uri="{FF2B5EF4-FFF2-40B4-BE49-F238E27FC236}">
                <a16:creationId xmlns:a16="http://schemas.microsoft.com/office/drawing/2014/main" id="{B4D3FE51-2668-468F-B2AE-9C2B1E9C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</a:defRPr>
            </a:pPr>
            <a:r>
              <a:rPr sz="1500" b="1">
                <a:solidFill>
                  <a:srgbClr val="171A1F"/>
                </a:solidFill>
              </a:rPr>
              <a:t>ATEX certification</a:t>
            </a:r>
          </a:p>
        </p:txBody>
      </p:sp>
      <p:sp>
        <p:nvSpPr>
          <p:cNvPr id="15" name="gate-d-1">
            <a:extLst xmlns:a="http://schemas.openxmlformats.org/drawingml/2006/main">
              <a:ext uri="{FF2B5EF4-FFF2-40B4-BE49-F238E27FC236}">
                <a16:creationId xmlns:a16="http://schemas.microsoft.com/office/drawing/2014/main" id="{7C3E5178-7496-4717-B35A-1A9CA60B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OPEN — permanent installation prohibited</a:t>
            </a:r>
          </a:p>
        </p:txBody>
      </p:sp>
      <p:sp>
        <p:nvSpPr>
          <p:cNvPr id="16" name="gate-bg-2">
            <a:extLst xmlns:a="http://schemas.openxmlformats.org/drawingml/2006/main">
              <a:ext uri="{FF2B5EF4-FFF2-40B4-BE49-F238E27FC236}">
                <a16:creationId xmlns:a16="http://schemas.microsoft.com/office/drawing/2014/main" id="{59C6D637-1654-4D8E-836E-A3A6C1DA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029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17" name="dot-90-325">
            <a:extLst xmlns:a="http://schemas.openxmlformats.org/drawingml/2006/main">
              <a:ext uri="{FF2B5EF4-FFF2-40B4-BE49-F238E27FC236}">
                <a16:creationId xmlns:a16="http://schemas.microsoft.com/office/drawing/2014/main" id="{F6B52C2C-40C1-4DA4-AE55-31FC7584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ate-t-2">
            <a:extLst xmlns:a="http://schemas.openxmlformats.org/drawingml/2006/main">
              <a:ext uri="{FF2B5EF4-FFF2-40B4-BE49-F238E27FC236}">
                <a16:creationId xmlns:a16="http://schemas.microsoft.com/office/drawing/2014/main" id="{674675B9-361F-4123-A17E-9CDCCBD4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</a:defRPr>
            </a:pPr>
            <a:r>
              <a:rPr sz="1500" b="1">
                <a:solidFill>
                  <a:srgbClr val="171A1F"/>
                </a:solidFill>
              </a:rPr>
              <a:t>MQTT ingestion adapter</a:t>
            </a:r>
          </a:p>
        </p:txBody>
      </p:sp>
      <p:sp>
        <p:nvSpPr>
          <p:cNvPr id="19" name="gate-d-2">
            <a:extLst xmlns:a="http://schemas.openxmlformats.org/drawingml/2006/main">
              <a:ext uri="{FF2B5EF4-FFF2-40B4-BE49-F238E27FC236}">
                <a16:creationId xmlns:a16="http://schemas.microsoft.com/office/drawing/2014/main" id="{56042B5A-D135-4763-AA24-4ECFD52F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NOT IMPLEMENTED</a:t>
            </a:r>
          </a:p>
        </p:txBody>
      </p:sp>
      <p:sp>
        <p:nvSpPr>
          <p:cNvPr id="20" name="gate-bg-3">
            <a:extLst xmlns:a="http://schemas.openxmlformats.org/drawingml/2006/main">
              <a:ext uri="{FF2B5EF4-FFF2-40B4-BE49-F238E27FC236}">
                <a16:creationId xmlns:a16="http://schemas.microsoft.com/office/drawing/2014/main" id="{B127E014-584D-461D-A03B-5538136C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5029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1" name="dot-658-325">
            <a:extLst xmlns:a="http://schemas.openxmlformats.org/drawingml/2006/main">
              <a:ext uri="{FF2B5EF4-FFF2-40B4-BE49-F238E27FC236}">
                <a16:creationId xmlns:a16="http://schemas.microsoft.com/office/drawing/2014/main" id="{CA495FDD-DD37-4CAC-B5F1-590992EA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95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3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ate-t-3">
            <a:extLst xmlns:a="http://schemas.openxmlformats.org/drawingml/2006/main">
              <a:ext uri="{FF2B5EF4-FFF2-40B4-BE49-F238E27FC236}">
                <a16:creationId xmlns:a16="http://schemas.microsoft.com/office/drawing/2014/main" id="{63AB27AE-FE3C-4483-85C9-4C993D05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</a:defRPr>
            </a:pPr>
            <a:r>
              <a:rPr sz="1500" b="1">
                <a:solidFill>
                  <a:srgbClr val="171A1F"/>
                </a:solidFill>
              </a:rPr>
              <a:t>Gateway/server network approval</a:t>
            </a:r>
          </a:p>
        </p:txBody>
      </p:sp>
      <p:sp>
        <p:nvSpPr>
          <p:cNvPr id="23" name="gate-d-3">
            <a:extLst xmlns:a="http://schemas.openxmlformats.org/drawingml/2006/main">
              <a:ext uri="{FF2B5EF4-FFF2-40B4-BE49-F238E27FC236}">
                <a16:creationId xmlns:a16="http://schemas.microsoft.com/office/drawing/2014/main" id="{6D7F93FD-787C-4CF0-94D9-A2287BBC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OPEN — VLAN, ACL, identity, firewall</a:t>
            </a:r>
          </a:p>
        </p:txBody>
      </p:sp>
      <p:sp>
        <p:nvSpPr>
          <p:cNvPr id="24" name="gate-bg-4">
            <a:extLst xmlns:a="http://schemas.openxmlformats.org/drawingml/2006/main">
              <a:ext uri="{FF2B5EF4-FFF2-40B4-BE49-F238E27FC236}">
                <a16:creationId xmlns:a16="http://schemas.microsoft.com/office/drawing/2014/main" id="{60FEE6C9-F4C2-4E3B-AD06-CA931FF6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029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5" name="dot-90-417">
            <a:extLst xmlns:a="http://schemas.openxmlformats.org/drawingml/2006/main">
              <a:ext uri="{FF2B5EF4-FFF2-40B4-BE49-F238E27FC236}">
                <a16:creationId xmlns:a16="http://schemas.microsoft.com/office/drawing/2014/main" id="{41AEAE3E-273B-41F8-9457-37A5D441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ate-t-4">
            <a:extLst xmlns:a="http://schemas.openxmlformats.org/drawingml/2006/main">
              <a:ext uri="{FF2B5EF4-FFF2-40B4-BE49-F238E27FC236}">
                <a16:creationId xmlns:a16="http://schemas.microsoft.com/office/drawing/2014/main" id="{FE61B557-8E86-466C-9F2D-DB19A02A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</a:defRPr>
            </a:pPr>
            <a:r>
              <a:rPr sz="1500" b="1">
                <a:solidFill>
                  <a:srgbClr val="171A1F"/>
                </a:solidFill>
              </a:rPr>
              <a:t>Elevated-mounting approval</a:t>
            </a:r>
          </a:p>
        </p:txBody>
      </p:sp>
      <p:sp>
        <p:nvSpPr>
          <p:cNvPr id="27" name="gate-d-4">
            <a:extLst xmlns:a="http://schemas.openxmlformats.org/drawingml/2006/main">
              <a:ext uri="{FF2B5EF4-FFF2-40B4-BE49-F238E27FC236}">
                <a16:creationId xmlns:a16="http://schemas.microsoft.com/office/drawing/2014/main" id="{5CE8D397-2D53-4169-ABFD-33D2CE16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OPEN — test limited to human height</a:t>
            </a:r>
          </a:p>
        </p:txBody>
      </p:sp>
      <p:sp>
        <p:nvSpPr>
          <p:cNvPr id="28" name="gate-bg-5">
            <a:extLst xmlns:a="http://schemas.openxmlformats.org/drawingml/2006/main">
              <a:ext uri="{FF2B5EF4-FFF2-40B4-BE49-F238E27FC236}">
                <a16:creationId xmlns:a16="http://schemas.microsoft.com/office/drawing/2014/main" id="{27279CC4-F271-435E-ADB3-92272BA8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5029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29" name="dot-658-417">
            <a:extLst xmlns:a="http://schemas.openxmlformats.org/drawingml/2006/main">
              <a:ext uri="{FF2B5EF4-FFF2-40B4-BE49-F238E27FC236}">
                <a16:creationId xmlns:a16="http://schemas.microsoft.com/office/drawing/2014/main" id="{7C71D086-C44B-433C-A4D8-757971B2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71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ate-t-5">
            <a:extLst xmlns:a="http://schemas.openxmlformats.org/drawingml/2006/main">
              <a:ext uri="{FF2B5EF4-FFF2-40B4-BE49-F238E27FC236}">
                <a16:creationId xmlns:a16="http://schemas.microsoft.com/office/drawing/2014/main" id="{6BA849A3-C8EF-4F6F-B1D9-30D6FED6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671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</a:defRPr>
            </a:pPr>
            <a:r>
              <a:rPr sz="1500" b="1">
                <a:solidFill>
                  <a:srgbClr val="171A1F"/>
                </a:solidFill>
              </a:rPr>
              <a:t>Gateway/CH capacity limit</a:t>
            </a:r>
          </a:p>
        </p:txBody>
      </p:sp>
      <p:sp>
        <p:nvSpPr>
          <p:cNvPr id="31" name="gate-d-5">
            <a:extLst xmlns:a="http://schemas.openxmlformats.org/drawingml/2006/main">
              <a:ext uri="{FF2B5EF4-FFF2-40B4-BE49-F238E27FC236}">
                <a16:creationId xmlns:a16="http://schemas.microsoft.com/office/drawing/2014/main" id="{6EC77A25-1AD7-4C20-98FF-FF55B13E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5290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OPEN — load test not available</a:t>
            </a:r>
          </a:p>
        </p:txBody>
      </p:sp>
      <p:sp>
        <p:nvSpPr>
          <p:cNvPr id="32" name="gate-bg-6">
            <a:extLst xmlns:a="http://schemas.openxmlformats.org/drawingml/2006/main">
              <a:ext uri="{FF2B5EF4-FFF2-40B4-BE49-F238E27FC236}">
                <a16:creationId xmlns:a16="http://schemas.microsoft.com/office/drawing/2014/main" id="{8D46E369-9CBA-426F-9A5F-F42531A2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029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33" name="dot-90-509">
            <a:extLst xmlns:a="http://schemas.openxmlformats.org/drawingml/2006/main">
              <a:ext uri="{FF2B5EF4-FFF2-40B4-BE49-F238E27FC236}">
                <a16:creationId xmlns:a16="http://schemas.microsoft.com/office/drawing/2014/main" id="{B3D6F4DC-3D65-48F2-AB08-7789C891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ate-t-6">
            <a:extLst xmlns:a="http://schemas.openxmlformats.org/drawingml/2006/main">
              <a:ext uri="{FF2B5EF4-FFF2-40B4-BE49-F238E27FC236}">
                <a16:creationId xmlns:a16="http://schemas.microsoft.com/office/drawing/2014/main" id="{89BA9A98-E232-4067-9D2C-3E4CE39E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</a:defRPr>
            </a:pPr>
            <a:r>
              <a:rPr sz="1500" b="1">
                <a:solidFill>
                  <a:srgbClr val="171A1F"/>
                </a:solidFill>
              </a:rPr>
              <a:t>RU production database</a:t>
            </a:r>
          </a:p>
        </p:txBody>
      </p:sp>
      <p:sp>
        <p:nvSpPr>
          <p:cNvPr id="35" name="gate-d-6">
            <a:extLst xmlns:a="http://schemas.openxmlformats.org/drawingml/2006/main">
              <a:ext uri="{FF2B5EF4-FFF2-40B4-BE49-F238E27FC236}">
                <a16:creationId xmlns:a16="http://schemas.microsoft.com/office/drawing/2014/main" id="{F8A31615-7A00-49C0-B80A-A62F972E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OPEN — SQLite pilot vs PostgreSQL</a:t>
            </a:r>
          </a:p>
        </p:txBody>
      </p:sp>
      <p:sp>
        <p:nvSpPr>
          <p:cNvPr id="36" name="gate-bg-7">
            <a:extLst xmlns:a="http://schemas.openxmlformats.org/drawingml/2006/main">
              <a:ext uri="{FF2B5EF4-FFF2-40B4-BE49-F238E27FC236}">
                <a16:creationId xmlns:a16="http://schemas.microsoft.com/office/drawing/2014/main" id="{47CF74A8-0985-46A8-BB5D-12DA9181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5029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2EC"/>
            </a:solidFill>
            <a:prstDash val="solid"/>
          </a:ln>
        </p:spPr>
      </p:sp>
      <p:sp>
        <p:nvSpPr>
          <p:cNvPr id="37" name="dot-658-509">
            <a:extLst xmlns:a="http://schemas.openxmlformats.org/drawingml/2006/main">
              <a:ext uri="{FF2B5EF4-FFF2-40B4-BE49-F238E27FC236}">
                <a16:creationId xmlns:a16="http://schemas.microsoft.com/office/drawing/2014/main" id="{C535672A-BB0E-4248-8B8E-77B2F195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48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gate-t-7">
            <a:extLst xmlns:a="http://schemas.openxmlformats.org/drawingml/2006/main">
              <a:ext uri="{FF2B5EF4-FFF2-40B4-BE49-F238E27FC236}">
                <a16:creationId xmlns:a16="http://schemas.microsoft.com/office/drawing/2014/main" id="{50A4CF47-E531-45B9-9808-B7605FC1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</a:defRPr>
            </a:pPr>
            <a:r>
              <a:rPr sz="1500" b="1">
                <a:solidFill>
                  <a:srgbClr val="171A1F"/>
                </a:solidFill>
              </a:rPr>
              <a:t>RU server/VM allocation</a:t>
            </a:r>
          </a:p>
        </p:txBody>
      </p:sp>
      <p:sp>
        <p:nvSpPr>
          <p:cNvPr id="39" name="gate-d-7">
            <a:extLst xmlns:a="http://schemas.openxmlformats.org/drawingml/2006/main">
              <a:ext uri="{FF2B5EF4-FFF2-40B4-BE49-F238E27FC236}">
                <a16:creationId xmlns:a16="http://schemas.microsoft.com/office/drawing/2014/main" id="{DF39D18A-E4CF-4BFE-BF35-9B1B8801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2920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OPEN — resource confirmation required</a:t>
            </a:r>
          </a:p>
        </p:txBody>
      </p:sp>
      <p:sp>
        <p:nvSpPr>
          <p:cNvPr id="40" name="progress-scope-bg">
            <a:extLst xmlns:a="http://schemas.openxmlformats.org/drawingml/2006/main">
              <a:ext uri="{FF2B5EF4-FFF2-40B4-BE49-F238E27FC236}">
                <a16:creationId xmlns:a16="http://schemas.microsoft.com/office/drawing/2014/main" id="{79B55D12-7E9C-47FF-B7E7-4A993544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rogress-scope-bar">
            <a:extLst xmlns:a="http://schemas.openxmlformats.org/drawingml/2006/main">
              <a:ext uri="{FF2B5EF4-FFF2-40B4-BE49-F238E27FC236}">
                <a16:creationId xmlns:a16="http://schemas.microsoft.com/office/drawing/2014/main" id="{24EB4812-0722-4307-8581-64DE09E5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rogress-scope-label">
            <a:extLst xmlns:a="http://schemas.openxmlformats.org/drawingml/2006/main">
              <a:ext uri="{FF2B5EF4-FFF2-40B4-BE49-F238E27FC236}">
                <a16:creationId xmlns:a16="http://schemas.microsoft.com/office/drawing/2014/main" id="{D397ADDA-128E-488E-AB92-301C1534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PROGRESS BOUNDARY</a:t>
            </a:r>
          </a:p>
        </p:txBody>
      </p:sp>
      <p:sp>
        <p:nvSpPr>
          <p:cNvPr id="43" name="progress-scope-body">
            <a:extLst xmlns:a="http://schemas.openxmlformats.org/drawingml/2006/main">
              <a:ext uri="{FF2B5EF4-FFF2-40B4-BE49-F238E27FC236}">
                <a16:creationId xmlns:a16="http://schemas.microsoft.com/office/drawing/2014/main" id="{0C1B4F77-BE40-493E-A366-140FEAC7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265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≈39% merepresentasikan engineering laboratory progress; tidak merepresentasikan certification, commissioning, atau operational acceptance.</a:t>
            </a:r>
          </a:p>
        </p:txBody>
      </p:sp>
    </p:spTree>
    <p:extLst>
      <p:ext uri="{BB962C8B-B14F-4D97-AF65-F5344CB8AC3E}">
        <p14:creationId xmlns:p14="http://schemas.microsoft.com/office/powerpoint/2010/main" val="15390234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line-19">
            <a:extLst xmlns:a="http://schemas.openxmlformats.org/drawingml/2006/main">
              <a:ext uri="{FF2B5EF4-FFF2-40B4-BE49-F238E27FC236}">
                <a16:creationId xmlns:a16="http://schemas.microsoft.com/office/drawing/2014/main" id="{9A63E540-E0E7-4573-A74C-D668C2E9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9">
            <a:extLst xmlns:a="http://schemas.openxmlformats.org/drawingml/2006/main">
              <a:ext uri="{FF2B5EF4-FFF2-40B4-BE49-F238E27FC236}">
                <a16:creationId xmlns:a16="http://schemas.microsoft.com/office/drawing/2014/main" id="{16C3F05C-D3C9-4A17-8FC3-1A382BEA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C5"/>
                </a:solidFill>
              </a:defRPr>
            </a:pPr>
            <a:r>
              <a:rPr sz="1200" b="1">
                <a:solidFill>
                  <a:srgbClr val="2457C5"/>
                </a:solidFill>
              </a:rPr>
              <a:t>14 · ACCEPTANCE CRITERIA</a:t>
            </a:r>
          </a:p>
        </p:txBody>
      </p:sp>
      <p:sp>
        <p:nvSpPr>
          <p:cNvPr id="3" name="title-19">
            <a:extLst xmlns:a="http://schemas.openxmlformats.org/drawingml/2006/main">
              <a:ext uri="{FF2B5EF4-FFF2-40B4-BE49-F238E27FC236}">
                <a16:creationId xmlns:a16="http://schemas.microsoft.com/office/drawing/2014/main" id="{8EAB8655-03A6-48A4-AE07-8E88445A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A1F"/>
                </a:solidFill>
              </a:defRPr>
            </a:pPr>
            <a:r>
              <a:rPr sz="3600" b="1">
                <a:solidFill>
                  <a:srgbClr val="171A1F"/>
                </a:solidFill>
              </a:rPr>
              <a:t>Minimum commissioning acceptance criteria</a:t>
            </a:r>
          </a:p>
        </p:txBody>
      </p:sp>
      <p:sp>
        <p:nvSpPr>
          <p:cNvPr id="4" name="subtitle-19">
            <a:extLst xmlns:a="http://schemas.openxmlformats.org/drawingml/2006/main">
              <a:ext uri="{FF2B5EF4-FFF2-40B4-BE49-F238E27FC236}">
                <a16:creationId xmlns:a16="http://schemas.microsoft.com/office/drawing/2014/main" id="{5952A8EA-980C-4384-BD85-5CF8F5F1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C"/>
                </a:solidFill>
              </a:defRPr>
            </a:pPr>
            <a:r>
              <a:rPr sz="1650" b="0">
                <a:solidFill>
                  <a:srgbClr val="59616C"/>
                </a:solidFill>
              </a:rPr>
              <a:t>Sistem hanya dapat dinyatakan operational setelah seluruh evidence diverifikasi di RU.</a:t>
            </a:r>
          </a:p>
        </p:txBody>
      </p:sp>
      <p:sp>
        <p:nvSpPr>
          <p:cNvPr id="5" name="footer-rule-19">
            <a:extLst xmlns:a="http://schemas.openxmlformats.org/drawingml/2006/main">
              <a:ext uri="{FF2B5EF4-FFF2-40B4-BE49-F238E27FC236}">
                <a16:creationId xmlns:a16="http://schemas.microsoft.com/office/drawing/2014/main" id="{0DB7320C-968E-406B-8F69-FAB21EB3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19">
            <a:extLst xmlns:a="http://schemas.openxmlformats.org/drawingml/2006/main">
              <a:ext uri="{FF2B5EF4-FFF2-40B4-BE49-F238E27FC236}">
                <a16:creationId xmlns:a16="http://schemas.microsoft.com/office/drawing/2014/main" id="{F97E0713-BED7-42E6-A392-CB39EE16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29D"/>
                </a:solidFill>
              </a:defRPr>
            </a:pPr>
            <a:r>
              <a:rPr sz="1050" b="0">
                <a:solidFill>
                  <a:srgbClr val="8A929D"/>
                </a:solidFill>
              </a:rPr>
              <a:t>Datasheet Sistem GLD — RU IV Cilacap</a:t>
            </a:r>
          </a:p>
        </p:txBody>
      </p:sp>
      <p:sp>
        <p:nvSpPr>
          <p:cNvPr id="7" name="page-19">
            <a:extLst xmlns:a="http://schemas.openxmlformats.org/drawingml/2006/main">
              <a:ext uri="{FF2B5EF4-FFF2-40B4-BE49-F238E27FC236}">
                <a16:creationId xmlns:a16="http://schemas.microsoft.com/office/drawing/2014/main" id="{EB1EEC90-690F-43D7-910E-D05BD9D5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29D"/>
                </a:solidFill>
              </a:defRPr>
            </a:pPr>
            <a:r>
              <a:rPr sz="1050" b="1">
                <a:solidFill>
                  <a:srgbClr val="8A929D"/>
                </a:solidFill>
              </a:rPr>
              <a:t>19</a:t>
            </a:r>
          </a:p>
        </p:txBody>
      </p:sp>
      <p:sp>
        <p:nvSpPr>
          <p:cNvPr id="8" name="close-n-0">
            <a:extLst xmlns:a="http://schemas.openxmlformats.org/drawingml/2006/main">
              <a:ext uri="{FF2B5EF4-FFF2-40B4-BE49-F238E27FC236}">
                <a16:creationId xmlns:a16="http://schemas.microsoft.com/office/drawing/2014/main" id="{375C7352-ADE2-4EBB-A051-3FEF9246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close-h-0">
            <a:extLst xmlns:a="http://schemas.openxmlformats.org/drawingml/2006/main">
              <a:ext uri="{FF2B5EF4-FFF2-40B4-BE49-F238E27FC236}">
                <a16:creationId xmlns:a16="http://schemas.microsoft.com/office/drawing/2014/main" id="{F303524C-5007-4581-8F41-1D761596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33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SITE READINESS</a:t>
            </a:r>
          </a:p>
        </p:txBody>
      </p:sp>
      <p:sp>
        <p:nvSpPr>
          <p:cNvPr id="10" name="close-b-0">
            <a:extLst xmlns:a="http://schemas.openxmlformats.org/drawingml/2006/main">
              <a:ext uri="{FF2B5EF4-FFF2-40B4-BE49-F238E27FC236}">
                <a16:creationId xmlns:a16="http://schemas.microsoft.com/office/drawing/2014/main" id="{8B4416C8-D5FC-4D59-8228-B96683D5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193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A1F"/>
                </a:solidFill>
              </a:defRPr>
            </a:pPr>
            <a:r>
              <a:rPr sz="1725" b="0">
                <a:solidFill>
                  <a:srgbClr val="171A1F"/>
                </a:solidFill>
              </a:rPr>
              <a:t>TRA/JSA approved; mounting structure released; protected 24 VDC circuit available.</a:t>
            </a:r>
          </a:p>
        </p:txBody>
      </p:sp>
      <p:sp>
        <p:nvSpPr>
          <p:cNvPr id="11" name="close-n-1">
            <a:extLst xmlns:a="http://schemas.openxmlformats.org/drawingml/2006/main">
              <a:ext uri="{FF2B5EF4-FFF2-40B4-BE49-F238E27FC236}">
                <a16:creationId xmlns:a16="http://schemas.microsoft.com/office/drawing/2014/main" id="{D61C5167-A9CF-419B-B5AA-07C14182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close-h-1">
            <a:extLst xmlns:a="http://schemas.openxmlformats.org/drawingml/2006/main">
              <a:ext uri="{FF2B5EF4-FFF2-40B4-BE49-F238E27FC236}">
                <a16:creationId xmlns:a16="http://schemas.microsoft.com/office/drawing/2014/main" id="{E9C06EE0-D199-4C71-8ABF-21D15DC2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00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SYSTEM INTEGRATION</a:t>
            </a:r>
          </a:p>
        </p:txBody>
      </p:sp>
      <p:sp>
        <p:nvSpPr>
          <p:cNvPr id="13" name="close-b-1">
            <a:extLst xmlns:a="http://schemas.openxmlformats.org/drawingml/2006/main">
              <a:ext uri="{FF2B5EF4-FFF2-40B4-BE49-F238E27FC236}">
                <a16:creationId xmlns:a16="http://schemas.microsoft.com/office/drawing/2014/main" id="{BCD6233B-6B47-4283-879F-6BD22602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861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A1F"/>
                </a:solidFill>
              </a:defRPr>
            </a:pPr>
            <a:r>
              <a:rPr sz="1725" b="0">
                <a:solidFill>
                  <a:srgbClr val="171A1F"/>
                </a:solidFill>
              </a:rPr>
              <a:t>Server/VM allocated; network path approved; MQTT adapter and RU database operational.</a:t>
            </a:r>
          </a:p>
        </p:txBody>
      </p:sp>
      <p:sp>
        <p:nvSpPr>
          <p:cNvPr id="14" name="close-n-2">
            <a:extLst xmlns:a="http://schemas.openxmlformats.org/drawingml/2006/main">
              <a:ext uri="{FF2B5EF4-FFF2-40B4-BE49-F238E27FC236}">
                <a16:creationId xmlns:a16="http://schemas.microsoft.com/office/drawing/2014/main" id="{7592BB4A-989E-47C3-BC36-51833106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close-h-2">
            <a:extLst xmlns:a="http://schemas.openxmlformats.org/drawingml/2006/main">
              <a:ext uri="{FF2B5EF4-FFF2-40B4-BE49-F238E27FC236}">
                <a16:creationId xmlns:a16="http://schemas.microsoft.com/office/drawing/2014/main" id="{DDE83C41-1AF4-4E57-B2AB-58C2FCD3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67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SAFETY COMPLIANCE</a:t>
            </a:r>
          </a:p>
        </p:txBody>
      </p:sp>
      <p:sp>
        <p:nvSpPr>
          <p:cNvPr id="16" name="close-b-2">
            <a:extLst xmlns:a="http://schemas.openxmlformats.org/drawingml/2006/main">
              <a:ext uri="{FF2B5EF4-FFF2-40B4-BE49-F238E27FC236}">
                <a16:creationId xmlns:a16="http://schemas.microsoft.com/office/drawing/2014/main" id="{CBAF69FA-3301-4F6C-B848-A06BA76B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529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A1F"/>
                </a:solidFill>
              </a:defRPr>
            </a:pPr>
            <a:r>
              <a:rPr sz="1725" b="0">
                <a:solidFill>
                  <a:srgbClr val="171A1F"/>
                </a:solidFill>
              </a:rPr>
              <a:t>ATEX approval issued; required gas classes validated; permanent installation authorized.</a:t>
            </a:r>
          </a:p>
        </p:txBody>
      </p:sp>
      <p:sp>
        <p:nvSpPr>
          <p:cNvPr id="17" name="close-proof-bg">
            <a:extLst xmlns:a="http://schemas.openxmlformats.org/drawingml/2006/main">
              <a:ext uri="{FF2B5EF4-FFF2-40B4-BE49-F238E27FC236}">
                <a16:creationId xmlns:a16="http://schemas.microsoft.com/office/drawing/2014/main" id="{DF536A29-6A5D-4D52-BA96-C718973D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EB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ose-proof-bar">
            <a:extLst xmlns:a="http://schemas.openxmlformats.org/drawingml/2006/main">
              <a:ext uri="{FF2B5EF4-FFF2-40B4-BE49-F238E27FC236}">
                <a16:creationId xmlns:a16="http://schemas.microsoft.com/office/drawing/2014/main" id="{920F3AC8-20EC-499F-A6B8-77B9FDA0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ose-proof-label">
            <a:extLst xmlns:a="http://schemas.openxmlformats.org/drawingml/2006/main">
              <a:ext uri="{FF2B5EF4-FFF2-40B4-BE49-F238E27FC236}">
                <a16:creationId xmlns:a16="http://schemas.microsoft.com/office/drawing/2014/main" id="{29B8CA43-3BDC-4A5E-A45B-AE1C9A3C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414"/>
                </a:solidFill>
              </a:defRPr>
            </a:pPr>
            <a:r>
              <a:rPr sz="1350" b="1">
                <a:solidFill>
                  <a:srgbClr val="9A6414"/>
                </a:solidFill>
              </a:rPr>
              <a:t>MANDATORY EVIDENCE</a:t>
            </a:r>
          </a:p>
        </p:txBody>
      </p:sp>
      <p:sp>
        <p:nvSpPr>
          <p:cNvPr id="20" name="close-proof-body">
            <a:extLst xmlns:a="http://schemas.openxmlformats.org/drawingml/2006/main">
              <a:ext uri="{FF2B5EF4-FFF2-40B4-BE49-F238E27FC236}">
                <a16:creationId xmlns:a16="http://schemas.microsoft.com/office/drawing/2014/main" id="{B72E62D3-FD9B-431F-A306-961C7A56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</a:defRPr>
            </a:pPr>
            <a:r>
              <a:rPr sz="1350" b="0">
                <a:solidFill>
                  <a:srgbClr val="171A1F"/>
                </a:solidFill>
              </a:rPr>
              <a:t>MQTT broker online; ingestion tervalidasi; alarm tampil di dashboard; restore test lulus; hazardous-area approval diterbitkan.</a:t>
            </a:r>
          </a:p>
        </p:txBody>
      </p:sp>
    </p:spTree>
    <p:extLst>
      <p:ext uri="{BB962C8B-B14F-4D97-AF65-F5344CB8AC3E}">
        <p14:creationId xmlns:p14="http://schemas.microsoft.com/office/powerpoint/2010/main" val="1251825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2026-08-19T10:25:39.3620000Z</dcterms:created>
  <dcterms:modified xsi:type="dcterms:W3CDTF">2026-08-19T10:25:39.3620000Z</dcterms:modified>
</coreProperties>
</file>