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72836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Tim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OGI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457200" y="2468880"/>
            <a:ext cx="1828800" cy="36576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6" name="Shape 4"/>
          <p:cNvSpPr/>
          <p:nvPr/>
        </p:nvSpPr>
        <p:spPr>
          <a:xfrm>
            <a:off x="365760" y="3154680"/>
            <a:ext cx="2743200" cy="1463040"/>
          </a:xfrm>
          <a:prstGeom prst="rect">
            <a:avLst/>
          </a:prstGeom>
          <a:solidFill>
            <a:srgbClr val="1D4E89"/>
          </a:solidFill>
          <a:ln w="12700">
            <a:solidFill>
              <a:srgbClr val="1D4E89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7" name="Text 5"/>
          <p:cNvSpPr/>
          <p:nvPr/>
        </p:nvSpPr>
        <p:spPr>
          <a:xfrm>
            <a:off x="502920" y="32461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Seleksi Data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370332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Top-6000 dari 41.872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gambar IR (scoring CV)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37560" y="3154680"/>
            <a:ext cx="2743200" cy="1463040"/>
          </a:xfrm>
          <a:prstGeom prst="rect">
            <a:avLst/>
          </a:prstGeom>
          <a:solidFill>
            <a:srgbClr val="008080"/>
          </a:solidFill>
          <a:ln w="12700">
            <a:solidFill>
              <a:srgbClr val="00808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0" name="Text 8"/>
          <p:cNvSpPr/>
          <p:nvPr/>
        </p:nvSpPr>
        <p:spPr>
          <a:xfrm>
            <a:off x="3474720" y="32461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YOLO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474720" y="370332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YOLOv8s-seg, 119 epoch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Tesla T4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309360" y="3154680"/>
            <a:ext cx="2743200" cy="1463040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3" name="Text 11"/>
          <p:cNvSpPr/>
          <p:nvPr/>
        </p:nvSpPr>
        <p:spPr>
          <a:xfrm>
            <a:off x="6446520" y="32461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Evaluasi Model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46520" y="370332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TP/FN/FP/TN per frame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32338"/>
          </a:solidFill>
          <a:ln w="12700">
            <a:solidFill>
              <a:srgbClr val="13233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Konfigurasi &amp; Gambaran Alur Pipeline Top-6000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1463040" cy="1325880"/>
          </a:xfrm>
          <a:prstGeom prst="rect">
            <a:avLst/>
          </a:prstGeom>
          <a:solidFill>
            <a:srgbClr val="1D4E89"/>
          </a:solidFill>
          <a:ln w="12700">
            <a:solidFill>
              <a:srgbClr val="1D4E89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5" name="Text 3"/>
          <p:cNvSpPr/>
          <p:nvPr/>
        </p:nvSpPr>
        <p:spPr>
          <a:xfrm>
            <a:off x="365760" y="795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11480" y="10515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41.872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Gambar Input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6002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dari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langgas-complete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783080" y="11430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D1B2A"/>
                </a:solidFill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057400" y="777240"/>
            <a:ext cx="1463040" cy="1325880"/>
          </a:xfrm>
          <a:prstGeom prst="rect">
            <a:avLst/>
          </a:prstGeom>
          <a:solidFill>
            <a:srgbClr val="008080"/>
          </a:solidFill>
          <a:ln w="12700">
            <a:solidFill>
              <a:srgbClr val="00808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0" name="Text 8"/>
          <p:cNvSpPr/>
          <p:nvPr/>
        </p:nvSpPr>
        <p:spPr>
          <a:xfrm>
            <a:off x="2103120" y="795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148840" y="10515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4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Komponen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48840" y="16002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Area, Solidity,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Thinness, Temporal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520440" y="11430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D1B2A"/>
                </a:solidFill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794760" y="777240"/>
            <a:ext cx="1463040" cy="1325880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5" name="Text 13"/>
          <p:cNvSpPr/>
          <p:nvPr/>
        </p:nvSpPr>
        <p:spPr>
          <a:xfrm>
            <a:off x="3840480" y="795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886200" y="10515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Top-6000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Terpilih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886200" y="16002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4.800 gas +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1.200 background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257800" y="11430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D1B2A"/>
                </a:solidFill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532120" y="777240"/>
            <a:ext cx="1463040" cy="1325880"/>
          </a:xfrm>
          <a:prstGeom prst="rect">
            <a:avLst/>
          </a:prstGeom>
          <a:solidFill>
            <a:srgbClr val="1D6A96"/>
          </a:solidFill>
          <a:ln w="12700">
            <a:solidFill>
              <a:srgbClr val="1D6A9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20" name="Text 18"/>
          <p:cNvSpPr/>
          <p:nvPr/>
        </p:nvSpPr>
        <p:spPr>
          <a:xfrm>
            <a:off x="5577840" y="795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623560" y="10515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Val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4.500 / 1.500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623560" y="16002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TRAIN_RATIO=0.75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≥ 1.000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995160" y="11430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D1B2A"/>
                </a:solidFill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7269480" y="777240"/>
            <a:ext cx="1463040" cy="132588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25" name="Text 23"/>
          <p:cNvSpPr/>
          <p:nvPr/>
        </p:nvSpPr>
        <p:spPr>
          <a:xfrm>
            <a:off x="7315200" y="795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360920" y="10515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YOLOv8s-seg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119 Epoch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360920" y="16002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imgsz=640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Tesla T4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0040" y="2331720"/>
            <a:ext cx="1920240" cy="118872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29" name="Text 27"/>
          <p:cNvSpPr/>
          <p:nvPr/>
        </p:nvSpPr>
        <p:spPr>
          <a:xfrm>
            <a:off x="429768" y="24231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Seleksi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29768" y="26974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6.000 frame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429768" y="30632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gas + 20% background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468880" y="2331720"/>
            <a:ext cx="1920240" cy="118872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33" name="Text 31"/>
          <p:cNvSpPr/>
          <p:nvPr/>
        </p:nvSpPr>
        <p:spPr>
          <a:xfrm>
            <a:off x="2578608" y="24231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Frames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578608" y="26974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4.800 frame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2578608" y="30632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30.089 valid gas frames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617720" y="2331720"/>
            <a:ext cx="1920240" cy="118872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37" name="Text 35"/>
          <p:cNvSpPr/>
          <p:nvPr/>
        </p:nvSpPr>
        <p:spPr>
          <a:xfrm>
            <a:off x="4727448" y="24231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Set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727448" y="26974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1.201 frame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4727448" y="30632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dijamin ≥ 1.000 gambar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766560" y="2331720"/>
            <a:ext cx="1920240" cy="118872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41" name="Text 39"/>
          <p:cNvSpPr/>
          <p:nvPr/>
        </p:nvSpPr>
        <p:spPr>
          <a:xfrm>
            <a:off x="6876288" y="24231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876288" y="26974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YOLOv8s-seg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6876288" y="30632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segmentation model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20040" y="3703320"/>
            <a:ext cx="8503920" cy="96012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5" name="Text 43"/>
          <p:cNvSpPr/>
          <p:nvPr/>
        </p:nvSpPr>
        <p:spPr>
          <a:xfrm>
            <a:off x="502920" y="376732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 Formula Skor: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2011680" y="3767328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Skor = Area × 30%  +  Solidity × 25%  +  Thinness × 25%  +  Temporal × 20%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02920" y="41879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Cutoff terpilih dari top-4.800 frame gas + 1.200 background acak (seed=42)  |  Disimpan sebagai langgas_top6000.zip  (33 MB)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32338"/>
          </a:solidFill>
          <a:ln w="12700">
            <a:solidFill>
              <a:srgbClr val="13233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Curves — YOLOv8s-seg  (Top-6000 | 119 Epoch)</a:t>
            </a:r>
            <a:endParaRPr lang="en-US" sz="1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685800"/>
            <a:ext cx="8595360" cy="33832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20040" y="4206240"/>
            <a:ext cx="1920240" cy="777240"/>
          </a:xfrm>
          <a:prstGeom prst="rect">
            <a:avLst/>
          </a:prstGeom>
          <a:solidFill>
            <a:srgbClr val="008080"/>
          </a:solidFill>
          <a:ln w="12700">
            <a:solidFill>
              <a:srgbClr val="00808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6" name="Text 3"/>
          <p:cNvSpPr/>
          <p:nvPr/>
        </p:nvSpPr>
        <p:spPr>
          <a:xfrm>
            <a:off x="320040" y="42519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0.4205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320040" y="46634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Precision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2468880" y="4206240"/>
            <a:ext cx="1920240" cy="77724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9" name="Text 6"/>
          <p:cNvSpPr/>
          <p:nvPr/>
        </p:nvSpPr>
        <p:spPr>
          <a:xfrm>
            <a:off x="2468880" y="42519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0.4796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2468880" y="46634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Recall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617720" y="4206240"/>
            <a:ext cx="1920240" cy="777240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2" name="Text 9"/>
          <p:cNvSpPr/>
          <p:nvPr/>
        </p:nvSpPr>
        <p:spPr>
          <a:xfrm>
            <a:off x="4617720" y="42519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0.3570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4617720" y="46634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mAP@50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766560" y="4206240"/>
            <a:ext cx="1920240" cy="777240"/>
          </a:xfrm>
          <a:prstGeom prst="rect">
            <a:avLst/>
          </a:prstGeom>
          <a:solidFill>
            <a:srgbClr val="636E72"/>
          </a:solidFill>
          <a:ln w="12700">
            <a:solidFill>
              <a:srgbClr val="636E7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5" name="Text 12"/>
          <p:cNvSpPr/>
          <p:nvPr/>
        </p:nvSpPr>
        <p:spPr>
          <a:xfrm>
            <a:off x="6766560" y="42519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0.1293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6766560" y="46634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mAP@50:95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32338"/>
          </a:solidFill>
          <a:ln w="12700">
            <a:solidFill>
              <a:srgbClr val="13233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Evaluasi Model — Confusion Matrix &amp; Metrics  (val=1.201 frame)</a:t>
            </a:r>
            <a:endParaRPr lang="en-US" sz="1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685800"/>
            <a:ext cx="5943600" cy="2926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0" y="749808"/>
            <a:ext cx="2468880" cy="621792"/>
          </a:xfrm>
          <a:prstGeom prst="rect">
            <a:avLst/>
          </a:prstGeom>
          <a:solidFill>
            <a:srgbClr val="008080"/>
          </a:solidFill>
          <a:ln w="12700">
            <a:solidFill>
              <a:srgbClr val="00808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6" name="Text 3"/>
          <p:cNvSpPr/>
          <p:nvPr/>
        </p:nvSpPr>
        <p:spPr>
          <a:xfrm>
            <a:off x="6446520" y="786384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452360" y="78638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452360" y="100584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ada false alarm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6400800" y="1499616"/>
            <a:ext cx="2468880" cy="62179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0" name="Text 7"/>
          <p:cNvSpPr/>
          <p:nvPr/>
        </p:nvSpPr>
        <p:spPr>
          <a:xfrm>
            <a:off x="6446520" y="153619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0.792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7452360" y="15361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452360" y="17556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79.2% gas terdeteksi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6400800" y="2249424"/>
            <a:ext cx="2468880" cy="621792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4" name="Text 11"/>
          <p:cNvSpPr/>
          <p:nvPr/>
        </p:nvSpPr>
        <p:spPr>
          <a:xfrm>
            <a:off x="6446520" y="228600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0.884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7452360" y="22860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452360" y="250545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Harmonic mean terbaik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400800" y="2999232"/>
            <a:ext cx="2468880" cy="621792"/>
          </a:xfrm>
          <a:prstGeom prst="rect">
            <a:avLst/>
          </a:prstGeom>
          <a:solidFill>
            <a:srgbClr val="1D4E89"/>
          </a:solidFill>
          <a:ln w="12700">
            <a:solidFill>
              <a:srgbClr val="1D4E89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8" name="Text 15"/>
          <p:cNvSpPr/>
          <p:nvPr/>
        </p:nvSpPr>
        <p:spPr>
          <a:xfrm>
            <a:off x="6446520" y="303580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0.792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7452360" y="303580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7452360" y="325526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Per-frame accuracy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274320" y="3749040"/>
            <a:ext cx="1920240" cy="1188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22" name="Text 19"/>
          <p:cNvSpPr/>
          <p:nvPr/>
        </p:nvSpPr>
        <p:spPr>
          <a:xfrm>
            <a:off x="274320" y="382219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951</a:t>
            </a:r>
            <a:endParaRPr lang="en-US" sz="3000" dirty="0"/>
          </a:p>
        </p:txBody>
      </p:sp>
      <p:sp>
        <p:nvSpPr>
          <p:cNvPr id="23" name="Text 20"/>
          <p:cNvSpPr/>
          <p:nvPr/>
        </p:nvSpPr>
        <p:spPr>
          <a:xfrm>
            <a:off x="365760" y="43434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79.2%  |  TP (Benar Deteksi)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2423160" y="3749040"/>
            <a:ext cx="1920240" cy="1188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25" name="Text 22"/>
          <p:cNvSpPr/>
          <p:nvPr/>
        </p:nvSpPr>
        <p:spPr>
          <a:xfrm>
            <a:off x="2423160" y="382219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</a:t>
            </a:r>
            <a:endParaRPr lang="en-US" sz="3000" dirty="0"/>
          </a:p>
        </p:txBody>
      </p:sp>
      <p:sp>
        <p:nvSpPr>
          <p:cNvPr id="26" name="Text 23"/>
          <p:cNvSpPr/>
          <p:nvPr/>
        </p:nvSpPr>
        <p:spPr>
          <a:xfrm>
            <a:off x="2514600" y="43434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20.8%  |  FN (Gas Terlewat)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4572000" y="3749040"/>
            <a:ext cx="1920240" cy="11887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28" name="Text 25"/>
          <p:cNvSpPr/>
          <p:nvPr/>
        </p:nvSpPr>
        <p:spPr>
          <a:xfrm>
            <a:off x="4572000" y="382219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000" dirty="0"/>
          </a:p>
        </p:txBody>
      </p:sp>
      <p:sp>
        <p:nvSpPr>
          <p:cNvPr id="29" name="Text 26"/>
          <p:cNvSpPr/>
          <p:nvPr/>
        </p:nvSpPr>
        <p:spPr>
          <a:xfrm>
            <a:off x="4663440" y="43434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0.0%  |  FP (False Alarm)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6720840" y="3749040"/>
            <a:ext cx="1920240" cy="11887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31" name="Text 28"/>
          <p:cNvSpPr/>
          <p:nvPr/>
        </p:nvSpPr>
        <p:spPr>
          <a:xfrm>
            <a:off x="6720840" y="382219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000" dirty="0"/>
          </a:p>
        </p:txBody>
      </p:sp>
      <p:sp>
        <p:nvSpPr>
          <p:cNvPr id="32" name="Text 29"/>
          <p:cNvSpPr/>
          <p:nvPr/>
        </p:nvSpPr>
        <p:spPr>
          <a:xfrm>
            <a:off x="6812280" y="43434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0.0%  |  TN (No-gas Benar)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True Positives — Gas Terdeteksi Benar  (951 frame, 79.2%)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65836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Overlay: 🟢 GT Hijau = Ground Truth gas  |  🔵 Biru = Prediksi model  (conf ≥ 0.25, IoU ≥ 0.5)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4114800" cy="1737360"/>
          </a:xfrm>
          <a:prstGeom prst="rect">
            <a:avLst/>
          </a:prstGeom>
          <a:solidFill>
            <a:srgbClr val="0A2015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051560"/>
            <a:ext cx="4023360" cy="1463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8600" y="254203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TP_0005 — frame 29387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4617720" y="1005840"/>
            <a:ext cx="4114800" cy="1737360"/>
          </a:xfrm>
          <a:prstGeom prst="rect">
            <a:avLst/>
          </a:prstGeom>
          <a:solidFill>
            <a:srgbClr val="0A2015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63440" y="1051560"/>
            <a:ext cx="4023360" cy="1463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17720" y="254203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TP_0050 — frame 29813</a:t>
            </a:r>
            <a:endParaRPr lang="en-US" sz="850" dirty="0"/>
          </a:p>
        </p:txBody>
      </p:sp>
      <p:sp>
        <p:nvSpPr>
          <p:cNvPr id="11" name="Shape 7"/>
          <p:cNvSpPr/>
          <p:nvPr/>
        </p:nvSpPr>
        <p:spPr>
          <a:xfrm>
            <a:off x="228600" y="2880360"/>
            <a:ext cx="4114800" cy="1737360"/>
          </a:xfrm>
          <a:prstGeom prst="rect">
            <a:avLst/>
          </a:prstGeom>
          <a:solidFill>
            <a:srgbClr val="0A2015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74320" y="2926080"/>
            <a:ext cx="4023360" cy="1463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28600" y="441655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TP_0100 — frame 30245</a:t>
            </a:r>
            <a:endParaRPr lang="en-US" sz="850" dirty="0"/>
          </a:p>
        </p:txBody>
      </p:sp>
      <p:sp>
        <p:nvSpPr>
          <p:cNvPr id="14" name="Shape 9"/>
          <p:cNvSpPr/>
          <p:nvPr/>
        </p:nvSpPr>
        <p:spPr>
          <a:xfrm>
            <a:off x="4617720" y="2880360"/>
            <a:ext cx="4114800" cy="1737360"/>
          </a:xfrm>
          <a:prstGeom prst="rect">
            <a:avLst/>
          </a:prstGeom>
          <a:solidFill>
            <a:srgbClr val="0A2015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663440" y="2926080"/>
            <a:ext cx="4023360" cy="146304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617720" y="441655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TP_0200 — frame 31754</a:t>
            </a:r>
            <a:endParaRPr lang="en-US" sz="850" dirty="0"/>
          </a:p>
        </p:txBody>
      </p:sp>
      <p:sp>
        <p:nvSpPr>
          <p:cNvPr id="17" name="Shape 11"/>
          <p:cNvSpPr/>
          <p:nvPr/>
        </p:nvSpPr>
        <p:spPr>
          <a:xfrm>
            <a:off x="228600" y="4663440"/>
            <a:ext cx="8686800" cy="347472"/>
          </a:xfrm>
          <a:prstGeom prst="rect">
            <a:avLst/>
          </a:prstGeom>
          <a:solidFill>
            <a:srgbClr val="052E16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8" name="Text 12"/>
          <p:cNvSpPr/>
          <p:nvPr/>
        </p:nvSpPr>
        <p:spPr>
          <a:xfrm>
            <a:off x="365760" y="470916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TP: 951 frame  |  Precision sempurna = 1.000 (tidak ada false alarm)  |  Gas berhasil disegmentasi dengan overlay biru presisi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False Negatives — Gas Terlewat / Tidak Terdeteksi  (250 frame, 20.8%)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65836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Overlay: 🟢 Hijau = Ground Truth gas yang SEHARUSNYA terdeteksi, tetapi model tidak mendeteksi apapun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4114800" cy="1737360"/>
          </a:xfrm>
          <a:prstGeom prst="rect">
            <a:avLst/>
          </a:prstGeom>
          <a:solidFill>
            <a:srgbClr val="200A0A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051560"/>
            <a:ext cx="4023360" cy="1463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8600" y="254203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FN_0000 — frame 29410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4617720" y="1005840"/>
            <a:ext cx="4114800" cy="1737360"/>
          </a:xfrm>
          <a:prstGeom prst="rect">
            <a:avLst/>
          </a:prstGeom>
          <a:solidFill>
            <a:srgbClr val="200A0A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63440" y="1051560"/>
            <a:ext cx="4023360" cy="1463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17720" y="254203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FN_0010 — frame 32408</a:t>
            </a:r>
            <a:endParaRPr lang="en-US" sz="850" dirty="0"/>
          </a:p>
        </p:txBody>
      </p:sp>
      <p:sp>
        <p:nvSpPr>
          <p:cNvPr id="11" name="Shape 7"/>
          <p:cNvSpPr/>
          <p:nvPr/>
        </p:nvSpPr>
        <p:spPr>
          <a:xfrm>
            <a:off x="228600" y="2880360"/>
            <a:ext cx="4114800" cy="1737360"/>
          </a:xfrm>
          <a:prstGeom prst="rect">
            <a:avLst/>
          </a:prstGeom>
          <a:solidFill>
            <a:srgbClr val="200A0A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74320" y="2926080"/>
            <a:ext cx="4023360" cy="1463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28600" y="441655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FN_0050 — frame 34613</a:t>
            </a:r>
            <a:endParaRPr lang="en-US" sz="850" dirty="0"/>
          </a:p>
        </p:txBody>
      </p:sp>
      <p:sp>
        <p:nvSpPr>
          <p:cNvPr id="14" name="Shape 9"/>
          <p:cNvSpPr/>
          <p:nvPr/>
        </p:nvSpPr>
        <p:spPr>
          <a:xfrm>
            <a:off x="4617720" y="2880360"/>
            <a:ext cx="4114800" cy="1737360"/>
          </a:xfrm>
          <a:prstGeom prst="rect">
            <a:avLst/>
          </a:prstGeom>
          <a:solidFill>
            <a:srgbClr val="200A0A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663440" y="2926080"/>
            <a:ext cx="4023360" cy="146304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617720" y="441655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FN_0100 — frame 37105</a:t>
            </a:r>
            <a:endParaRPr lang="en-US" sz="850" dirty="0"/>
          </a:p>
        </p:txBody>
      </p:sp>
      <p:sp>
        <p:nvSpPr>
          <p:cNvPr id="17" name="Shape 11"/>
          <p:cNvSpPr/>
          <p:nvPr/>
        </p:nvSpPr>
        <p:spPr>
          <a:xfrm>
            <a:off x="235634" y="4663440"/>
            <a:ext cx="8686800" cy="347472"/>
          </a:xfrm>
          <a:prstGeom prst="rect">
            <a:avLst/>
          </a:prstGeom>
          <a:solidFill>
            <a:srgbClr val="3B0606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8" name="Text 12"/>
          <p:cNvSpPr/>
          <p:nvPr/>
        </p:nvSpPr>
        <p:spPr>
          <a:xfrm>
            <a:off x="365760" y="470916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FN: 250 frame  |  Gas lemah/kecil atau area gas sangat tipis </a:t>
            </a:r>
            <a:r>
              <a:rPr lang="en-US" sz="950" dirty="0" err="1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cenderung</a:t>
            </a:r>
            <a:r>
              <a:rPr lang="en-US" sz="95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terlewat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32338"/>
          </a:solidFill>
          <a:ln w="12700">
            <a:solidFill>
              <a:srgbClr val="13233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Perbandingan — TP (hijau+biru)  vs  FN (hijau tanpa deteksi)</a:t>
            </a:r>
            <a:endParaRPr lang="en-US" sz="1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685800"/>
            <a:ext cx="8595360" cy="3840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4617720"/>
            <a:ext cx="4114800" cy="365760"/>
          </a:xfrm>
          <a:prstGeom prst="rect">
            <a:avLst/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6" name="Text 3"/>
          <p:cNvSpPr/>
          <p:nvPr/>
        </p:nvSpPr>
        <p:spPr>
          <a:xfrm>
            <a:off x="365760" y="46634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Atas: TP — Gas (hijau) + Prediksi (biru) cocok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4663440" y="4617720"/>
            <a:ext cx="4206240" cy="365760"/>
          </a:xfrm>
          <a:prstGeom prst="rect">
            <a:avLst/>
          </a:prstGeom>
          <a:solidFill>
            <a:srgbClr val="FFF1F2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8" name="Text 5"/>
          <p:cNvSpPr/>
          <p:nvPr/>
        </p:nvSpPr>
        <p:spPr>
          <a:xfrm>
            <a:off x="4754880" y="466344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Bawah: FN — Gas ada (hijau) tapi tidak ada prediksi model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Ringkasan Akhir — LangGas Top-6000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2011680" cy="36576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2560320" cy="1920240"/>
          </a:xfrm>
          <a:prstGeom prst="rect">
            <a:avLst/>
          </a:prstGeom>
          <a:solidFill>
            <a:srgbClr val="008080"/>
          </a:solidFill>
          <a:ln w="12700">
            <a:solidFill>
              <a:srgbClr val="00808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6" name="Text 4"/>
          <p:cNvSpPr/>
          <p:nvPr/>
        </p:nvSpPr>
        <p:spPr>
          <a:xfrm>
            <a:off x="502920" y="111556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Precision Sempurna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46304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57200" y="2084832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false alarm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sangat presisi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1051560"/>
            <a:ext cx="2560320" cy="192024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0" name="Text 8"/>
          <p:cNvSpPr/>
          <p:nvPr/>
        </p:nvSpPr>
        <p:spPr>
          <a:xfrm>
            <a:off x="3383280" y="111556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Recall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46120" y="146304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0.792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3337560" y="2084832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79.2% gas terdeteksi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1.201 val frame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0" y="1051560"/>
            <a:ext cx="2560320" cy="1920240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4" name="Text 12"/>
          <p:cNvSpPr/>
          <p:nvPr/>
        </p:nvSpPr>
        <p:spPr>
          <a:xfrm>
            <a:off x="6263640" y="111556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F1-Score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26480" y="146304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0.884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6217920" y="2084832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Skor terbaik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kombinasi P &amp; 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32582" y="3195828"/>
            <a:ext cx="362946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Kesimpulan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32582" y="3653028"/>
            <a:ext cx="329184" cy="310896"/>
          </a:xfrm>
          <a:prstGeom prst="rect">
            <a:avLst/>
          </a:prstGeom>
          <a:solidFill>
            <a:srgbClr val="1D4E89"/>
          </a:solidFill>
          <a:ln w="12700">
            <a:solidFill>
              <a:srgbClr val="1D4E89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9" name="Text 17"/>
          <p:cNvSpPr/>
          <p:nvPr/>
        </p:nvSpPr>
        <p:spPr>
          <a:xfrm>
            <a:off x="432582" y="3653028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53206" y="3662172"/>
            <a:ext cx="301189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</a:t>
            </a:r>
            <a:r>
              <a:rPr lang="en-US" sz="1100" dirty="0" err="1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terdeteksi</a:t>
            </a: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namun</a:t>
            </a: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segmentasi</a:t>
            </a: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gas </a:t>
            </a:r>
            <a:r>
              <a:rPr lang="en-US" sz="1100" dirty="0" err="1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</a:t>
            </a: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utuh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32582" y="4082796"/>
            <a:ext cx="329184" cy="310896"/>
          </a:xfrm>
          <a:prstGeom prst="rect">
            <a:avLst/>
          </a:prstGeom>
          <a:solidFill>
            <a:srgbClr val="008080"/>
          </a:solidFill>
          <a:ln w="12700">
            <a:solidFill>
              <a:srgbClr val="00808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2" name="Text 20"/>
          <p:cNvSpPr/>
          <p:nvPr/>
        </p:nvSpPr>
        <p:spPr>
          <a:xfrm>
            <a:off x="432582" y="4082796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53206" y="4091940"/>
            <a:ext cx="293452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Perbaiki</a:t>
            </a: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model </a:t>
            </a:r>
            <a:r>
              <a:rPr lang="en-US" sz="1100" dirty="0" err="1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dengan</a:t>
            </a: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anotasi</a:t>
            </a: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manual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265</TotalTime>
  <Words>539</Words>
  <Application>Microsoft Office PowerPoint</Application>
  <PresentationFormat>On-screen Show (16:9)</PresentationFormat>
  <Paragraphs>129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LangGas Top-6000 — Progress ML OGI</dc:title>
  <dc:subject>PptxGenJS Presentation</dc:subject>
  <dc:creator>PptxGenJS</dc:creator>
  <cp:lastModifiedBy>Ilmania Syakira</cp:lastModifiedBy>
  <cp:revision>3</cp:revision>
  <dcterms:created xsi:type="dcterms:W3CDTF">2026-05-20T03:16:08Z</dcterms:created>
  <dcterms:modified xsi:type="dcterms:W3CDTF">2026-06-16T04:05:12Z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8b525e5-f3da-4501-8f1e-526b6769fc56_Enabled">
    <vt:lpwstr>true</vt:lpwstr>
  </property>
  <property fmtid="{D5CDD505-2E9C-101B-9397-08002B2CF9AE}" pid="3" name="MSIP_Label_38b525e5-f3da-4501-8f1e-526b6769fc56_SetDate">
    <vt:lpwstr>2026-05-20T03:31:49Z</vt:lpwstr>
  </property>
  <property fmtid="{D5CDD505-2E9C-101B-9397-08002B2CF9AE}" pid="4" name="MSIP_Label_38b525e5-f3da-4501-8f1e-526b6769fc56_Method">
    <vt:lpwstr>Standard</vt:lpwstr>
  </property>
  <property fmtid="{D5CDD505-2E9C-101B-9397-08002B2CF9AE}" pid="5" name="MSIP_Label_38b525e5-f3da-4501-8f1e-526b6769fc56_Name">
    <vt:lpwstr>defa4170-0d19-0005-0004-bc88714345d2</vt:lpwstr>
  </property>
  <property fmtid="{D5CDD505-2E9C-101B-9397-08002B2CF9AE}" pid="6" name="MSIP_Label_38b525e5-f3da-4501-8f1e-526b6769fc56_SiteId">
    <vt:lpwstr>db6e1183-4c65-405c-82ce-7cd53fa6e9dc</vt:lpwstr>
  </property>
  <property fmtid="{D5CDD505-2E9C-101B-9397-08002B2CF9AE}" pid="7" name="MSIP_Label_38b525e5-f3da-4501-8f1e-526b6769fc56_ActionId">
    <vt:lpwstr>7d5f649b-79d3-4044-a478-5f14b2eac8e2</vt:lpwstr>
  </property>
  <property fmtid="{D5CDD505-2E9C-101B-9397-08002B2CF9AE}" pid="8" name="MSIP_Label_38b525e5-f3da-4501-8f1e-526b6769fc56_ContentBits">
    <vt:lpwstr>0</vt:lpwstr>
  </property>
  <property fmtid="{D5CDD505-2E9C-101B-9397-08002B2CF9AE}" pid="9" name="MSIP_Label_38b525e5-f3da-4501-8f1e-526b6769fc56_Tag">
    <vt:lpwstr>10, 3, 0, 1</vt:lpwstr>
  </property>
</Properties>
</file>