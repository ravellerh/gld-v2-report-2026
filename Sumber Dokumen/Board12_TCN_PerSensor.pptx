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MQ4V</c:v>
                </c:pt>
                <c:pt idx="1">
                  <c:v>MQ2V</c:v>
                </c:pt>
                <c:pt idx="2">
                  <c:v>MQ8V</c:v>
                </c:pt>
                <c:pt idx="3">
                  <c:v>MQ135V</c:v>
                </c:pt>
                <c:pt idx="4">
                  <c:v>MQ3V</c:v>
                </c:pt>
                <c:pt idx="5">
                  <c:v>MQ7V</c:v>
                </c:pt>
                <c:pt idx="6">
                  <c:v>MQ5V</c:v>
                </c:pt>
                <c:pt idx="7">
                  <c:v>MQ6V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93.9</c:v>
                </c:pt>
                <c:pt idx="1">
                  <c:v>93.5</c:v>
                </c:pt>
                <c:pt idx="2">
                  <c:v>93.1</c:v>
                </c:pt>
                <c:pt idx="3">
                  <c:v>92.7</c:v>
                </c:pt>
                <c:pt idx="4">
                  <c:v>92.7</c:v>
                </c:pt>
                <c:pt idx="5">
                  <c:v>92.7</c:v>
                </c:pt>
                <c:pt idx="6">
                  <c:v>92.7</c:v>
                </c:pt>
                <c:pt idx="7">
                  <c:v>92.3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B4-4A08-9CA1-95EEB53CF4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Macro (%)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MQ4V</c:v>
                </c:pt>
                <c:pt idx="1">
                  <c:v>MQ2V</c:v>
                </c:pt>
                <c:pt idx="2">
                  <c:v>MQ8V</c:v>
                </c:pt>
                <c:pt idx="3">
                  <c:v>MQ135V</c:v>
                </c:pt>
                <c:pt idx="4">
                  <c:v>MQ3V</c:v>
                </c:pt>
                <c:pt idx="5">
                  <c:v>MQ7V</c:v>
                </c:pt>
                <c:pt idx="6">
                  <c:v>MQ5V</c:v>
                </c:pt>
                <c:pt idx="7">
                  <c:v>MQ6V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92.3</c:v>
                </c:pt>
                <c:pt idx="1">
                  <c:v>91.7</c:v>
                </c:pt>
                <c:pt idx="2">
                  <c:v>91.2</c:v>
                </c:pt>
                <c:pt idx="3">
                  <c:v>90.7</c:v>
                </c:pt>
                <c:pt idx="4">
                  <c:v>90.6</c:v>
                </c:pt>
                <c:pt idx="5">
                  <c:v>90.9</c:v>
                </c:pt>
                <c:pt idx="6">
                  <c:v>90.8</c:v>
                </c:pt>
                <c:pt idx="7">
                  <c:v>90.4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B4-4A08-9CA1-95EEB53CF4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6"/>
          <c:min val="85"/>
        </c:scaling>
        <c:delete val="0"/>
        <c:axPos val="l"/>
        <c:majorGridlines>
          <c:spPr>
            <a:ln w="6350" cap="flat">
              <a:solidFill>
                <a:srgbClr val="E2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243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253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CBE5C-03C6-552D-E9F5-9CB6C06EC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35DA52-2F42-2716-2951-5B66D66D7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A8B5E3-349F-E28D-88D3-6352349D7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16D96-4325-FFB3-7764-86F9477721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178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0481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62662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11941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8501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065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19967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29894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0279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21222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0278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02183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0036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6357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914400"/>
            <a:ext cx="164592" cy="164592"/>
          </a:xfrm>
          <a:prstGeom prst="ellipse">
            <a:avLst/>
          </a:prstGeom>
          <a:solidFill>
            <a:srgbClr val="2E86AB">
              <a:alpha val="6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11155680" y="1463040"/>
            <a:ext cx="91440" cy="91440"/>
          </a:xfrm>
          <a:prstGeom prst="ellipse">
            <a:avLst/>
          </a:prstGeom>
          <a:solidFill>
            <a:srgbClr val="2E86AB">
              <a:alpha val="6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10149840" y="1828800"/>
            <a:ext cx="109728" cy="109728"/>
          </a:xfrm>
          <a:prstGeom prst="ellipse">
            <a:avLst/>
          </a:prstGeom>
          <a:solidFill>
            <a:srgbClr val="2E86AB">
              <a:alpha val="6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822960" y="5669280"/>
            <a:ext cx="128016" cy="128016"/>
          </a:xfrm>
          <a:prstGeom prst="ellipse">
            <a:avLst/>
          </a:prstGeom>
          <a:solidFill>
            <a:srgbClr val="2E86AB">
              <a:alpha val="6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1463040" y="6126480"/>
            <a:ext cx="91440" cy="91440"/>
          </a:xfrm>
          <a:prstGeom prst="ellipse">
            <a:avLst/>
          </a:prstGeom>
          <a:solidFill>
            <a:srgbClr val="2E86AB">
              <a:alpha val="6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457200" y="5120640"/>
            <a:ext cx="82296" cy="82296"/>
          </a:xfrm>
          <a:prstGeom prst="ellipse">
            <a:avLst/>
          </a:prstGeom>
          <a:solidFill>
            <a:srgbClr val="2E86AB">
              <a:alpha val="6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TCN PER-SENSOR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Prediksi Kebocoran Gas LPG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Detik ke Depan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Model TCN Independen — Satu Model per Sensor MQ (Board12)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892040"/>
            <a:ext cx="1207008" cy="457200"/>
          </a:xfrm>
          <a:prstGeom prst="roundRect">
            <a:avLst>
              <a:gd name="adj" fmla="val 16000"/>
            </a:avLst>
          </a:prstGeom>
          <a:solidFill>
            <a:srgbClr val="1E3355"/>
          </a:solidFill>
          <a:ln w="95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822960" y="489204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MQ135V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48840" y="4892040"/>
            <a:ext cx="1207008" cy="457200"/>
          </a:xfrm>
          <a:prstGeom prst="roundRect">
            <a:avLst>
              <a:gd name="adj" fmla="val 16000"/>
            </a:avLst>
          </a:prstGeom>
          <a:solidFill>
            <a:srgbClr val="1E3355"/>
          </a:solidFill>
          <a:ln w="95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2148840" y="489204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MQ2V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4892040"/>
            <a:ext cx="1207008" cy="457200"/>
          </a:xfrm>
          <a:prstGeom prst="roundRect">
            <a:avLst>
              <a:gd name="adj" fmla="val 16000"/>
            </a:avLst>
          </a:prstGeom>
          <a:solidFill>
            <a:srgbClr val="1E3355"/>
          </a:solidFill>
          <a:ln w="95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3474720" y="489204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MQ3V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4892040"/>
            <a:ext cx="1207008" cy="457200"/>
          </a:xfrm>
          <a:prstGeom prst="roundRect">
            <a:avLst>
              <a:gd name="adj" fmla="val 16000"/>
            </a:avLst>
          </a:prstGeom>
          <a:solidFill>
            <a:srgbClr val="1E3355"/>
          </a:solidFill>
          <a:ln w="95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4800600" y="489204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MQ4V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4892040"/>
            <a:ext cx="1207008" cy="457200"/>
          </a:xfrm>
          <a:prstGeom prst="roundRect">
            <a:avLst>
              <a:gd name="adj" fmla="val 16000"/>
            </a:avLst>
          </a:prstGeom>
          <a:solidFill>
            <a:srgbClr val="1E3355"/>
          </a:solidFill>
          <a:ln w="95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6126480" y="489204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MQ7V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52360" y="4892040"/>
            <a:ext cx="1207008" cy="457200"/>
          </a:xfrm>
          <a:prstGeom prst="roundRect">
            <a:avLst>
              <a:gd name="adj" fmla="val 16000"/>
            </a:avLst>
          </a:prstGeom>
          <a:solidFill>
            <a:srgbClr val="1E3355"/>
          </a:solidFill>
          <a:ln w="95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7452360" y="489204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MQ5V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778240" y="4892040"/>
            <a:ext cx="1207008" cy="457200"/>
          </a:xfrm>
          <a:prstGeom prst="roundRect">
            <a:avLst>
              <a:gd name="adj" fmla="val 16000"/>
            </a:avLst>
          </a:prstGeom>
          <a:solidFill>
            <a:srgbClr val="1E3355"/>
          </a:solidFill>
          <a:ln w="95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8778240" y="489204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MQ6V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104120" y="4892040"/>
            <a:ext cx="1207008" cy="457200"/>
          </a:xfrm>
          <a:prstGeom prst="roundRect">
            <a:avLst>
              <a:gd name="adj" fmla="val 16000"/>
            </a:avLst>
          </a:prstGeom>
          <a:solidFill>
            <a:srgbClr val="1E3355"/>
          </a:solidFill>
          <a:ln w="95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10104120" y="489204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MQ8V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6263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Dibuat dari notebook: Board12_TCN_PerSensor_8Model.ipynb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8 Model Terpisah?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577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Board12 memiliki 8 sensor gas MQ. Notebook sebelumnya melatih 1 model TCN multivariat (menerima 8 fitur sekaligus). Notebook ini melatih 8 model TCN univariat — masing-masing hanya menerima 1 sensor sebagai input — untuk mengukur seberapa informatif tiap sensor secara individual dalam memprediksi kebocoran LPG 5 detik ke depan.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886200"/>
            <a:ext cx="1691640" cy="141732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4617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TCN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per sensor)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23160" y="3886200"/>
            <a:ext cx="1691640" cy="141732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2423160" y="39776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14600" y="4617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target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clean_air / lpg_detected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3886200"/>
            <a:ext cx="1691640" cy="141732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297680" y="39776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5s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389120" y="4617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prediksi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depan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37960" y="1463040"/>
            <a:ext cx="5074920" cy="3886200"/>
          </a:xfrm>
          <a:prstGeom prst="roundRect">
            <a:avLst>
              <a:gd name="adj" fmla="val 2353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6903720" y="1691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MODEL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2148840"/>
            <a:ext cx="43891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TCN identik dengan notebook multi-sensor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Dilatih, dievaluasi &amp; diekspor secara independen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TFLite float32 + int8 (untuk edge device)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dirangkum dalam tabel perbandingan 8 model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Board12 · TCN per-Sensor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Sensor Board12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91840" cy="3840480"/>
          </a:xfrm>
          <a:prstGeom prst="roundRect">
            <a:avLst>
              <a:gd name="adj" fmla="val 2778"/>
            </a:avLst>
          </a:prstGeom>
          <a:solidFill>
            <a:srgbClr val="1E33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3,234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baris data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(seluruh sesi)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3840480"/>
            <a:ext cx="2011680" cy="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77240" y="46634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gas MQ digunakan sebagai fitur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6052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Sensor MQ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60520" y="2011680"/>
            <a:ext cx="1691640" cy="594360"/>
          </a:xfrm>
          <a:prstGeom prst="roundRect">
            <a:avLst>
              <a:gd name="adj" fmla="val 10769"/>
            </a:avLst>
          </a:prstGeom>
          <a:solidFill>
            <a:srgbClr val="F5F7FA"/>
          </a:solidFill>
          <a:ln w="9525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160520" y="20116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MQ135V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07608" y="2011680"/>
            <a:ext cx="1691640" cy="594360"/>
          </a:xfrm>
          <a:prstGeom prst="roundRect">
            <a:avLst>
              <a:gd name="adj" fmla="val 10769"/>
            </a:avLst>
          </a:prstGeom>
          <a:solidFill>
            <a:srgbClr val="F5F7FA"/>
          </a:solidFill>
          <a:ln w="9525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6007608" y="20116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MQ2V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54696" y="2011680"/>
            <a:ext cx="1691640" cy="594360"/>
          </a:xfrm>
          <a:prstGeom prst="roundRect">
            <a:avLst>
              <a:gd name="adj" fmla="val 10769"/>
            </a:avLst>
          </a:prstGeom>
          <a:solidFill>
            <a:srgbClr val="F5F7FA"/>
          </a:solidFill>
          <a:ln w="9525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7854696" y="20116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MQ3V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701784" y="2011680"/>
            <a:ext cx="1691640" cy="594360"/>
          </a:xfrm>
          <a:prstGeom prst="roundRect">
            <a:avLst>
              <a:gd name="adj" fmla="val 10769"/>
            </a:avLst>
          </a:prstGeom>
          <a:solidFill>
            <a:srgbClr val="F5F7FA"/>
          </a:solidFill>
          <a:ln w="9525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9701784" y="20116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MQ4V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60520" y="2788920"/>
            <a:ext cx="1691640" cy="594360"/>
          </a:xfrm>
          <a:prstGeom prst="roundRect">
            <a:avLst>
              <a:gd name="adj" fmla="val 10769"/>
            </a:avLst>
          </a:prstGeom>
          <a:solidFill>
            <a:srgbClr val="F5F7FA"/>
          </a:solidFill>
          <a:ln w="9525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4160520" y="27889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MQ7V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07608" y="2788920"/>
            <a:ext cx="1691640" cy="594360"/>
          </a:xfrm>
          <a:prstGeom prst="roundRect">
            <a:avLst>
              <a:gd name="adj" fmla="val 10769"/>
            </a:avLst>
          </a:prstGeom>
          <a:solidFill>
            <a:srgbClr val="F5F7FA"/>
          </a:solidFill>
          <a:ln w="9525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6007608" y="27889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MQ5V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854696" y="2788920"/>
            <a:ext cx="1691640" cy="594360"/>
          </a:xfrm>
          <a:prstGeom prst="roundRect">
            <a:avLst>
              <a:gd name="adj" fmla="val 10769"/>
            </a:avLst>
          </a:prstGeom>
          <a:solidFill>
            <a:srgbClr val="F5F7FA"/>
          </a:solidFill>
          <a:ln w="9525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7854696" y="27889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MQ6V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701784" y="2788920"/>
            <a:ext cx="1691640" cy="594360"/>
          </a:xfrm>
          <a:prstGeom prst="roundRect">
            <a:avLst>
              <a:gd name="adj" fmla="val 10769"/>
            </a:avLst>
          </a:prstGeom>
          <a:solidFill>
            <a:srgbClr val="F5F7FA"/>
          </a:solidFill>
          <a:ln w="9525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9701784" y="27889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MQ8V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6052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Klasifikasi (Biner)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160520" y="4224528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9" name="Shape 27"/>
          <p:cNvSpPr/>
          <p:nvPr/>
        </p:nvSpPr>
        <p:spPr>
          <a:xfrm>
            <a:off x="4343400" y="4434840"/>
            <a:ext cx="320040" cy="320040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/>
          <p:nvPr/>
        </p:nvSpPr>
        <p:spPr>
          <a:xfrm>
            <a:off x="4343400" y="4434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82312" y="4389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clean_air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343400" y="4892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udara bersih / normal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001000" y="4224528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4" name="Shape 32"/>
          <p:cNvSpPr/>
          <p:nvPr/>
        </p:nvSpPr>
        <p:spPr>
          <a:xfrm>
            <a:off x="8183880" y="443484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5" name="Text 33"/>
          <p:cNvSpPr/>
          <p:nvPr/>
        </p:nvSpPr>
        <p:spPr>
          <a:xfrm>
            <a:off x="8183880" y="4434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22792" y="4389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lpg_detected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183880" y="4892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Terdeteksi indikasi kebocoran LPG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Board12 · TCN per-Sensor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Windowing, Split &amp; Normalisasi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 Windowing (per sesi, 1 Hz)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384048" cy="502920"/>
          </a:xfrm>
          <a:prstGeom prst="rect">
            <a:avLst/>
          </a:prstGeom>
          <a:solidFill>
            <a:srgbClr val="2E86AB">
              <a:alpha val="8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1271016" y="2148840"/>
            <a:ext cx="384048" cy="502920"/>
          </a:xfrm>
          <a:prstGeom prst="rect">
            <a:avLst/>
          </a:prstGeom>
          <a:solidFill>
            <a:srgbClr val="2E86AB">
              <a:alpha val="8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Shape 6"/>
          <p:cNvSpPr/>
          <p:nvPr/>
        </p:nvSpPr>
        <p:spPr>
          <a:xfrm>
            <a:off x="1673352" y="2148840"/>
            <a:ext cx="384048" cy="502920"/>
          </a:xfrm>
          <a:prstGeom prst="rect">
            <a:avLst/>
          </a:prstGeom>
          <a:solidFill>
            <a:srgbClr val="2E86AB">
              <a:alpha val="8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2075688" y="2148840"/>
            <a:ext cx="384048" cy="502920"/>
          </a:xfrm>
          <a:prstGeom prst="rect">
            <a:avLst/>
          </a:prstGeom>
          <a:solidFill>
            <a:srgbClr val="2E86AB">
              <a:alpha val="8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2478024" y="2148840"/>
            <a:ext cx="384048" cy="502920"/>
          </a:xfrm>
          <a:prstGeom prst="rect">
            <a:avLst/>
          </a:prstGeom>
          <a:solidFill>
            <a:srgbClr val="2E86AB">
              <a:alpha val="8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Shape 9"/>
          <p:cNvSpPr/>
          <p:nvPr/>
        </p:nvSpPr>
        <p:spPr>
          <a:xfrm>
            <a:off x="2880360" y="2148840"/>
            <a:ext cx="384048" cy="502920"/>
          </a:xfrm>
          <a:prstGeom prst="rect">
            <a:avLst/>
          </a:prstGeom>
          <a:solidFill>
            <a:srgbClr val="2E86AB">
              <a:alpha val="8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Shape 10"/>
          <p:cNvSpPr/>
          <p:nvPr/>
        </p:nvSpPr>
        <p:spPr>
          <a:xfrm>
            <a:off x="3282696" y="2148840"/>
            <a:ext cx="384048" cy="502920"/>
          </a:xfrm>
          <a:prstGeom prst="rect">
            <a:avLst/>
          </a:prstGeom>
          <a:solidFill>
            <a:srgbClr val="2E86AB">
              <a:alpha val="8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3685032" y="2148840"/>
            <a:ext cx="384048" cy="502920"/>
          </a:xfrm>
          <a:prstGeom prst="rect">
            <a:avLst/>
          </a:prstGeom>
          <a:solidFill>
            <a:srgbClr val="2E86AB">
              <a:alpha val="8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4087368" y="2148840"/>
            <a:ext cx="384048" cy="502920"/>
          </a:xfrm>
          <a:prstGeom prst="rect">
            <a:avLst/>
          </a:prstGeom>
          <a:solidFill>
            <a:srgbClr val="2E86AB">
              <a:alpha val="8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4489704" y="2148840"/>
            <a:ext cx="384048" cy="502920"/>
          </a:xfrm>
          <a:prstGeom prst="rect">
            <a:avLst/>
          </a:prstGeom>
          <a:solidFill>
            <a:srgbClr val="2E86AB">
              <a:alpha val="8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6" name="Shape 14"/>
          <p:cNvSpPr/>
          <p:nvPr/>
        </p:nvSpPr>
        <p:spPr>
          <a:xfrm>
            <a:off x="4892040" y="2148840"/>
            <a:ext cx="384048" cy="502920"/>
          </a:xfrm>
          <a:prstGeom prst="rect">
            <a:avLst/>
          </a:prstGeom>
          <a:solidFill>
            <a:srgbClr val="2E86AB">
              <a:alpha val="8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5294376" y="2148840"/>
            <a:ext cx="384048" cy="502920"/>
          </a:xfrm>
          <a:prstGeom prst="rect">
            <a:avLst/>
          </a:prstGeom>
          <a:solidFill>
            <a:srgbClr val="2E86AB">
              <a:alpha val="8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" name="Shape 16"/>
          <p:cNvSpPr/>
          <p:nvPr/>
        </p:nvSpPr>
        <p:spPr>
          <a:xfrm>
            <a:off x="5696712" y="2148840"/>
            <a:ext cx="384048" cy="502920"/>
          </a:xfrm>
          <a:prstGeom prst="rect">
            <a:avLst/>
          </a:prstGeom>
          <a:solidFill>
            <a:srgbClr val="2E86AB">
              <a:alpha val="8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6099048" y="2148840"/>
            <a:ext cx="384048" cy="502920"/>
          </a:xfrm>
          <a:prstGeom prst="rect">
            <a:avLst/>
          </a:prstGeom>
          <a:solidFill>
            <a:srgbClr val="2E86AB">
              <a:alpha val="85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6501384" y="2148840"/>
            <a:ext cx="384048" cy="5029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868680" y="26974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Lookback = 15 timestep (15 detik riwayat)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40880" y="2212848"/>
            <a:ext cx="457200" cy="365760"/>
          </a:xfrm>
          <a:prstGeom prst="rightArrow">
            <a:avLst/>
          </a:prstGeom>
          <a:solidFill>
            <a:srgbClr val="5B6B7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3" name="Shape 21"/>
          <p:cNvSpPr/>
          <p:nvPr/>
        </p:nvSpPr>
        <p:spPr>
          <a:xfrm>
            <a:off x="7635240" y="210312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76352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2697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= 5 detik ke depan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 label)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429000"/>
            <a:ext cx="356616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7" name="Text 25"/>
          <p:cNvSpPr/>
          <p:nvPr/>
        </p:nvSpPr>
        <p:spPr>
          <a:xfrm>
            <a:off x="777240" y="363931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Temporal per Sesi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77240" y="425196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70% / Val 15% / Test 15%, dibagi berurutan (bukan acak) di dalam tiap sesi rekaman.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43400" y="3429000"/>
            <a:ext cx="356616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/>
          <p:nvPr/>
        </p:nvSpPr>
        <p:spPr>
          <a:xfrm>
            <a:off x="4572000" y="363931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 Z-score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572000" y="425196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&amp; std dihitung hanya dari data train, lalu diterapkan ke val &amp; test (mencegah data leakage).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38160" y="3429000"/>
            <a:ext cx="356616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8366760" y="363931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Downsampling Sesi Monoton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366760" y="425196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dengan label dominan/konstan di-cap maksimum 350 baris agar data tidak timpang.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Board12 · TCN per-Sensor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16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Convolutional Network (TCN)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33756" y="2103120"/>
            <a:ext cx="1170432" cy="868680"/>
          </a:xfrm>
          <a:prstGeom prst="roundRect">
            <a:avLst>
              <a:gd name="adj" fmla="val 7368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333756" y="2103120"/>
            <a:ext cx="11704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(15, 1)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504188" y="2455164"/>
            <a:ext cx="141732" cy="164592"/>
          </a:xfrm>
          <a:prstGeom prst="rightArrow">
            <a:avLst/>
          </a:prstGeom>
          <a:solidFill>
            <a:srgbClr val="CFE8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1627632" y="2103120"/>
            <a:ext cx="1170432" cy="868680"/>
          </a:xfrm>
          <a:prstGeom prst="roundRect">
            <a:avLst>
              <a:gd name="adj" fmla="val 7368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627632" y="2103120"/>
            <a:ext cx="11704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proyeksi (1x1)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98064" y="2455164"/>
            <a:ext cx="141732" cy="164592"/>
          </a:xfrm>
          <a:prstGeom prst="rightArrow">
            <a:avLst/>
          </a:prstGeom>
          <a:solidFill>
            <a:srgbClr val="CFE8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2921508" y="2103120"/>
            <a:ext cx="1170432" cy="868680"/>
          </a:xfrm>
          <a:prstGeom prst="roundRect">
            <a:avLst>
              <a:gd name="adj" fmla="val 7368"/>
            </a:avLst>
          </a:prstGeom>
          <a:solidFill>
            <a:srgbClr val="1E33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2921508" y="2103120"/>
            <a:ext cx="11704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TCN Block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91940" y="2455164"/>
            <a:ext cx="141732" cy="164592"/>
          </a:xfrm>
          <a:prstGeom prst="rightArrow">
            <a:avLst/>
          </a:prstGeom>
          <a:solidFill>
            <a:srgbClr val="CFE8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4215384" y="2103120"/>
            <a:ext cx="1170432" cy="868680"/>
          </a:xfrm>
          <a:prstGeom prst="roundRect">
            <a:avLst>
              <a:gd name="adj" fmla="val 7368"/>
            </a:avLst>
          </a:prstGeom>
          <a:solidFill>
            <a:srgbClr val="1E33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4215384" y="2103120"/>
            <a:ext cx="11704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TCN Block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85816" y="2455164"/>
            <a:ext cx="141732" cy="164592"/>
          </a:xfrm>
          <a:prstGeom prst="rightArrow">
            <a:avLst/>
          </a:prstGeom>
          <a:solidFill>
            <a:srgbClr val="CFE8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6" name="Shape 14"/>
          <p:cNvSpPr/>
          <p:nvPr/>
        </p:nvSpPr>
        <p:spPr>
          <a:xfrm>
            <a:off x="5509260" y="2103120"/>
            <a:ext cx="1170432" cy="868680"/>
          </a:xfrm>
          <a:prstGeom prst="roundRect">
            <a:avLst>
              <a:gd name="adj" fmla="val 7368"/>
            </a:avLst>
          </a:prstGeom>
          <a:solidFill>
            <a:srgbClr val="1E33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5509260" y="2103120"/>
            <a:ext cx="11704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TCN Block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79692" y="2455164"/>
            <a:ext cx="141732" cy="164592"/>
          </a:xfrm>
          <a:prstGeom prst="rightArrow">
            <a:avLst/>
          </a:prstGeom>
          <a:solidFill>
            <a:srgbClr val="CFE8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6803136" y="2103120"/>
            <a:ext cx="1170432" cy="868680"/>
          </a:xfrm>
          <a:prstGeom prst="roundRect">
            <a:avLst>
              <a:gd name="adj" fmla="val 7368"/>
            </a:avLst>
          </a:prstGeom>
          <a:solidFill>
            <a:srgbClr val="1E33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6803136" y="2103120"/>
            <a:ext cx="11704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TCN Block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d=8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973568" y="2455164"/>
            <a:ext cx="141732" cy="164592"/>
          </a:xfrm>
          <a:prstGeom prst="rightArrow">
            <a:avLst/>
          </a:prstGeom>
          <a:solidFill>
            <a:srgbClr val="CFE8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8097012" y="2103120"/>
            <a:ext cx="1170432" cy="868680"/>
          </a:xfrm>
          <a:prstGeom prst="roundRect">
            <a:avLst>
              <a:gd name="adj" fmla="val 7368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8097012" y="2103120"/>
            <a:ext cx="11704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timestep akhir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267444" y="2455164"/>
            <a:ext cx="141732" cy="164592"/>
          </a:xfrm>
          <a:prstGeom prst="rightArrow">
            <a:avLst/>
          </a:prstGeom>
          <a:solidFill>
            <a:srgbClr val="CFE8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5" name="Shape 23"/>
          <p:cNvSpPr/>
          <p:nvPr/>
        </p:nvSpPr>
        <p:spPr>
          <a:xfrm>
            <a:off x="9390888" y="2103120"/>
            <a:ext cx="1170432" cy="868680"/>
          </a:xfrm>
          <a:prstGeom prst="roundRect">
            <a:avLst>
              <a:gd name="adj" fmla="val 7368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9390888" y="2103120"/>
            <a:ext cx="11704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Dense(16)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Dropout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561320" y="2455164"/>
            <a:ext cx="141732" cy="164592"/>
          </a:xfrm>
          <a:prstGeom prst="rightArrow">
            <a:avLst/>
          </a:prstGeom>
          <a:solidFill>
            <a:srgbClr val="CFE8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8" name="Shape 26"/>
          <p:cNvSpPr/>
          <p:nvPr/>
        </p:nvSpPr>
        <p:spPr>
          <a:xfrm>
            <a:off x="10684764" y="2103120"/>
            <a:ext cx="1170432" cy="868680"/>
          </a:xfrm>
          <a:prstGeom prst="roundRect">
            <a:avLst>
              <a:gd name="adj" fmla="val 7368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10684764" y="2103120"/>
            <a:ext cx="11704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kelas)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TCN Block: 2× (ZeroPad → Conv1D dilated → LayerNorm → ReLU → SpatialDropout) + koneksi residual (skip connection)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2960" y="4023360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1E33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2" name="Text 30"/>
          <p:cNvSpPr/>
          <p:nvPr/>
        </p:nvSpPr>
        <p:spPr>
          <a:xfrm>
            <a:off x="1005840" y="407822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0584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343400" y="4023360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1E33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5" name="Text 33"/>
          <p:cNvSpPr/>
          <p:nvPr/>
        </p:nvSpPr>
        <p:spPr>
          <a:xfrm>
            <a:off x="4526280" y="407822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size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2628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863840" y="4023360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1E33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8" name="Text 36"/>
          <p:cNvSpPr/>
          <p:nvPr/>
        </p:nvSpPr>
        <p:spPr>
          <a:xfrm>
            <a:off x="8046720" y="407822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Dilation rates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04672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1, 2, 4, 8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22960" y="4892040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1E33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1" name="Text 39"/>
          <p:cNvSpPr/>
          <p:nvPr/>
        </p:nvSpPr>
        <p:spPr>
          <a:xfrm>
            <a:off x="1005840" y="494690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05840" y="5212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343400" y="4892040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1E33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4" name="Text 42"/>
          <p:cNvSpPr/>
          <p:nvPr/>
        </p:nvSpPr>
        <p:spPr>
          <a:xfrm>
            <a:off x="4526280" y="494690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26280" y="5212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863840" y="4892040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1E33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7" name="Text 45"/>
          <p:cNvSpPr/>
          <p:nvPr/>
        </p:nvSpPr>
        <p:spPr>
          <a:xfrm>
            <a:off x="8046720" y="494690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Receptive field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046720" y="5212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timestep (≥ lookback 15 ✓)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 per model: 25,714  ·  Ukuran float32: ~131.8 KB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Board12 · TCN per-Sensor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6C176-0969-4C50-3BEE-35368CE6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D88E38-2AFD-8FD6-835C-6A21C5588A74}"/>
              </a:ext>
            </a:extLst>
          </p:cNvPr>
          <p:cNvSpPr/>
          <p:nvPr/>
        </p:nvSpPr>
        <p:spPr>
          <a:xfrm>
            <a:off x="271976" y="844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TCN</a:t>
            </a:r>
            <a:endParaRPr lang="en-US" sz="3733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0C23EF-B7C5-33AF-F444-ED3A331AB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66" y="679000"/>
            <a:ext cx="10658269" cy="599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340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 Pelatihan 8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untuk Setiap Sensor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9842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dataset windowed 1-fitur untuk sensor tsb.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48640" y="26334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model TCN baru (n_features = 1)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55264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548640" y="32552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22783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class weight (balanced) untuk atasi imbalance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77056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548640" y="3877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84962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 dengan EarlyStopping + ReduceLROnPlateau + ModelCheckpoint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498848"/>
            <a:ext cx="329184" cy="329184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548640" y="4498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47141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di test set (accuracy, F1, confusion matrix)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329184" cy="32918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548640" y="5120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50932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 ke TFLite float32 &amp; int8 + simpan norm params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1554480"/>
            <a:ext cx="5074920" cy="4480560"/>
          </a:xfrm>
          <a:prstGeom prst="roundRect">
            <a:avLst>
              <a:gd name="adj" fmla="val 2041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6903720" y="1783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TRAINING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22860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006840" y="22860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(lr = 1e-3)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903720" y="277063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006840" y="27706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categorical crossentropy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903720" y="325526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006840" y="325526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903720" y="373989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006840" y="373989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(dengan EarlyStopping)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03720" y="422452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006840" y="42245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= 12, monitor val_loss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903720" y="47091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006840" y="47091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0.5, patience 5, min_lr 1e-5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903720" y="51937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006840" y="519379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(mengatasi imbalance kelas)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903720" y="567842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006840" y="56784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(reproducible)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Board12 · TCN per-Sensor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Perbandingan Akurasi 8 Model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11064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diurutkan dari performa tertinggi ke terendah — semua 8 model mencapai akurasi ≥ 92%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Board12 · TCN per-Sensor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Akhir 8 Model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42062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Macro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(lpg)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(lpg)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Float32 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Int8 (KB)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MQ4V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131.8 / 72.3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MQ2V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131.8 / 72.3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MQ8V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131.8 / 72.3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MQ135V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132.2 / 72.5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MQ3V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131.8 / 72.3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MQ7V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131.8 / 72.3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MQ5V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131.8 / 72.3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MQ6V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131.8 / 72.3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MQ4V menunjukkan performa tertinggi secara individual untuk mendeteksi kebocoran LPG 5 detik ke depan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Board12 · TCN per-Sensor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Model untuk Edge Device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70048" cy="27432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2212848" cy="548640"/>
          </a:xfrm>
          <a:prstGeom prst="roundRect">
            <a:avLst>
              <a:gd name="adj" fmla="val 10000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.keras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Checkpoint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221284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 terbaik disimpan otomatis via ModelCheckpoint (monitor val_loss).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01568" y="1600200"/>
            <a:ext cx="2670048" cy="27432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3630168" y="1828800"/>
            <a:ext cx="2212848" cy="548640"/>
          </a:xfrm>
          <a:prstGeom prst="roundRect">
            <a:avLst>
              <a:gd name="adj" fmla="val 10000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3630168" y="182880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~131.8 KB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0168" y="251460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Float32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30168" y="2926080"/>
            <a:ext cx="221284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presisi penuh, cocok untuk validasi &amp; referensi akurasi.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54496" y="1600200"/>
            <a:ext cx="2670048" cy="27432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6483096" y="1828800"/>
            <a:ext cx="2212848" cy="548640"/>
          </a:xfrm>
          <a:prstGeom prst="roundRect">
            <a:avLst>
              <a:gd name="adj" fmla="val 10000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6483096" y="182880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~72.3 KB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83096" y="251460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Int8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83096" y="2926080"/>
            <a:ext cx="221284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terkuantisasi (representative dataset), kompresi ~1.8× dari float32.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07424" y="1600200"/>
            <a:ext cx="2670048" cy="27432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blurRad="88900" dist="254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9336024" y="1828800"/>
            <a:ext cx="2212848" cy="548640"/>
          </a:xfrm>
          <a:prstGeom prst="roundRect">
            <a:avLst>
              <a:gd name="adj" fmla="val 10000"/>
            </a:avLst>
          </a:prstGeom>
          <a:solidFill>
            <a:srgbClr val="16233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9336024" y="182880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.json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36024" y="251460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 Params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36024" y="2926080"/>
            <a:ext cx="221284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std, lookback, horizon &amp; label map — dibutuhkan saat inferensi di device.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617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sensor menghasilkan keempat artefak di atas → total 8 set artefak, disimpan di folder tcn_per_sensor_outputs/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Board12 · TCN per-Sensor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Setiap Sensor MQ Cukup Informatif Sendiri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76272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114300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8 model ≥ 92% akurasi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2404872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Bahkan dengan hanya 1 fitur, tiap model mampu memprediksi kebocoran LPG 5 detik ke depan dengan andal.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163824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143000" y="2999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MQ4V adalah sensor paling informatif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3392424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93.9%, F1 macro 92.3% — tertinggi di antara 8 sensor, diikuti MQ2V dan MQ8V.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151376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1143000" y="398678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ringan &amp; siap edge deployment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379976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~25.7K parameter, ukuran int8 hanya ~72 KB — cocok untuk mikrokontroler di board sensor.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138928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1143000" y="497433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konsisten &amp; dapat dibandingkan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5367528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hyperparameter &amp; pipeline identik antar model, perbandingan antar sensor menjadi adil (apples-to-apples).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Board12 TCN per-Sensor · 8-Model LPG Gas Forecasting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71</TotalTime>
  <Words>960</Words>
  <Application>Microsoft Office PowerPoint</Application>
  <PresentationFormat>Widescreen</PresentationFormat>
  <Paragraphs>259</Paragraphs>
  <Slides>11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Prediksi Gas LPG - TCN per-Sensor (Board12)</dc:title>
  <dc:subject>PptxGenJS Presentation</dc:subject>
  <dc:creator>Board12 TCN Project</dc:creator>
  <cp:lastModifiedBy>Ilmania Syakira</cp:lastModifiedBy>
  <cp:revision>3</cp:revision>
  <dcterms:created xsi:type="dcterms:W3CDTF">2026-07-01T15:11:59Z</dcterms:created>
  <dcterms:modified xsi:type="dcterms:W3CDTF">2026-07-03T00:50:45Z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2026-07-01T15:17:12Z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a1013c96-6998-409d-91b1-8d8bec178b24</vt:lpwstr>
  </property>
  <property fmtid="{D5CDD505-2E9C-101B-9397-08002B2CF9AE}" pid="8" name="MSIP_Label_38b525e5-f3da-4501-8f1e-526b6769fc56_ContentBits">
    <vt:lpwstr>0</vt:lpwstr>
  </property>
  <property fmtid="{D5CDD505-2E9C-101B-9397-08002B2CF9AE}" pid="9" name="MSIP_Label_38b525e5-f3da-4501-8f1e-526b6769fc56_Tag">
    <vt:lpwstr>10, 3, 0, 1</vt:lpwstr>
  </property>
</Properties>
</file>