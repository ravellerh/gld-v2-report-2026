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9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92" d="100"/>
          <a:sy n="92" d="100"/>
        </p:scale>
        <p:origin x="307" y="-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Jumlah data</c:v>
                </c:pt>
              </c:strCache>
            </c:strRef>
          </c:tx>
          <c:spPr>
            <a:solidFill>
              <a:srgbClr val="E8590C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E7D4-4EC0-A9DF-86D2D3558D9C}"/>
              </c:ext>
            </c:extLst>
          </c:dPt>
          <c:dPt>
            <c:idx val="1"/>
            <c:invertIfNegative val="0"/>
            <c:bubble3D val="0"/>
            <c:spPr>
              <a:solidFill>
                <a:srgbClr val="3E6C8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7D4-4EC0-A9DF-86D2D3558D9C}"/>
              </c:ext>
            </c:extLst>
          </c:dPt>
          <c:dPt>
            <c:idx val="2"/>
            <c:invertIfNegative val="0"/>
            <c:bubble3D val="0"/>
            <c:spPr>
              <a:solidFill>
                <a:srgbClr val="1E8E5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7D4-4EC0-A9DF-86D2D3558D9C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0" u="none" strike="noStrike">
                    <a:solidFill>
                      <a:srgbClr val="1B2A4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LPG</c:v>
                </c:pt>
                <c:pt idx="1">
                  <c:v>CO₂</c:v>
                </c:pt>
                <c:pt idx="2">
                  <c:v>Udara Bersih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1099</c:v>
                </c:pt>
                <c:pt idx="1">
                  <c:v>545</c:v>
                </c:pt>
                <c:pt idx="2">
                  <c:v>226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7D4-4EC0-A9DF-86D2D3558D9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4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Ukuran (KB)</c:v>
                </c:pt>
              </c:strCache>
            </c:strRef>
          </c:tx>
          <c:spPr>
            <a:solidFill>
              <a:srgbClr val="6B7A8F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08FD-49B1-B493-8B97CD13852A}"/>
              </c:ext>
            </c:extLst>
          </c:dPt>
          <c:dPt>
            <c:idx val="1"/>
            <c:invertIfNegative val="0"/>
            <c:bubble3D val="0"/>
            <c:spPr>
              <a:solidFill>
                <a:srgbClr val="3E6C8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8FD-49B1-B493-8B97CD13852A}"/>
              </c:ext>
            </c:extLst>
          </c:dPt>
          <c:dPt>
            <c:idx val="2"/>
            <c:invertIfNegative val="0"/>
            <c:bubble3D val="0"/>
            <c:spPr>
              <a:solidFill>
                <a:srgbClr val="E8590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8FD-49B1-B493-8B97CD13852A}"/>
              </c:ext>
            </c:extLst>
          </c:dPt>
          <c:dLbls>
            <c:numFmt formatCode="0.00&quot; KB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0" u="none" strike="noStrike">
                    <a:solidFill>
                      <a:srgbClr val="1B2A4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Model Awal
(Keras)</c:v>
                </c:pt>
                <c:pt idx="1">
                  <c:v>TFLite
float32</c:v>
                </c:pt>
                <c:pt idx="2">
                  <c:v>TFLite INT8
(dipakai di ESP32-S3)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57.95</c:v>
                </c:pt>
                <c:pt idx="1">
                  <c:v>11.29</c:v>
                </c:pt>
                <c:pt idx="2">
                  <c:v>9.14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8FD-49B1-B493-8B97CD13852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B2A4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53794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280160"/>
            <a:ext cx="4206240" cy="4206240"/>
          </a:xfrm>
          <a:prstGeom prst="ellipse">
            <a:avLst/>
          </a:prstGeom>
          <a:solidFill>
            <a:srgbClr val="3E6C8E">
              <a:alpha val="22000"/>
            </a:srgbClr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-1463040" y="4846320"/>
            <a:ext cx="3840480" cy="3840480"/>
          </a:xfrm>
          <a:prstGeom prst="ellipse">
            <a:avLst/>
          </a:prstGeom>
          <a:solidFill>
            <a:srgbClr val="E8590C">
              <a:alpha val="15000"/>
            </a:srgbClr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Shape 2"/>
          <p:cNvSpPr/>
          <p:nvPr/>
        </p:nvSpPr>
        <p:spPr>
          <a:xfrm>
            <a:off x="822960" y="777240"/>
            <a:ext cx="960120" cy="960120"/>
          </a:xfrm>
          <a:prstGeom prst="ellipse">
            <a:avLst/>
          </a:prstGeom>
          <a:solidFill>
            <a:srgbClr val="3E6C8E"/>
          </a:solidFill>
          <a:ln/>
        </p:spPr>
        <p:txBody>
          <a:bodyPr/>
          <a:lstStyle/>
          <a:p>
            <a:endParaRPr lang="en-ID"/>
          </a:p>
        </p:txBody>
      </p:sp>
      <p:pic>
        <p:nvPicPr>
          <p:cNvPr id="5" name="Image 0" descr="/home/claude/pptx_proj/icons/chip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585" y="978865"/>
            <a:ext cx="556870" cy="5568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IoT — INSTITUT TEKNOLOGI BANDUNG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" y="2377440"/>
            <a:ext cx="102412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Deteksi Kebocoran Gas dengan</a:t>
            </a:r>
            <a:endParaRPr lang="en-US" sz="4400" dirty="0"/>
          </a:p>
          <a:p>
            <a:pPr marL="0" indent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CNN Dual-Branch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822960" y="434340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B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Menggabungkan pembacaan 8 sensor gas MQ dengan pengetahuan datasheet, dikemas ringkas agar bisa "berpikir" langsung di dalam chip ESP32-S3.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553212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59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99,73%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822960" y="60350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Akurasi model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3840480" y="553212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59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3840480" y="60350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gas MQ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858000" y="553212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59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9,14 KB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6858000" y="60350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Ukuran siap di chip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MENGAPA INI PENTING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7406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Kebocoran Gas Sering Tak Terdeteksi Tepat Waktu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E4ECF3"/>
          </a:solidFill>
          <a:ln/>
        </p:spPr>
        <p:txBody>
          <a:bodyPr/>
          <a:lstStyle/>
          <a:p>
            <a:endParaRPr lang="en-ID"/>
          </a:p>
        </p:txBody>
      </p:sp>
      <p:pic>
        <p:nvPicPr>
          <p:cNvPr id="5" name="Image 0" descr="/home/claude/pptx_proj/icons/alert_1B2A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703" y="2102023"/>
            <a:ext cx="294803" cy="29480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1938528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Sensor tunggal mudah keliru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1371600" y="2313432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sensor MQ saja gampang salah baca karena gas lain atau kondisi udara sekitar bisa mengecoh sinyalnya.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48640" y="3383280"/>
            <a:ext cx="566928" cy="566928"/>
          </a:xfrm>
          <a:prstGeom prst="ellipse">
            <a:avLst/>
          </a:prstGeom>
          <a:solidFill>
            <a:srgbClr val="E4ECF3"/>
          </a:solidFill>
          <a:ln/>
        </p:spPr>
        <p:txBody>
          <a:bodyPr/>
          <a:lstStyle/>
          <a:p>
            <a:endParaRPr lang="en-ID"/>
          </a:p>
        </p:txBody>
      </p:sp>
      <p:pic>
        <p:nvPicPr>
          <p:cNvPr id="9" name="Image 1" descr="/home/claude/pptx_proj/icons/alert_1B2A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703" y="3519343"/>
            <a:ext cx="294803" cy="29480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3355848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Butuh keputusan cepat, di tempat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1371600" y="3730752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Menunggu data dikirim ke server sebelum ada keputusan itu berisiko — alarm gas harus bisa muncul dalam hitungan detik.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548640" y="4800600"/>
            <a:ext cx="566928" cy="566928"/>
          </a:xfrm>
          <a:prstGeom prst="ellipse">
            <a:avLst/>
          </a:prstGeom>
          <a:solidFill>
            <a:srgbClr val="E4ECF3"/>
          </a:solidFill>
          <a:ln/>
        </p:spPr>
        <p:txBody>
          <a:bodyPr/>
          <a:lstStyle/>
          <a:p>
            <a:endParaRPr lang="en-ID"/>
          </a:p>
        </p:txBody>
      </p:sp>
      <p:pic>
        <p:nvPicPr>
          <p:cNvPr id="13" name="Image 2" descr="/home/claude/pptx_proj/icons/alert_1B2A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703" y="4936663"/>
            <a:ext cx="294803" cy="29480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71600" y="4773168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Perangkat kecil, daya terbatas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1371600" y="5148072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Alat lapangan seperti ESP32-S3 hanya punya memori &amp; daya kecil, jadi model AI-nya juga harus mungil tapi tetap pintar.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7360920" y="777240"/>
            <a:ext cx="4251960" cy="5349240"/>
          </a:xfrm>
          <a:prstGeom prst="roundRect">
            <a:avLst>
              <a:gd name="adj" fmla="val 2581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7" name="Shape 12"/>
          <p:cNvSpPr/>
          <p:nvPr/>
        </p:nvSpPr>
        <p:spPr>
          <a:xfrm>
            <a:off x="8915400" y="1234440"/>
            <a:ext cx="1143000" cy="1143000"/>
          </a:xfrm>
          <a:prstGeom prst="ellipse">
            <a:avLst/>
          </a:prstGeom>
          <a:solidFill>
            <a:srgbClr val="3E6C8E"/>
          </a:solidFill>
          <a:ln/>
        </p:spPr>
        <p:txBody>
          <a:bodyPr/>
          <a:lstStyle/>
          <a:p>
            <a:endParaRPr lang="en-ID"/>
          </a:p>
        </p:txBody>
      </p:sp>
      <p:pic>
        <p:nvPicPr>
          <p:cNvPr id="18" name="Image 3" descr="/home/claude/pptx_proj/icons/gasstov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72575" y="1491615"/>
            <a:ext cx="628650" cy="62865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680960" y="260604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Tiga Gas yang Dikenali Sistem</a:t>
            </a:r>
            <a:endParaRPr lang="en-US" sz="1600" dirty="0"/>
          </a:p>
        </p:txBody>
      </p:sp>
      <p:sp>
        <p:nvSpPr>
          <p:cNvPr id="20" name="Shape 14"/>
          <p:cNvSpPr/>
          <p:nvPr/>
        </p:nvSpPr>
        <p:spPr>
          <a:xfrm>
            <a:off x="7680960" y="3337560"/>
            <a:ext cx="3566160" cy="777240"/>
          </a:xfrm>
          <a:prstGeom prst="roundRect">
            <a:avLst>
              <a:gd name="adj" fmla="val 9412"/>
            </a:avLst>
          </a:prstGeom>
          <a:solidFill>
            <a:srgbClr val="3E6C8E">
              <a:alpha val="45000"/>
            </a:srgbClr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21" name="Text 15"/>
          <p:cNvSpPr/>
          <p:nvPr/>
        </p:nvSpPr>
        <p:spPr>
          <a:xfrm>
            <a:off x="7863840" y="341071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LPG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7863840" y="3703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elpiji rumah tangga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7680960" y="4270248"/>
            <a:ext cx="3566160" cy="777240"/>
          </a:xfrm>
          <a:prstGeom prst="roundRect">
            <a:avLst>
              <a:gd name="adj" fmla="val 9412"/>
            </a:avLst>
          </a:prstGeom>
          <a:solidFill>
            <a:srgbClr val="3E6C8E">
              <a:alpha val="45000"/>
            </a:srgbClr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24" name="Text 18"/>
          <p:cNvSpPr/>
          <p:nvPr/>
        </p:nvSpPr>
        <p:spPr>
          <a:xfrm>
            <a:off x="7863840" y="434340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CO₂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7863840" y="463600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Karbon dioksida berlebih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680960" y="5202936"/>
            <a:ext cx="3566160" cy="777240"/>
          </a:xfrm>
          <a:prstGeom prst="roundRect">
            <a:avLst>
              <a:gd name="adj" fmla="val 9412"/>
            </a:avLst>
          </a:prstGeom>
          <a:solidFill>
            <a:srgbClr val="3E6C8E">
              <a:alpha val="45000"/>
            </a:srgbClr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27" name="Text 21"/>
          <p:cNvSpPr/>
          <p:nvPr/>
        </p:nvSpPr>
        <p:spPr>
          <a:xfrm>
            <a:off x="7863840" y="5276088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Udara Bersih</a:t>
            </a:r>
            <a:endParaRPr lang="en-US" sz="1400" dirty="0"/>
          </a:p>
        </p:txBody>
      </p:sp>
      <p:sp>
        <p:nvSpPr>
          <p:cNvPr id="28" name="Text 22"/>
          <p:cNvSpPr/>
          <p:nvPr/>
        </p:nvSpPr>
        <p:spPr>
          <a:xfrm>
            <a:off x="7863840" y="556869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Kondisi aman, tanpa gas berbahaya</a:t>
            </a:r>
            <a:endParaRPr lang="en-US" sz="1050" dirty="0"/>
          </a:p>
        </p:txBody>
      </p:sp>
      <p:sp>
        <p:nvSpPr>
          <p:cNvPr id="29" name="Text 23"/>
          <p:cNvSpPr/>
          <p:nvPr/>
        </p:nvSpPr>
        <p:spPr>
          <a:xfrm>
            <a:off x="457200" y="654710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IoT ITB  |  Deteksi Kebocoran Gas — CNN Dual-Branch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11430000" y="6547104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UTAMA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Ini “Berpikir” dari Dua Sumber Sekaligus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Selain membaca angka sensor, model juga diberi tabel pengetahuan dari datasheet pabrik sensor — persis seperti teknisi berpengalaman yang tahu “sensor mana peka ke gas apa”.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416052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B2A4A">
                <a:alpha val="18000"/>
              </a:srgbClr>
            </a:outerShdw>
          </a:effectLst>
        </p:spPr>
        <p:txBody>
          <a:bodyPr/>
          <a:lstStyle/>
          <a:p>
            <a:endParaRPr lang="en-ID"/>
          </a:p>
        </p:txBody>
      </p:sp>
      <p:sp>
        <p:nvSpPr>
          <p:cNvPr id="6" name="Shape 4"/>
          <p:cNvSpPr/>
          <p:nvPr/>
        </p:nvSpPr>
        <p:spPr>
          <a:xfrm>
            <a:off x="868680" y="2651760"/>
            <a:ext cx="685800" cy="685800"/>
          </a:xfrm>
          <a:prstGeom prst="ellipse">
            <a:avLst/>
          </a:prstGeom>
          <a:solidFill>
            <a:srgbClr val="E4ECF3"/>
          </a:solidFill>
          <a:ln/>
        </p:spPr>
        <p:txBody>
          <a:bodyPr/>
          <a:lstStyle/>
          <a:p>
            <a:endParaRPr lang="en-ID"/>
          </a:p>
        </p:txBody>
      </p:sp>
      <p:pic>
        <p:nvPicPr>
          <p:cNvPr id="7" name="Image 0" descr="/home/claude/pptx_proj/icons/sensors_1B2A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985" y="2806065"/>
            <a:ext cx="377190" cy="37719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37360" y="2743200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Sumber 1: Data Sensor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68680" y="3566160"/>
            <a:ext cx="3566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angka mentah dari sensor MQ2, MQ3, MQ4, MQ5, MQ6, MQ7, MQ8, dan MQ135 — pola naik-turunnya dibaca lewat lapisan Conv1D, mirip mencari corak pada barisan angka.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937760" y="3429000"/>
            <a:ext cx="640080" cy="640080"/>
          </a:xfrm>
          <a:prstGeom prst="ellipse">
            <a:avLst/>
          </a:prstGeom>
          <a:solidFill>
            <a:srgbClr val="E8590C"/>
          </a:solidFill>
          <a:ln/>
        </p:spPr>
        <p:txBody>
          <a:bodyPr/>
          <a:lstStyle/>
          <a:p>
            <a:endParaRPr lang="en-ID"/>
          </a:p>
        </p:txBody>
      </p:sp>
      <p:pic>
        <p:nvPicPr>
          <p:cNvPr id="11" name="Image 1" descr="/home/claude/pptx_proj/icons/zap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1778" y="3573018"/>
            <a:ext cx="352044" cy="352044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897880" y="2331720"/>
            <a:ext cx="416052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B2A4A">
                <a:alpha val="18000"/>
              </a:srgbClr>
            </a:outerShdw>
          </a:effectLst>
        </p:spPr>
        <p:txBody>
          <a:bodyPr/>
          <a:lstStyle/>
          <a:p>
            <a:endParaRPr lang="en-ID"/>
          </a:p>
        </p:txBody>
      </p:sp>
      <p:sp>
        <p:nvSpPr>
          <p:cNvPr id="13" name="Shape 9"/>
          <p:cNvSpPr/>
          <p:nvPr/>
        </p:nvSpPr>
        <p:spPr>
          <a:xfrm>
            <a:off x="6217920" y="2651760"/>
            <a:ext cx="685800" cy="685800"/>
          </a:xfrm>
          <a:prstGeom prst="ellipse">
            <a:avLst/>
          </a:prstGeom>
          <a:solidFill>
            <a:srgbClr val="E4ECF3"/>
          </a:solidFill>
          <a:ln/>
        </p:spPr>
        <p:txBody>
          <a:bodyPr/>
          <a:lstStyle/>
          <a:p>
            <a:endParaRPr lang="en-ID"/>
          </a:p>
        </p:txBody>
      </p:sp>
      <p:pic>
        <p:nvPicPr>
          <p:cNvPr id="14" name="Image 2" descr="/home/claude/pptx_proj/icons/database_1B2A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2225" y="2806065"/>
            <a:ext cx="377190" cy="37719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086600" y="2624328"/>
            <a:ext cx="2880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Sumber 2: Pengetahuan Datasheet</a:t>
            </a:r>
            <a:endParaRPr lang="en-US" sz="1550" dirty="0"/>
          </a:p>
        </p:txBody>
      </p:sp>
      <p:sp>
        <p:nvSpPr>
          <p:cNvPr id="16" name="Text 11"/>
          <p:cNvSpPr/>
          <p:nvPr/>
        </p:nvSpPr>
        <p:spPr>
          <a:xfrm>
            <a:off x="6217920" y="3566160"/>
            <a:ext cx="3566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 referensi berisi seberapa sensitif tiap sensor terhadap 7 kelompok gas (LPG, metana, CO, hidrogen, dll). Diubah menjadi 7 “fitur bukti” yang dipelajari lewat lapisan Dense.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3E6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Digabung di dalam satu model (dual-branch), lalu memutuskan salah satu dari 3 kondisi gas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457200" y="654710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IoT ITB  |  Deteksi Kebocoran Gas — CNN Dual-Branch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1430000" y="6547104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YANG DIGUNAKAN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1.870 Data Pembacaan, dari 8 Sensor, 3 Kondisi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Sebaran Data per Kondisi Gas</a:t>
            </a:r>
            <a:endParaRPr lang="en-US" sz="15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457200" y="2011680"/>
          <a:ext cx="576072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074920"/>
            <a:ext cx="5577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diambil dari 1.870 pembacaan sensor unik (duplikat dibuang), lalu dibagi 80% latih (1.496) dan 20% uji (374) secara seimbang antar kelas.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492240" y="16002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Sensor Gas MQ yang Dipasang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92240" y="205740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4ECF3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6"/>
          <p:cNvSpPr/>
          <p:nvPr/>
        </p:nvSpPr>
        <p:spPr>
          <a:xfrm>
            <a:off x="6629400" y="213055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E6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MQ2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629400" y="251460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LPG, asap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9144000" y="205740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4ECF3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2" name="Text 9"/>
          <p:cNvSpPr/>
          <p:nvPr/>
        </p:nvSpPr>
        <p:spPr>
          <a:xfrm>
            <a:off x="9281160" y="213055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E6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MQ3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9281160" y="251460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Alkohol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492240" y="315468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4ECF3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5" name="Text 12"/>
          <p:cNvSpPr/>
          <p:nvPr/>
        </p:nvSpPr>
        <p:spPr>
          <a:xfrm>
            <a:off x="6629400" y="32278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E6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MQ4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629400" y="361188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Metana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9144000" y="315468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4ECF3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8" name="Text 15"/>
          <p:cNvSpPr/>
          <p:nvPr/>
        </p:nvSpPr>
        <p:spPr>
          <a:xfrm>
            <a:off x="9281160" y="32278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E6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MQ5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9281160" y="361188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&amp; gas alam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492240" y="425196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4ECF3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1" name="Text 18"/>
          <p:cNvSpPr/>
          <p:nvPr/>
        </p:nvSpPr>
        <p:spPr>
          <a:xfrm>
            <a:off x="6629400" y="432511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E6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MQ6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629400" y="470916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LPG, propana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9144000" y="425196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4ECF3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4" name="Text 21"/>
          <p:cNvSpPr/>
          <p:nvPr/>
        </p:nvSpPr>
        <p:spPr>
          <a:xfrm>
            <a:off x="9281160" y="432511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E6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MQ7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9281160" y="470916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Karbon monoksida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492240" y="534924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4ECF3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7" name="Text 24"/>
          <p:cNvSpPr/>
          <p:nvPr/>
        </p:nvSpPr>
        <p:spPr>
          <a:xfrm>
            <a:off x="6629400" y="542239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E6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MQ8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6629400" y="58064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Hidrogen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9144000" y="534924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4ECF3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30" name="Text 27"/>
          <p:cNvSpPr/>
          <p:nvPr/>
        </p:nvSpPr>
        <p:spPr>
          <a:xfrm>
            <a:off x="9281160" y="542239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E6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MQ135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9281160" y="58064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Kualitas udara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457200" y="654710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IoT ITB  |  Deteksi Kebocoran Gas — CNN Dual-Branch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430000" y="6547104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PETA PENGETAHUAN SENSOR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Sensor Mana Peka Terhadap Gas Apa?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 ini diambil dari datasheet resmi tiap sensor MQ. Warna lebih gelap = sensor itu lebih peka mendeteksi kelompok gas tersebut (skala 0–3).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777240" cy="365760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6" name="Text 4"/>
          <p:cNvSpPr/>
          <p:nvPr/>
        </p:nvSpPr>
        <p:spPr>
          <a:xfrm>
            <a:off x="548640" y="2240280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417320" y="2240280"/>
            <a:ext cx="12435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715768" y="2240280"/>
            <a:ext cx="12435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Metana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014216" y="2240280"/>
            <a:ext cx="12435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312664" y="2240280"/>
            <a:ext cx="12435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611112" y="2240280"/>
            <a:ext cx="12435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Alkohol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09560" y="2240280"/>
            <a:ext cx="12435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Udara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208008" y="2240280"/>
            <a:ext cx="12435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Asap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697480"/>
            <a:ext cx="777240" cy="384048"/>
          </a:xfrm>
          <a:prstGeom prst="roundRect">
            <a:avLst>
              <a:gd name="adj" fmla="val 9524"/>
            </a:avLst>
          </a:prstGeom>
          <a:solidFill>
            <a:srgbClr val="E4ECF3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5" name="Text 13"/>
          <p:cNvSpPr/>
          <p:nvPr/>
        </p:nvSpPr>
        <p:spPr>
          <a:xfrm>
            <a:off x="548640" y="2697480"/>
            <a:ext cx="777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MQ8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417320" y="2697480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F0F3F7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7" name="Text 15"/>
          <p:cNvSpPr/>
          <p:nvPr/>
        </p:nvSpPr>
        <p:spPr>
          <a:xfrm>
            <a:off x="1417320" y="2697480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715768" y="2697480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CFE0EC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9" name="Text 17"/>
          <p:cNvSpPr/>
          <p:nvPr/>
        </p:nvSpPr>
        <p:spPr>
          <a:xfrm>
            <a:off x="2715768" y="2697480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014216" y="2697480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CFE0EC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21" name="Text 19"/>
          <p:cNvSpPr/>
          <p:nvPr/>
        </p:nvSpPr>
        <p:spPr>
          <a:xfrm>
            <a:off x="4014216" y="2697480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312664" y="2697480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3E6C8E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23" name="Text 21"/>
          <p:cNvSpPr/>
          <p:nvPr/>
        </p:nvSpPr>
        <p:spPr>
          <a:xfrm>
            <a:off x="5312664" y="2697480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611112" y="2697480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F0F3F7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25" name="Text 23"/>
          <p:cNvSpPr/>
          <p:nvPr/>
        </p:nvSpPr>
        <p:spPr>
          <a:xfrm>
            <a:off x="6611112" y="2697480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909560" y="2697480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F0F3F7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27" name="Text 25"/>
          <p:cNvSpPr/>
          <p:nvPr/>
        </p:nvSpPr>
        <p:spPr>
          <a:xfrm>
            <a:off x="7909560" y="2697480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208008" y="2697480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F0F3F7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29" name="Text 27"/>
          <p:cNvSpPr/>
          <p:nvPr/>
        </p:nvSpPr>
        <p:spPr>
          <a:xfrm>
            <a:off x="9208008" y="2697480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3136392"/>
            <a:ext cx="777240" cy="384048"/>
          </a:xfrm>
          <a:prstGeom prst="roundRect">
            <a:avLst>
              <a:gd name="adj" fmla="val 9524"/>
            </a:avLst>
          </a:prstGeom>
          <a:solidFill>
            <a:srgbClr val="E4ECF3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1" name="Text 29"/>
          <p:cNvSpPr/>
          <p:nvPr/>
        </p:nvSpPr>
        <p:spPr>
          <a:xfrm>
            <a:off x="548640" y="3136392"/>
            <a:ext cx="777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MQ135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417320" y="3136392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CFE0EC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3" name="Text 31"/>
          <p:cNvSpPr/>
          <p:nvPr/>
        </p:nvSpPr>
        <p:spPr>
          <a:xfrm>
            <a:off x="1417320" y="3136392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715768" y="3136392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CFE0EC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5" name="Text 33"/>
          <p:cNvSpPr/>
          <p:nvPr/>
        </p:nvSpPr>
        <p:spPr>
          <a:xfrm>
            <a:off x="2715768" y="3136392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014216" y="3136392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CFE0EC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7" name="Text 35"/>
          <p:cNvSpPr/>
          <p:nvPr/>
        </p:nvSpPr>
        <p:spPr>
          <a:xfrm>
            <a:off x="4014216" y="3136392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312664" y="3136392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F0F3F7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9" name="Text 37"/>
          <p:cNvSpPr/>
          <p:nvPr/>
        </p:nvSpPr>
        <p:spPr>
          <a:xfrm>
            <a:off x="5312664" y="3136392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611112" y="3136392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CFE0EC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1" name="Text 39"/>
          <p:cNvSpPr/>
          <p:nvPr/>
        </p:nvSpPr>
        <p:spPr>
          <a:xfrm>
            <a:off x="6611112" y="3136392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7909560" y="3136392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3E6C8E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3" name="Text 41"/>
          <p:cNvSpPr/>
          <p:nvPr/>
        </p:nvSpPr>
        <p:spPr>
          <a:xfrm>
            <a:off x="7909560" y="3136392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9208008" y="3136392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7FA6C4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5" name="Text 43"/>
          <p:cNvSpPr/>
          <p:nvPr/>
        </p:nvSpPr>
        <p:spPr>
          <a:xfrm>
            <a:off x="9208008" y="3136392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48640" y="3575304"/>
            <a:ext cx="777240" cy="384048"/>
          </a:xfrm>
          <a:prstGeom prst="roundRect">
            <a:avLst>
              <a:gd name="adj" fmla="val 9524"/>
            </a:avLst>
          </a:prstGeom>
          <a:solidFill>
            <a:srgbClr val="E4ECF3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7" name="Text 45"/>
          <p:cNvSpPr/>
          <p:nvPr/>
        </p:nvSpPr>
        <p:spPr>
          <a:xfrm>
            <a:off x="548640" y="3575304"/>
            <a:ext cx="777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MQ3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1417320" y="3575304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F0F3F7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9" name="Text 47"/>
          <p:cNvSpPr/>
          <p:nvPr/>
        </p:nvSpPr>
        <p:spPr>
          <a:xfrm>
            <a:off x="1417320" y="3575304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715768" y="3575304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F0F3F7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51" name="Text 49"/>
          <p:cNvSpPr/>
          <p:nvPr/>
        </p:nvSpPr>
        <p:spPr>
          <a:xfrm>
            <a:off x="2715768" y="3575304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014216" y="3575304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F0F3F7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53" name="Text 51"/>
          <p:cNvSpPr/>
          <p:nvPr/>
        </p:nvSpPr>
        <p:spPr>
          <a:xfrm>
            <a:off x="4014216" y="3575304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312664" y="3575304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F0F3F7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55" name="Text 53"/>
          <p:cNvSpPr/>
          <p:nvPr/>
        </p:nvSpPr>
        <p:spPr>
          <a:xfrm>
            <a:off x="5312664" y="3575304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6611112" y="3575304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3E6C8E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57" name="Text 55"/>
          <p:cNvSpPr/>
          <p:nvPr/>
        </p:nvSpPr>
        <p:spPr>
          <a:xfrm>
            <a:off x="6611112" y="3575304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7909560" y="3575304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CFE0EC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59" name="Text 57"/>
          <p:cNvSpPr/>
          <p:nvPr/>
        </p:nvSpPr>
        <p:spPr>
          <a:xfrm>
            <a:off x="7909560" y="3575304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9208008" y="3575304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CFE0EC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61" name="Text 59"/>
          <p:cNvSpPr/>
          <p:nvPr/>
        </p:nvSpPr>
        <p:spPr>
          <a:xfrm>
            <a:off x="9208008" y="3575304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548640" y="4014216"/>
            <a:ext cx="777240" cy="384048"/>
          </a:xfrm>
          <a:prstGeom prst="roundRect">
            <a:avLst>
              <a:gd name="adj" fmla="val 9524"/>
            </a:avLst>
          </a:prstGeom>
          <a:solidFill>
            <a:srgbClr val="E4ECF3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63" name="Text 61"/>
          <p:cNvSpPr/>
          <p:nvPr/>
        </p:nvSpPr>
        <p:spPr>
          <a:xfrm>
            <a:off x="548640" y="4014216"/>
            <a:ext cx="777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MQ5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1417320" y="4014216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3E6C8E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65" name="Text 63"/>
          <p:cNvSpPr/>
          <p:nvPr/>
        </p:nvSpPr>
        <p:spPr>
          <a:xfrm>
            <a:off x="1417320" y="4014216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2715768" y="4014216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7FA6C4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67" name="Text 65"/>
          <p:cNvSpPr/>
          <p:nvPr/>
        </p:nvSpPr>
        <p:spPr>
          <a:xfrm>
            <a:off x="2715768" y="4014216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4014216" y="4014216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CFE0EC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69" name="Text 67"/>
          <p:cNvSpPr/>
          <p:nvPr/>
        </p:nvSpPr>
        <p:spPr>
          <a:xfrm>
            <a:off x="4014216" y="4014216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5312664" y="4014216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CFE0EC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71" name="Text 69"/>
          <p:cNvSpPr/>
          <p:nvPr/>
        </p:nvSpPr>
        <p:spPr>
          <a:xfrm>
            <a:off x="5312664" y="4014216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6611112" y="4014216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CFE0EC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73" name="Text 71"/>
          <p:cNvSpPr/>
          <p:nvPr/>
        </p:nvSpPr>
        <p:spPr>
          <a:xfrm>
            <a:off x="6611112" y="4014216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7909560" y="4014216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F0F3F7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75" name="Text 73"/>
          <p:cNvSpPr/>
          <p:nvPr/>
        </p:nvSpPr>
        <p:spPr>
          <a:xfrm>
            <a:off x="7909560" y="4014216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9208008" y="4014216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CFE0EC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77" name="Text 75"/>
          <p:cNvSpPr/>
          <p:nvPr/>
        </p:nvSpPr>
        <p:spPr>
          <a:xfrm>
            <a:off x="9208008" y="4014216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548640" y="4453128"/>
            <a:ext cx="777240" cy="384048"/>
          </a:xfrm>
          <a:prstGeom prst="roundRect">
            <a:avLst>
              <a:gd name="adj" fmla="val 9524"/>
            </a:avLst>
          </a:prstGeom>
          <a:solidFill>
            <a:srgbClr val="E4ECF3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79" name="Text 77"/>
          <p:cNvSpPr/>
          <p:nvPr/>
        </p:nvSpPr>
        <p:spPr>
          <a:xfrm>
            <a:off x="548640" y="4453128"/>
            <a:ext cx="777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MQ4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1417320" y="4453128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7FA6C4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81" name="Text 79"/>
          <p:cNvSpPr/>
          <p:nvPr/>
        </p:nvSpPr>
        <p:spPr>
          <a:xfrm>
            <a:off x="1417320" y="4453128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82" name="Shape 80"/>
          <p:cNvSpPr/>
          <p:nvPr/>
        </p:nvSpPr>
        <p:spPr>
          <a:xfrm>
            <a:off x="2715768" y="4453128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3E6C8E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83" name="Text 81"/>
          <p:cNvSpPr/>
          <p:nvPr/>
        </p:nvSpPr>
        <p:spPr>
          <a:xfrm>
            <a:off x="2715768" y="4453128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84" name="Shape 82"/>
          <p:cNvSpPr/>
          <p:nvPr/>
        </p:nvSpPr>
        <p:spPr>
          <a:xfrm>
            <a:off x="4014216" y="4453128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CFE0EC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85" name="Text 83"/>
          <p:cNvSpPr/>
          <p:nvPr/>
        </p:nvSpPr>
        <p:spPr>
          <a:xfrm>
            <a:off x="4014216" y="4453128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86" name="Shape 84"/>
          <p:cNvSpPr/>
          <p:nvPr/>
        </p:nvSpPr>
        <p:spPr>
          <a:xfrm>
            <a:off x="5312664" y="4453128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CFE0EC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87" name="Text 85"/>
          <p:cNvSpPr/>
          <p:nvPr/>
        </p:nvSpPr>
        <p:spPr>
          <a:xfrm>
            <a:off x="5312664" y="4453128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88" name="Shape 86"/>
          <p:cNvSpPr/>
          <p:nvPr/>
        </p:nvSpPr>
        <p:spPr>
          <a:xfrm>
            <a:off x="6611112" y="4453128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F0F3F7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89" name="Text 87"/>
          <p:cNvSpPr/>
          <p:nvPr/>
        </p:nvSpPr>
        <p:spPr>
          <a:xfrm>
            <a:off x="6611112" y="4453128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50" dirty="0"/>
          </a:p>
        </p:txBody>
      </p:sp>
      <p:sp>
        <p:nvSpPr>
          <p:cNvPr id="90" name="Shape 88"/>
          <p:cNvSpPr/>
          <p:nvPr/>
        </p:nvSpPr>
        <p:spPr>
          <a:xfrm>
            <a:off x="7909560" y="4453128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F0F3F7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91" name="Text 89"/>
          <p:cNvSpPr/>
          <p:nvPr/>
        </p:nvSpPr>
        <p:spPr>
          <a:xfrm>
            <a:off x="7909560" y="4453128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50" dirty="0"/>
          </a:p>
        </p:txBody>
      </p:sp>
      <p:sp>
        <p:nvSpPr>
          <p:cNvPr id="92" name="Shape 90"/>
          <p:cNvSpPr/>
          <p:nvPr/>
        </p:nvSpPr>
        <p:spPr>
          <a:xfrm>
            <a:off x="9208008" y="4453128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CFE0EC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93" name="Text 91"/>
          <p:cNvSpPr/>
          <p:nvPr/>
        </p:nvSpPr>
        <p:spPr>
          <a:xfrm>
            <a:off x="9208008" y="4453128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94" name="Shape 92"/>
          <p:cNvSpPr/>
          <p:nvPr/>
        </p:nvSpPr>
        <p:spPr>
          <a:xfrm>
            <a:off x="548640" y="4892040"/>
            <a:ext cx="777240" cy="384048"/>
          </a:xfrm>
          <a:prstGeom prst="roundRect">
            <a:avLst>
              <a:gd name="adj" fmla="val 9524"/>
            </a:avLst>
          </a:prstGeom>
          <a:solidFill>
            <a:srgbClr val="E4ECF3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95" name="Text 93"/>
          <p:cNvSpPr/>
          <p:nvPr/>
        </p:nvSpPr>
        <p:spPr>
          <a:xfrm>
            <a:off x="548640" y="4892040"/>
            <a:ext cx="777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MQ7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1417320" y="4892040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CFE0EC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97" name="Text 95"/>
          <p:cNvSpPr/>
          <p:nvPr/>
        </p:nvSpPr>
        <p:spPr>
          <a:xfrm>
            <a:off x="1417320" y="4892040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98" name="Shape 96"/>
          <p:cNvSpPr/>
          <p:nvPr/>
        </p:nvSpPr>
        <p:spPr>
          <a:xfrm>
            <a:off x="2715768" y="4892040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CFE0EC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99" name="Text 97"/>
          <p:cNvSpPr/>
          <p:nvPr/>
        </p:nvSpPr>
        <p:spPr>
          <a:xfrm>
            <a:off x="2715768" y="4892040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00" name="Shape 98"/>
          <p:cNvSpPr/>
          <p:nvPr/>
        </p:nvSpPr>
        <p:spPr>
          <a:xfrm>
            <a:off x="4014216" y="4892040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3E6C8E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01" name="Text 99"/>
          <p:cNvSpPr/>
          <p:nvPr/>
        </p:nvSpPr>
        <p:spPr>
          <a:xfrm>
            <a:off x="4014216" y="4892040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02" name="Shape 100"/>
          <p:cNvSpPr/>
          <p:nvPr/>
        </p:nvSpPr>
        <p:spPr>
          <a:xfrm>
            <a:off x="5312664" y="4892040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CFE0EC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03" name="Text 101"/>
          <p:cNvSpPr/>
          <p:nvPr/>
        </p:nvSpPr>
        <p:spPr>
          <a:xfrm>
            <a:off x="5312664" y="4892040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04" name="Shape 102"/>
          <p:cNvSpPr/>
          <p:nvPr/>
        </p:nvSpPr>
        <p:spPr>
          <a:xfrm>
            <a:off x="6611112" y="4892040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F0F3F7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05" name="Text 103"/>
          <p:cNvSpPr/>
          <p:nvPr/>
        </p:nvSpPr>
        <p:spPr>
          <a:xfrm>
            <a:off x="6611112" y="4892040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50" dirty="0"/>
          </a:p>
        </p:txBody>
      </p:sp>
      <p:sp>
        <p:nvSpPr>
          <p:cNvPr id="106" name="Shape 104"/>
          <p:cNvSpPr/>
          <p:nvPr/>
        </p:nvSpPr>
        <p:spPr>
          <a:xfrm>
            <a:off x="7909560" y="4892040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F0F3F7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07" name="Text 105"/>
          <p:cNvSpPr/>
          <p:nvPr/>
        </p:nvSpPr>
        <p:spPr>
          <a:xfrm>
            <a:off x="7909560" y="4892040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9208008" y="4892040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CFE0EC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09" name="Text 107"/>
          <p:cNvSpPr/>
          <p:nvPr/>
        </p:nvSpPr>
        <p:spPr>
          <a:xfrm>
            <a:off x="9208008" y="4892040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548640" y="5330952"/>
            <a:ext cx="777240" cy="384048"/>
          </a:xfrm>
          <a:prstGeom prst="roundRect">
            <a:avLst>
              <a:gd name="adj" fmla="val 9524"/>
            </a:avLst>
          </a:prstGeom>
          <a:solidFill>
            <a:srgbClr val="E4ECF3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11" name="Text 109"/>
          <p:cNvSpPr/>
          <p:nvPr/>
        </p:nvSpPr>
        <p:spPr>
          <a:xfrm>
            <a:off x="548640" y="5330952"/>
            <a:ext cx="777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MQ6</a:t>
            </a:r>
            <a:endParaRPr lang="en-US" sz="1050" dirty="0"/>
          </a:p>
        </p:txBody>
      </p:sp>
      <p:sp>
        <p:nvSpPr>
          <p:cNvPr id="112" name="Shape 110"/>
          <p:cNvSpPr/>
          <p:nvPr/>
        </p:nvSpPr>
        <p:spPr>
          <a:xfrm>
            <a:off x="1417320" y="5330952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3E6C8E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13" name="Text 111"/>
          <p:cNvSpPr/>
          <p:nvPr/>
        </p:nvSpPr>
        <p:spPr>
          <a:xfrm>
            <a:off x="1417320" y="5330952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2715768" y="5330952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CFE0EC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15" name="Text 113"/>
          <p:cNvSpPr/>
          <p:nvPr/>
        </p:nvSpPr>
        <p:spPr>
          <a:xfrm>
            <a:off x="2715768" y="5330952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16" name="Shape 114"/>
          <p:cNvSpPr/>
          <p:nvPr/>
        </p:nvSpPr>
        <p:spPr>
          <a:xfrm>
            <a:off x="4014216" y="5330952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F0F3F7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17" name="Text 115"/>
          <p:cNvSpPr/>
          <p:nvPr/>
        </p:nvSpPr>
        <p:spPr>
          <a:xfrm>
            <a:off x="4014216" y="5330952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50" dirty="0"/>
          </a:p>
        </p:txBody>
      </p:sp>
      <p:sp>
        <p:nvSpPr>
          <p:cNvPr id="118" name="Shape 116"/>
          <p:cNvSpPr/>
          <p:nvPr/>
        </p:nvSpPr>
        <p:spPr>
          <a:xfrm>
            <a:off x="5312664" y="5330952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CFE0EC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19" name="Text 117"/>
          <p:cNvSpPr/>
          <p:nvPr/>
        </p:nvSpPr>
        <p:spPr>
          <a:xfrm>
            <a:off x="5312664" y="5330952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20" name="Shape 118"/>
          <p:cNvSpPr/>
          <p:nvPr/>
        </p:nvSpPr>
        <p:spPr>
          <a:xfrm>
            <a:off x="6611112" y="5330952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F0F3F7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21" name="Text 119"/>
          <p:cNvSpPr/>
          <p:nvPr/>
        </p:nvSpPr>
        <p:spPr>
          <a:xfrm>
            <a:off x="6611112" y="5330952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50" dirty="0"/>
          </a:p>
        </p:txBody>
      </p:sp>
      <p:sp>
        <p:nvSpPr>
          <p:cNvPr id="122" name="Shape 120"/>
          <p:cNvSpPr/>
          <p:nvPr/>
        </p:nvSpPr>
        <p:spPr>
          <a:xfrm>
            <a:off x="7909560" y="5330952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F0F3F7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23" name="Text 121"/>
          <p:cNvSpPr/>
          <p:nvPr/>
        </p:nvSpPr>
        <p:spPr>
          <a:xfrm>
            <a:off x="7909560" y="5330952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50" dirty="0"/>
          </a:p>
        </p:txBody>
      </p:sp>
      <p:sp>
        <p:nvSpPr>
          <p:cNvPr id="124" name="Shape 122"/>
          <p:cNvSpPr/>
          <p:nvPr/>
        </p:nvSpPr>
        <p:spPr>
          <a:xfrm>
            <a:off x="9208008" y="5330952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CFE0EC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25" name="Text 123"/>
          <p:cNvSpPr/>
          <p:nvPr/>
        </p:nvSpPr>
        <p:spPr>
          <a:xfrm>
            <a:off x="9208008" y="5330952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548640" y="5769864"/>
            <a:ext cx="777240" cy="384048"/>
          </a:xfrm>
          <a:prstGeom prst="roundRect">
            <a:avLst>
              <a:gd name="adj" fmla="val 9524"/>
            </a:avLst>
          </a:prstGeom>
          <a:solidFill>
            <a:srgbClr val="E4ECF3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27" name="Text 125"/>
          <p:cNvSpPr/>
          <p:nvPr/>
        </p:nvSpPr>
        <p:spPr>
          <a:xfrm>
            <a:off x="548640" y="5769864"/>
            <a:ext cx="777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MQ2</a:t>
            </a:r>
            <a:endParaRPr lang="en-US" sz="1050" dirty="0"/>
          </a:p>
        </p:txBody>
      </p:sp>
      <p:sp>
        <p:nvSpPr>
          <p:cNvPr id="128" name="Shape 126"/>
          <p:cNvSpPr/>
          <p:nvPr/>
        </p:nvSpPr>
        <p:spPr>
          <a:xfrm>
            <a:off x="1417320" y="5769864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3E6C8E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29" name="Text 127"/>
          <p:cNvSpPr/>
          <p:nvPr/>
        </p:nvSpPr>
        <p:spPr>
          <a:xfrm>
            <a:off x="1417320" y="5769864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30" name="Shape 128"/>
          <p:cNvSpPr/>
          <p:nvPr/>
        </p:nvSpPr>
        <p:spPr>
          <a:xfrm>
            <a:off x="2715768" y="5769864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7FA6C4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31" name="Text 129"/>
          <p:cNvSpPr/>
          <p:nvPr/>
        </p:nvSpPr>
        <p:spPr>
          <a:xfrm>
            <a:off x="2715768" y="5769864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32" name="Shape 130"/>
          <p:cNvSpPr/>
          <p:nvPr/>
        </p:nvSpPr>
        <p:spPr>
          <a:xfrm>
            <a:off x="4014216" y="5769864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CFE0EC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33" name="Text 131"/>
          <p:cNvSpPr/>
          <p:nvPr/>
        </p:nvSpPr>
        <p:spPr>
          <a:xfrm>
            <a:off x="4014216" y="5769864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34" name="Shape 132"/>
          <p:cNvSpPr/>
          <p:nvPr/>
        </p:nvSpPr>
        <p:spPr>
          <a:xfrm>
            <a:off x="5312664" y="5769864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7FA6C4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35" name="Text 133"/>
          <p:cNvSpPr/>
          <p:nvPr/>
        </p:nvSpPr>
        <p:spPr>
          <a:xfrm>
            <a:off x="5312664" y="5769864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36" name="Shape 134"/>
          <p:cNvSpPr/>
          <p:nvPr/>
        </p:nvSpPr>
        <p:spPr>
          <a:xfrm>
            <a:off x="6611112" y="5769864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CFE0EC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37" name="Text 135"/>
          <p:cNvSpPr/>
          <p:nvPr/>
        </p:nvSpPr>
        <p:spPr>
          <a:xfrm>
            <a:off x="6611112" y="5769864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38" name="Shape 136"/>
          <p:cNvSpPr/>
          <p:nvPr/>
        </p:nvSpPr>
        <p:spPr>
          <a:xfrm>
            <a:off x="7909560" y="5769864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F0F3F7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39" name="Text 137"/>
          <p:cNvSpPr/>
          <p:nvPr/>
        </p:nvSpPr>
        <p:spPr>
          <a:xfrm>
            <a:off x="7909560" y="5769864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50" dirty="0"/>
          </a:p>
        </p:txBody>
      </p:sp>
      <p:sp>
        <p:nvSpPr>
          <p:cNvPr id="140" name="Shape 138"/>
          <p:cNvSpPr/>
          <p:nvPr/>
        </p:nvSpPr>
        <p:spPr>
          <a:xfrm>
            <a:off x="9208008" y="5769864"/>
            <a:ext cx="1243584" cy="384048"/>
          </a:xfrm>
          <a:prstGeom prst="roundRect">
            <a:avLst>
              <a:gd name="adj" fmla="val 9524"/>
            </a:avLst>
          </a:prstGeom>
          <a:solidFill>
            <a:srgbClr val="3E6C8E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41" name="Text 139"/>
          <p:cNvSpPr/>
          <p:nvPr/>
        </p:nvSpPr>
        <p:spPr>
          <a:xfrm>
            <a:off x="9208008" y="5769864"/>
            <a:ext cx="1243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42" name="Text 140"/>
          <p:cNvSpPr/>
          <p:nvPr/>
        </p:nvSpPr>
        <p:spPr>
          <a:xfrm>
            <a:off x="548640" y="6437376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Semakin gelap warnanya, semakin kuat “bukti” yang diberikan sensor itu ke model saat mengenali suatu gas.</a:t>
            </a:r>
            <a:endParaRPr lang="en-US" sz="1150" dirty="0"/>
          </a:p>
        </p:txBody>
      </p:sp>
      <p:sp>
        <p:nvSpPr>
          <p:cNvPr id="143" name="Text 141"/>
          <p:cNvSpPr/>
          <p:nvPr/>
        </p:nvSpPr>
        <p:spPr>
          <a:xfrm>
            <a:off x="457200" y="654710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IoT ITB  |  Deteksi Kebocoran Gas — CNN Dual-Branch</a:t>
            </a:r>
            <a:endParaRPr lang="en-US" sz="900" dirty="0"/>
          </a:p>
        </p:txBody>
      </p:sp>
      <p:sp>
        <p:nvSpPr>
          <p:cNvPr id="144" name="Text 142"/>
          <p:cNvSpPr/>
          <p:nvPr/>
        </p:nvSpPr>
        <p:spPr>
          <a:xfrm>
            <a:off x="11430000" y="6547104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DALAM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Arsitektur CNN Dual-Branch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E6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Cabang A — Pola Angka Sensor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691640" cy="914400"/>
          </a:xfrm>
          <a:prstGeom prst="roundRect">
            <a:avLst>
              <a:gd name="adj" fmla="val 9000"/>
            </a:avLst>
          </a:prstGeom>
          <a:solidFill>
            <a:srgbClr val="3E6C8E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075688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4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nilai ADC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40280" y="1801368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E6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560320" y="1600200"/>
            <a:ext cx="1691640" cy="914400"/>
          </a:xfrm>
          <a:prstGeom prst="roundRect">
            <a:avLst>
              <a:gd name="adj" fmla="val 9000"/>
            </a:avLst>
          </a:prstGeom>
          <a:solidFill>
            <a:srgbClr val="3E6C8E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0" name="Text 8"/>
          <p:cNvSpPr/>
          <p:nvPr/>
        </p:nvSpPr>
        <p:spPr>
          <a:xfrm>
            <a:off x="2651760" y="16916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Conv1D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651760" y="2075688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4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filter, k=3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251960" y="1801368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E6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572000" y="1600200"/>
            <a:ext cx="1691640" cy="914400"/>
          </a:xfrm>
          <a:prstGeom prst="roundRect">
            <a:avLst>
              <a:gd name="adj" fmla="val 9000"/>
            </a:avLst>
          </a:prstGeom>
          <a:solidFill>
            <a:srgbClr val="3E6C8E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4" name="Text 12"/>
          <p:cNvSpPr/>
          <p:nvPr/>
        </p:nvSpPr>
        <p:spPr>
          <a:xfrm>
            <a:off x="4663440" y="16916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MaxPooling1D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63440" y="2075688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4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ringkas pola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263640" y="1801368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E6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583680" y="1600200"/>
            <a:ext cx="1691640" cy="914400"/>
          </a:xfrm>
          <a:prstGeom prst="roundRect">
            <a:avLst>
              <a:gd name="adj" fmla="val 9000"/>
            </a:avLst>
          </a:prstGeom>
          <a:solidFill>
            <a:srgbClr val="3E6C8E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8" name="Text 16"/>
          <p:cNvSpPr/>
          <p:nvPr/>
        </p:nvSpPr>
        <p:spPr>
          <a:xfrm>
            <a:off x="6675120" y="16916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Flatten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675120" y="2075688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4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jadi 1 baris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48640" y="2588583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Cabang B — Pengetahuan Datasheet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2908623"/>
            <a:ext cx="1691640" cy="914400"/>
          </a:xfrm>
          <a:prstGeom prst="roundRect">
            <a:avLst>
              <a:gd name="adj" fmla="val 9000"/>
            </a:avLst>
          </a:prstGeom>
          <a:solidFill>
            <a:srgbClr val="E8590C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22" name="Text 20"/>
          <p:cNvSpPr/>
          <p:nvPr/>
        </p:nvSpPr>
        <p:spPr>
          <a:xfrm>
            <a:off x="640080" y="3000063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3384111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4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fitur bukti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240280" y="3109791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E6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2560320" y="2908623"/>
            <a:ext cx="1691640" cy="914400"/>
          </a:xfrm>
          <a:prstGeom prst="roundRect">
            <a:avLst>
              <a:gd name="adj" fmla="val 9000"/>
            </a:avLst>
          </a:prstGeom>
          <a:solidFill>
            <a:srgbClr val="E8590C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26" name="Text 24"/>
          <p:cNvSpPr/>
          <p:nvPr/>
        </p:nvSpPr>
        <p:spPr>
          <a:xfrm>
            <a:off x="2651760" y="3000063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Dense (8)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651760" y="3384111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4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189720" y="2910286"/>
            <a:ext cx="2606040" cy="914400"/>
          </a:xfrm>
          <a:prstGeom prst="roundRect">
            <a:avLst>
              <a:gd name="adj" fmla="val 9000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0" name="Text 28"/>
          <p:cNvSpPr/>
          <p:nvPr/>
        </p:nvSpPr>
        <p:spPr>
          <a:xfrm>
            <a:off x="9098280" y="2798064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Concatenate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098280" y="3163824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gabungkan dua sudut pandang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8640" y="3840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Pengambilan Keputusan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48640" y="4160520"/>
            <a:ext cx="3291840" cy="914400"/>
          </a:xfrm>
          <a:prstGeom prst="roundRect">
            <a:avLst>
              <a:gd name="adj" fmla="val 9000"/>
            </a:avLst>
          </a:prstGeom>
          <a:solidFill>
            <a:srgbClr val="3E6C8E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4" name="Text 32"/>
          <p:cNvSpPr/>
          <p:nvPr/>
        </p:nvSpPr>
        <p:spPr>
          <a:xfrm>
            <a:off x="640080" y="42519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Dense (16, relu)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40080" y="4636008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4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meracik gabungan fitur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840480" y="4361688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E6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4297680" y="4160520"/>
            <a:ext cx="3291840" cy="914400"/>
          </a:xfrm>
          <a:prstGeom prst="roundRect">
            <a:avLst>
              <a:gd name="adj" fmla="val 9000"/>
            </a:avLst>
          </a:prstGeom>
          <a:solidFill>
            <a:srgbClr val="E8590C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8" name="Text 36"/>
          <p:cNvSpPr/>
          <p:nvPr/>
        </p:nvSpPr>
        <p:spPr>
          <a:xfrm>
            <a:off x="4389120" y="42519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Dense (3, softmax)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4389120" y="4636008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4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peluang tiap kelas gas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589520" y="4361688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E6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1" name="Shape 39"/>
          <p:cNvSpPr/>
          <p:nvPr/>
        </p:nvSpPr>
        <p:spPr>
          <a:xfrm>
            <a:off x="8046720" y="4160520"/>
            <a:ext cx="2103120" cy="914400"/>
          </a:xfrm>
          <a:prstGeom prst="roundRect">
            <a:avLst>
              <a:gd name="adj" fmla="val 9000"/>
            </a:avLst>
          </a:prstGeom>
          <a:solidFill>
            <a:srgbClr val="1E8E5A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2" name="Text 40"/>
          <p:cNvSpPr/>
          <p:nvPr/>
        </p:nvSpPr>
        <p:spPr>
          <a:xfrm>
            <a:off x="8138160" y="42519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Hasil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8138160" y="463600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E4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CO₂ / Bersih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48640" y="5349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hanya 1.347 parameter (≈ 5,26 KB) — cukup kecil untuk berjalan langsung di ESP32-S3.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457200" y="654710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IoT ITB  |  Deteksi Kebocoran Gas — CNN Dual-Branch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1430000" y="6547104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208D6784-5D2F-DED3-DC2F-33436172765A}"/>
              </a:ext>
            </a:extLst>
          </p:cNvPr>
          <p:cNvCxnSpPr>
            <a:stCxn id="17" idx="3"/>
            <a:endCxn id="29" idx="1"/>
          </p:cNvCxnSpPr>
          <p:nvPr/>
        </p:nvCxnSpPr>
        <p:spPr>
          <a:xfrm>
            <a:off x="8275320" y="2057400"/>
            <a:ext cx="914400" cy="1310086"/>
          </a:xfrm>
          <a:prstGeom prst="bentConnector3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3C31850-E9CC-75ED-1732-FCF60B3C03BC}"/>
              </a:ext>
            </a:extLst>
          </p:cNvPr>
          <p:cNvCxnSpPr>
            <a:stCxn id="25" idx="3"/>
            <a:endCxn id="29" idx="1"/>
          </p:cNvCxnSpPr>
          <p:nvPr/>
        </p:nvCxnSpPr>
        <p:spPr>
          <a:xfrm>
            <a:off x="4251960" y="3365823"/>
            <a:ext cx="4937760" cy="1663"/>
          </a:xfrm>
          <a:prstGeom prst="bentConnector3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PROSES BELAJAR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Berlatih dari 1.496 Contoh Data</a:t>
            </a:r>
            <a:endParaRPr lang="en-US" sz="2800" dirty="0"/>
          </a:p>
        </p:txBody>
      </p:sp>
      <p:pic>
        <p:nvPicPr>
          <p:cNvPr id="4" name="Image 0" descr="/home/claude/pptx_proj/icons/training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766560" cy="24597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4206240"/>
            <a:ext cx="6766560" cy="384048"/>
          </a:xfrm>
          <a:prstGeom prst="roundRect">
            <a:avLst>
              <a:gd name="adj" fmla="val 14286"/>
            </a:avLst>
          </a:prstGeom>
          <a:solidFill>
            <a:srgbClr val="E4ECF3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6" name="Text 3"/>
          <p:cNvSpPr/>
          <p:nvPr/>
        </p:nvSpPr>
        <p:spPr>
          <a:xfrm>
            <a:off x="685800" y="4206240"/>
            <a:ext cx="6492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Grafik loss latih (biru) dan loss validasi (oranye) sama-sama menurun dan stabil — tanda model belajar dengan baik, bukan sekadar menghafal.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7589520" y="160020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Pengaturan Pelatihan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589520" y="21031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D"/>
          </a:p>
        </p:txBody>
      </p:sp>
      <p:pic>
        <p:nvPicPr>
          <p:cNvPr id="9" name="Image 1" descr="/home/claude/pptx_proj/icons/activity_3E6C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2390" y="2205990"/>
            <a:ext cx="251460" cy="2514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0" y="2084832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Maksimum 200 epoch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8229600" y="2359152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dengan early stopping (sabar 15 epoch tanpa perbaikan)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7589520" y="303580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D"/>
          </a:p>
        </p:txBody>
      </p:sp>
      <p:pic>
        <p:nvPicPr>
          <p:cNvPr id="13" name="Image 2" descr="/home/claude/pptx_proj/icons/activity_3E6C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2390" y="3138678"/>
            <a:ext cx="251460" cy="2514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229600" y="301752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Ukuran batch 32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8229600" y="329184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diproses 32 contoh setiap langkah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7589520" y="3968496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D"/>
          </a:p>
        </p:txBody>
      </p:sp>
      <p:pic>
        <p:nvPicPr>
          <p:cNvPr id="17" name="Image 3" descr="/home/claude/pptx_proj/icons/activity_3E6C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2390" y="4071366"/>
            <a:ext cx="251460" cy="2514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229600" y="3950208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 data untuk validasi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8229600" y="4224528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memantau model saat berlatih, cegah overfitting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7589520" y="4901184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D"/>
          </a:p>
        </p:txBody>
      </p:sp>
      <p:pic>
        <p:nvPicPr>
          <p:cNvPr id="21" name="Image 4" descr="/home/claude/pptx_proj/icons/activity_3E6C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2390" y="5004054"/>
            <a:ext cx="251460" cy="25146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8229600" y="4882896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dibagi merata</a:t>
            </a:r>
            <a:endParaRPr lang="en-US" sz="1250" dirty="0"/>
          </a:p>
        </p:txBody>
      </p:sp>
      <p:sp>
        <p:nvSpPr>
          <p:cNvPr id="23" name="Text 16"/>
          <p:cNvSpPr/>
          <p:nvPr/>
        </p:nvSpPr>
        <p:spPr>
          <a:xfrm>
            <a:off x="8229600" y="5157216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latih / 20% uji, seimbang di tiap kelas gas</a:t>
            </a:r>
            <a:endParaRPr lang="en-US" sz="1050" dirty="0"/>
          </a:p>
        </p:txBody>
      </p:sp>
      <p:sp>
        <p:nvSpPr>
          <p:cNvPr id="24" name="Text 17"/>
          <p:cNvSpPr/>
          <p:nvPr/>
        </p:nvSpPr>
        <p:spPr>
          <a:xfrm>
            <a:off x="457200" y="654710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IoT ITB  |  Deteksi Kebocoran Gas — CNN Dual-Branch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11430000" y="6547104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UJI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Akurasi Sangat Tinggi pada Data Uji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Diuji pada 374 data yang belum pernah dilihat model sebelumnya.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331720" cy="1371600"/>
          </a:xfrm>
          <a:prstGeom prst="roundRect">
            <a:avLst>
              <a:gd name="adj" fmla="val 6667"/>
            </a:avLst>
          </a:prstGeom>
          <a:solidFill>
            <a:srgbClr val="3E6C8E">
              <a:alpha val="55000"/>
            </a:srgbClr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6" name="Text 4"/>
          <p:cNvSpPr/>
          <p:nvPr/>
        </p:nvSpPr>
        <p:spPr>
          <a:xfrm>
            <a:off x="548640" y="2057400"/>
            <a:ext cx="2331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859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99,73%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85800" y="2743200"/>
            <a:ext cx="2057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Akurasi keseluruhan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063240" y="1965960"/>
            <a:ext cx="2331720" cy="1371600"/>
          </a:xfrm>
          <a:prstGeom prst="roundRect">
            <a:avLst>
              <a:gd name="adj" fmla="val 6667"/>
            </a:avLst>
          </a:prstGeom>
          <a:solidFill>
            <a:srgbClr val="3E6C8E">
              <a:alpha val="55000"/>
            </a:srgbClr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3063240" y="2057400"/>
            <a:ext cx="2331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859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99,56%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200400" y="2743200"/>
            <a:ext cx="2057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 rata-rata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577840" y="1965960"/>
            <a:ext cx="2331720" cy="1371600"/>
          </a:xfrm>
          <a:prstGeom prst="roundRect">
            <a:avLst>
              <a:gd name="adj" fmla="val 6667"/>
            </a:avLst>
          </a:prstGeom>
          <a:solidFill>
            <a:srgbClr val="3E6C8E">
              <a:alpha val="55000"/>
            </a:srgbClr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2" name="Text 10"/>
          <p:cNvSpPr/>
          <p:nvPr/>
        </p:nvSpPr>
        <p:spPr>
          <a:xfrm>
            <a:off x="5577840" y="2057400"/>
            <a:ext cx="2331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859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374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715000" y="2743200"/>
            <a:ext cx="2057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uji independen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48640" y="3611880"/>
            <a:ext cx="7452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CB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bahkan hampir tidak pernah salah membedakan LPG, CO₂, dan udara bersih.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343400"/>
            <a:ext cx="7452360" cy="457200"/>
          </a:xfrm>
          <a:prstGeom prst="roundRect">
            <a:avLst>
              <a:gd name="adj" fmla="val 12000"/>
            </a:avLst>
          </a:prstGeom>
          <a:solidFill>
            <a:srgbClr val="3E6C8E">
              <a:alpha val="35000"/>
            </a:srgbClr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6" name="Text 14"/>
          <p:cNvSpPr/>
          <p:nvPr/>
        </p:nvSpPr>
        <p:spPr>
          <a:xfrm>
            <a:off x="731520" y="43434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108960" y="43434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B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presisi 100%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486400" y="43434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CB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220 data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910328"/>
            <a:ext cx="7452360" cy="457200"/>
          </a:xfrm>
          <a:prstGeom prst="roundRect">
            <a:avLst>
              <a:gd name="adj" fmla="val 12000"/>
            </a:avLst>
          </a:prstGeom>
          <a:solidFill>
            <a:srgbClr val="3E6C8E">
              <a:alpha val="35000"/>
            </a:srgbClr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20" name="Text 18"/>
          <p:cNvSpPr/>
          <p:nvPr/>
        </p:nvSpPr>
        <p:spPr>
          <a:xfrm>
            <a:off x="731520" y="491032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108960" y="491032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B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presisi 100%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86400" y="491032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CB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 data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5477256"/>
            <a:ext cx="7452360" cy="457200"/>
          </a:xfrm>
          <a:prstGeom prst="roundRect">
            <a:avLst>
              <a:gd name="adj" fmla="val 12000"/>
            </a:avLst>
          </a:prstGeom>
          <a:solidFill>
            <a:srgbClr val="3E6C8E">
              <a:alpha val="35000"/>
            </a:srgbClr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24" name="Text 22"/>
          <p:cNvSpPr/>
          <p:nvPr/>
        </p:nvSpPr>
        <p:spPr>
          <a:xfrm>
            <a:off x="731520" y="5477256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Udara Bersih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108960" y="5477256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B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presisi 98%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486400" y="5477256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CB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data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275320" y="1965960"/>
            <a:ext cx="3337560" cy="443484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ID"/>
          </a:p>
        </p:txBody>
      </p:sp>
      <p:pic>
        <p:nvPicPr>
          <p:cNvPr id="28" name="Image 0" descr="/home/claude/pptx_proj/icons/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2103120"/>
            <a:ext cx="3063240" cy="2743200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8412480" y="4937760"/>
            <a:ext cx="3063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Confusion Matrix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412480" y="525780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Baris = kondisi asli, kolom = tebakan model. Semakin terang diagonalnya, semakin akurat modelnya.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457200" y="654710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9B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IoT ITB  |  Deteksi Kebocoran Gas — CNN Dual-Branch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1430000" y="6547104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B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LAPANGAN TERBARU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772252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Akurasi Sempurna di Uji Real-Time Lapangan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743200" y="1600200"/>
            <a:ext cx="76144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Diuji langsung di board ESP32-S3 (device 1001), nonstop ±11,7 menit, dibandingkan dengan gas sebenarnya.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0" y="2194560"/>
            <a:ext cx="2331720" cy="1371600"/>
          </a:xfrm>
          <a:prstGeom prst="roundRect">
            <a:avLst>
              <a:gd name="adj" fmla="val 6667"/>
            </a:avLst>
          </a:prstGeom>
          <a:solidFill>
            <a:srgbClr val="3E6C8E">
              <a:alpha val="55000"/>
            </a:srgbClr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6" name="Text 4"/>
          <p:cNvSpPr/>
          <p:nvPr/>
        </p:nvSpPr>
        <p:spPr>
          <a:xfrm>
            <a:off x="2743200" y="2286000"/>
            <a:ext cx="2331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97,65%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2880360" y="2971800"/>
            <a:ext cx="2057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Akurasi real-time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257800" y="2194560"/>
            <a:ext cx="2331720" cy="1371600"/>
          </a:xfrm>
          <a:prstGeom prst="roundRect">
            <a:avLst>
              <a:gd name="adj" fmla="val 6667"/>
            </a:avLst>
          </a:prstGeom>
          <a:solidFill>
            <a:srgbClr val="3E6C8E">
              <a:alpha val="55000"/>
            </a:srgbClr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5257800" y="2286000"/>
            <a:ext cx="2331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1.176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5394960" y="2971800"/>
            <a:ext cx="2057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Pembacaan sensor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72400" y="2194560"/>
            <a:ext cx="2331720" cy="1371600"/>
          </a:xfrm>
          <a:prstGeom prst="roundRect">
            <a:avLst>
              <a:gd name="adj" fmla="val 6667"/>
            </a:avLst>
          </a:prstGeom>
          <a:solidFill>
            <a:srgbClr val="3E6C8E">
              <a:alpha val="55000"/>
            </a:srgbClr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2" name="Text 10"/>
          <p:cNvSpPr/>
          <p:nvPr/>
        </p:nvSpPr>
        <p:spPr>
          <a:xfrm>
            <a:off x="7772400" y="2286000"/>
            <a:ext cx="2331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11,7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7909560" y="2971800"/>
            <a:ext cx="2057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Menit nonstop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43200" y="4233672"/>
            <a:ext cx="7452360" cy="457200"/>
          </a:xfrm>
          <a:prstGeom prst="roundRect">
            <a:avLst>
              <a:gd name="adj" fmla="val 12000"/>
            </a:avLst>
          </a:prstGeom>
          <a:solidFill>
            <a:srgbClr val="3E6C8E">
              <a:alpha val="35000"/>
            </a:srgbClr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6" name="Text 14"/>
          <p:cNvSpPr/>
          <p:nvPr/>
        </p:nvSpPr>
        <p:spPr>
          <a:xfrm>
            <a:off x="2926080" y="423367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303520" y="4233672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 err="1">
                <a:solidFill>
                  <a:srgbClr val="CB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presisi</a:t>
            </a:r>
            <a:r>
              <a:rPr lang="en-US" sz="1150" dirty="0">
                <a:solidFill>
                  <a:srgbClr val="CB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98,4%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680960" y="4233672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CB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676 data </a:t>
            </a:r>
            <a:r>
              <a:rPr lang="en-US" sz="1150" dirty="0" err="1">
                <a:solidFill>
                  <a:srgbClr val="CB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benar</a:t>
            </a:r>
            <a:r>
              <a:rPr lang="en-US" sz="1150" dirty="0">
                <a:solidFill>
                  <a:srgbClr val="CB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CB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</a:t>
            </a:r>
            <a:r>
              <a:rPr lang="en-US" sz="1150" dirty="0">
                <a:solidFill>
                  <a:srgbClr val="CB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687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743200" y="4800600"/>
            <a:ext cx="7452360" cy="457200"/>
          </a:xfrm>
          <a:prstGeom prst="roundRect">
            <a:avLst>
              <a:gd name="adj" fmla="val 12000"/>
            </a:avLst>
          </a:prstGeom>
          <a:solidFill>
            <a:srgbClr val="3E6C8E">
              <a:alpha val="35000"/>
            </a:srgbClr>
          </a:solidFill>
          <a:ln/>
        </p:spPr>
        <p:txBody>
          <a:bodyPr/>
          <a:lstStyle/>
          <a:p>
            <a:endParaRPr lang="en-ID" dirty="0"/>
          </a:p>
        </p:txBody>
      </p:sp>
      <p:sp>
        <p:nvSpPr>
          <p:cNvPr id="20" name="Text 18"/>
          <p:cNvSpPr/>
          <p:nvPr/>
        </p:nvSpPr>
        <p:spPr>
          <a:xfrm>
            <a:off x="2926080" y="48006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Udara Bersih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303520" y="4800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 err="1">
                <a:solidFill>
                  <a:srgbClr val="CB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presisi</a:t>
            </a:r>
            <a:r>
              <a:rPr lang="en-US" sz="1150" dirty="0">
                <a:solidFill>
                  <a:srgbClr val="CB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96,9%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680960" y="4800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CB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474 data </a:t>
            </a:r>
            <a:r>
              <a:rPr lang="en-US" sz="1150" dirty="0" err="1">
                <a:solidFill>
                  <a:srgbClr val="CB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benar</a:t>
            </a:r>
            <a:r>
              <a:rPr lang="en-US" sz="1150" dirty="0">
                <a:solidFill>
                  <a:srgbClr val="CB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CB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</a:t>
            </a:r>
            <a:r>
              <a:rPr lang="en-US" sz="1150" dirty="0">
                <a:solidFill>
                  <a:srgbClr val="CB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489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457200" y="654710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9B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IoT ITB  |  Deteksi Kebocoran Gas — CNN Dual-Branch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1430000" y="6547104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B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SIAP UNTUK CHIP KECIL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Dipangkas 84% Tanpa Kehilangan Akurasi Berarti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asli diringkas bertahap agar muat di memori ESP32-S3 yang sangat terbatas, lewat proses bernama kuantisasi.</a:t>
            </a:r>
            <a:endParaRPr lang="en-US" sz="125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2057400"/>
          <a:ext cx="594360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6858000" y="20574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Akurasi Tetap Terjaga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0" y="2514600"/>
            <a:ext cx="47548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4ECF3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8" name="Text 5"/>
          <p:cNvSpPr/>
          <p:nvPr/>
        </p:nvSpPr>
        <p:spPr>
          <a:xfrm>
            <a:off x="7040880" y="251460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Keras (asli)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869680" y="2514600"/>
            <a:ext cx="1188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57,95 KB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0058400" y="2514600"/>
            <a:ext cx="1417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3E6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99,73%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858000" y="3447288"/>
            <a:ext cx="47548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4ECF3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2" name="Text 9"/>
          <p:cNvSpPr/>
          <p:nvPr/>
        </p:nvSpPr>
        <p:spPr>
          <a:xfrm>
            <a:off x="7040880" y="3447288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TFLite float32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869680" y="3447288"/>
            <a:ext cx="1188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11,29 KB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0058400" y="3447288"/>
            <a:ext cx="1417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3E6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99,73%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858000" y="4379976"/>
            <a:ext cx="4754880" cy="777240"/>
          </a:xfrm>
          <a:prstGeom prst="roundRect">
            <a:avLst>
              <a:gd name="adj" fmla="val 9412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6" name="Text 13"/>
          <p:cNvSpPr/>
          <p:nvPr/>
        </p:nvSpPr>
        <p:spPr>
          <a:xfrm>
            <a:off x="7040880" y="4379976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TFLite INT8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869680" y="4379976"/>
            <a:ext cx="1188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9,14 KB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0058400" y="4379976"/>
            <a:ext cx="1417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859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99,20%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858000" y="544068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Selisih akurasi dari versi asli ke versi paling hemat hanya 0,53 poin persen — harga yang sangat kecil untuk ukuran 6× lebih ringkas.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57200" y="654710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IoT ITB  |  Deteksi Kebocoran Gas — CNN Dual-Branch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430000" y="6547104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MENUJU FIRMWARE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Dari Model ke Kode C yang Ditanam di Chip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yang sudah dipangkas diubah menjadi berkas .h (header C) berisi angka-angka model, siap dikompilasi bersama program ESP32-S3.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60604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4ECF3"/>
            </a:solidFill>
            <a:prstDash val="solid"/>
          </a:ln>
          <a:effectLst>
            <a:outerShdw blurRad="76200" dist="25400" dir="5400000" algn="bl" rotWithShape="0">
              <a:srgbClr val="1B2A4A">
                <a:alpha val="12000"/>
              </a:srgbClr>
            </a:outerShdw>
          </a:effectLst>
        </p:spPr>
        <p:txBody>
          <a:bodyPr/>
          <a:lstStyle/>
          <a:p>
            <a:endParaRPr lang="en-ID"/>
          </a:p>
        </p:txBody>
      </p:sp>
      <p:sp>
        <p:nvSpPr>
          <p:cNvPr id="6" name="Shape 4"/>
          <p:cNvSpPr/>
          <p:nvPr/>
        </p:nvSpPr>
        <p:spPr>
          <a:xfrm>
            <a:off x="1485900" y="2606040"/>
            <a:ext cx="731520" cy="731520"/>
          </a:xfrm>
          <a:prstGeom prst="ellipse">
            <a:avLst/>
          </a:prstGeom>
          <a:solidFill>
            <a:srgbClr val="3E6C8E"/>
          </a:solidFill>
          <a:ln/>
        </p:spPr>
        <p:txBody>
          <a:bodyPr/>
          <a:lstStyle/>
          <a:p>
            <a:endParaRPr lang="en-ID"/>
          </a:p>
        </p:txBody>
      </p:sp>
      <p:pic>
        <p:nvPicPr>
          <p:cNvPr id="7" name="Image 0" descr="/home/claude/pptx_proj/icons/tan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0492" y="27706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35204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TFLite INT8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85800" y="41605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9,14 KB, hasil pemangkasan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154680" y="324612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E6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383280" y="2331720"/>
            <a:ext cx="260604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4ECF3"/>
            </a:solidFill>
            <a:prstDash val="solid"/>
          </a:ln>
          <a:effectLst>
            <a:outerShdw blurRad="76200" dist="25400" dir="5400000" algn="bl" rotWithShape="0">
              <a:srgbClr val="1B2A4A">
                <a:alpha val="12000"/>
              </a:srgbClr>
            </a:outerShdw>
          </a:effectLst>
        </p:spPr>
        <p:txBody>
          <a:bodyPr/>
          <a:lstStyle/>
          <a:p>
            <a:endParaRPr lang="en-ID"/>
          </a:p>
        </p:txBody>
      </p:sp>
      <p:sp>
        <p:nvSpPr>
          <p:cNvPr id="12" name="Shape 9"/>
          <p:cNvSpPr/>
          <p:nvPr/>
        </p:nvSpPr>
        <p:spPr>
          <a:xfrm>
            <a:off x="4320540" y="2606040"/>
            <a:ext cx="731520" cy="731520"/>
          </a:xfrm>
          <a:prstGeom prst="ellipse">
            <a:avLst/>
          </a:prstGeom>
          <a:solidFill>
            <a:srgbClr val="3E6C8E"/>
          </a:solidFill>
          <a:ln/>
        </p:spPr>
        <p:txBody>
          <a:bodyPr/>
          <a:lstStyle/>
          <a:p>
            <a:endParaRPr lang="en-ID"/>
          </a:p>
        </p:txBody>
      </p:sp>
      <p:pic>
        <p:nvPicPr>
          <p:cNvPr id="13" name="Image 1" descr="/home/claude/pptx_proj/icons/cod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5132" y="2770632"/>
            <a:ext cx="402336" cy="40233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20440" y="35204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cnn_gas_datasheet_model_data.h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3520440" y="41605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diubah jadi larik byte C (56,8 KB)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5989320" y="324612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E6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6217920" y="2331720"/>
            <a:ext cx="260604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4ECF3"/>
            </a:solidFill>
            <a:prstDash val="solid"/>
          </a:ln>
          <a:effectLst>
            <a:outerShdw blurRad="76200" dist="25400" dir="5400000" algn="bl" rotWithShape="0">
              <a:srgbClr val="1B2A4A">
                <a:alpha val="12000"/>
              </a:srgbClr>
            </a:outerShdw>
          </a:effectLst>
        </p:spPr>
        <p:txBody>
          <a:bodyPr/>
          <a:lstStyle/>
          <a:p>
            <a:endParaRPr lang="en-ID"/>
          </a:p>
        </p:txBody>
      </p:sp>
      <p:sp>
        <p:nvSpPr>
          <p:cNvPr id="18" name="Shape 14"/>
          <p:cNvSpPr/>
          <p:nvPr/>
        </p:nvSpPr>
        <p:spPr>
          <a:xfrm>
            <a:off x="7155180" y="2606040"/>
            <a:ext cx="731520" cy="731520"/>
          </a:xfrm>
          <a:prstGeom prst="ellipse">
            <a:avLst/>
          </a:prstGeom>
          <a:solidFill>
            <a:srgbClr val="3E6C8E"/>
          </a:solidFill>
          <a:ln/>
        </p:spPr>
        <p:txBody>
          <a:bodyPr/>
          <a:lstStyle/>
          <a:p>
            <a:endParaRPr lang="en-ID"/>
          </a:p>
        </p:txBody>
      </p:sp>
      <p:pic>
        <p:nvPicPr>
          <p:cNvPr id="19" name="Image 2" descr="/home/claude/pptx_proj/icons/databas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9772" y="2770632"/>
            <a:ext cx="402336" cy="40233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355080" y="35204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normalize_params.h &amp;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sensitivity_table.h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6355080" y="41605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normalisasi &amp; tabel datasheet ikut disertakan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8823960" y="324612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E6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18"/>
          <p:cNvSpPr/>
          <p:nvPr/>
        </p:nvSpPr>
        <p:spPr>
          <a:xfrm>
            <a:off x="9052560" y="2331720"/>
            <a:ext cx="260604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4ECF3"/>
            </a:solidFill>
            <a:prstDash val="solid"/>
          </a:ln>
          <a:effectLst>
            <a:outerShdw blurRad="76200" dist="25400" dir="5400000" algn="bl" rotWithShape="0">
              <a:srgbClr val="1B2A4A">
                <a:alpha val="12000"/>
              </a:srgbClr>
            </a:outerShdw>
          </a:effectLst>
        </p:spPr>
        <p:txBody>
          <a:bodyPr/>
          <a:lstStyle/>
          <a:p>
            <a:endParaRPr lang="en-ID"/>
          </a:p>
        </p:txBody>
      </p:sp>
      <p:sp>
        <p:nvSpPr>
          <p:cNvPr id="24" name="Shape 19"/>
          <p:cNvSpPr/>
          <p:nvPr/>
        </p:nvSpPr>
        <p:spPr>
          <a:xfrm>
            <a:off x="9989820" y="2606040"/>
            <a:ext cx="731520" cy="731520"/>
          </a:xfrm>
          <a:prstGeom prst="ellipse">
            <a:avLst/>
          </a:prstGeom>
          <a:solidFill>
            <a:srgbClr val="E8590C"/>
          </a:solidFill>
          <a:ln/>
        </p:spPr>
        <p:txBody>
          <a:bodyPr/>
          <a:lstStyle/>
          <a:p>
            <a:endParaRPr lang="en-ID"/>
          </a:p>
        </p:txBody>
      </p:sp>
      <p:pic>
        <p:nvPicPr>
          <p:cNvPr id="25" name="Image 3" descr="/home/claude/pptx_proj/icons/chip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4412" y="2770632"/>
            <a:ext cx="402336" cy="402336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189720" y="35204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Kompilasi ke ESP32-S3</a:t>
            </a:r>
            <a:endParaRPr lang="en-US" sz="1250" dirty="0"/>
          </a:p>
        </p:txBody>
      </p:sp>
      <p:sp>
        <p:nvSpPr>
          <p:cNvPr id="27" name="Text 21"/>
          <p:cNvSpPr/>
          <p:nvPr/>
        </p:nvSpPr>
        <p:spPr>
          <a:xfrm>
            <a:off x="9189720" y="41605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firmware siap dijalankan di alat lapangan</a:t>
            </a:r>
            <a:endParaRPr lang="en-US" sz="950" dirty="0"/>
          </a:p>
        </p:txBody>
      </p:sp>
      <p:sp>
        <p:nvSpPr>
          <p:cNvPr id="28" name="Text 22"/>
          <p:cNvSpPr/>
          <p:nvPr/>
        </p:nvSpPr>
        <p:spPr>
          <a:xfrm>
            <a:off x="548640" y="50749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Karena model punya dua cabang (dan operasi Concatenate), daftar operasi (ops) di firmware sedikit lebih banyak dari model CNN satu-cabang sebelumnya — selalu dicek ulang lewat TFLite Model Analyzer.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457200" y="654710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IoT ITB  |  Deteksi Kebocoran Gas — CNN Dual-Branch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11430000" y="6547104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ALAT NYATA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Cara Kerja Saat Beroperasi di Lapangan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4ECF3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5" name="Shape 3"/>
          <p:cNvSpPr/>
          <p:nvPr/>
        </p:nvSpPr>
        <p:spPr>
          <a:xfrm>
            <a:off x="822960" y="2423160"/>
            <a:ext cx="640080" cy="640080"/>
          </a:xfrm>
          <a:prstGeom prst="ellipse">
            <a:avLst/>
          </a:prstGeom>
          <a:solidFill>
            <a:srgbClr val="E4ECF3"/>
          </a:solidFill>
          <a:ln/>
        </p:spPr>
        <p:txBody>
          <a:bodyPr/>
          <a:lstStyle/>
          <a:p>
            <a:endParaRPr lang="en-ID"/>
          </a:p>
        </p:txBody>
      </p:sp>
      <p:pic>
        <p:nvPicPr>
          <p:cNvPr id="6" name="Image 0" descr="/home/claude/pptx_proj/icons/sensors_1B2A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978" y="2567178"/>
            <a:ext cx="352044" cy="3520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31546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Sensor MQ Membaca Udara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2971800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E6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3474720" y="2148840"/>
            <a:ext cx="2468880" cy="685800"/>
          </a:xfrm>
          <a:prstGeom prst="roundRect">
            <a:avLst>
              <a:gd name="adj" fmla="val 10667"/>
            </a:avLst>
          </a:prstGeom>
          <a:solidFill>
            <a:srgbClr val="3E6C8E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0" name="Text 7"/>
          <p:cNvSpPr/>
          <p:nvPr/>
        </p:nvSpPr>
        <p:spPr>
          <a:xfrm>
            <a:off x="3566160" y="214884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 1: 8 ADC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474720" y="3017520"/>
            <a:ext cx="2468880" cy="685800"/>
          </a:xfrm>
          <a:prstGeom prst="roundRect">
            <a:avLst>
              <a:gd name="adj" fmla="val 10667"/>
            </a:avLst>
          </a:prstGeom>
          <a:solidFill>
            <a:srgbClr val="E8590C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2" name="Text 9"/>
          <p:cNvSpPr/>
          <p:nvPr/>
        </p:nvSpPr>
        <p:spPr>
          <a:xfrm>
            <a:off x="3566160" y="301752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 2: 7 Bukti Datasheet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172200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E6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675120" y="2194560"/>
            <a:ext cx="2194560" cy="1554480"/>
          </a:xfrm>
          <a:prstGeom prst="roundRect">
            <a:avLst>
              <a:gd name="adj" fmla="val 5882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5" name="Shape 12"/>
          <p:cNvSpPr/>
          <p:nvPr/>
        </p:nvSpPr>
        <p:spPr>
          <a:xfrm>
            <a:off x="6903720" y="2423160"/>
            <a:ext cx="640080" cy="640080"/>
          </a:xfrm>
          <a:prstGeom prst="ellipse">
            <a:avLst/>
          </a:prstGeom>
          <a:solidFill>
            <a:srgbClr val="3E6C8E"/>
          </a:solidFill>
          <a:ln/>
        </p:spPr>
        <p:txBody>
          <a:bodyPr/>
          <a:lstStyle/>
          <a:p>
            <a:endParaRPr lang="en-ID"/>
          </a:p>
        </p:txBody>
      </p:sp>
      <p:pic>
        <p:nvPicPr>
          <p:cNvPr id="16" name="Image 1" descr="/home/claude/pptx_proj/icons/brain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7738" y="2567178"/>
            <a:ext cx="352044" cy="35204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812280" y="31546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TFLite Micro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Menganalisis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9006840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E6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9509760" y="2194560"/>
            <a:ext cx="2103120" cy="1554480"/>
          </a:xfrm>
          <a:prstGeom prst="roundRect">
            <a:avLst>
              <a:gd name="adj" fmla="val 5882"/>
            </a:avLst>
          </a:prstGeom>
          <a:solidFill>
            <a:srgbClr val="E8590C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20" name="Shape 16"/>
          <p:cNvSpPr/>
          <p:nvPr/>
        </p:nvSpPr>
        <p:spPr>
          <a:xfrm>
            <a:off x="9738360" y="242316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D"/>
          </a:p>
        </p:txBody>
      </p:sp>
      <p:pic>
        <p:nvPicPr>
          <p:cNvPr id="21" name="Image 2" descr="/home/claude/pptx_proj/icons/alert_E8590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2378" y="2567178"/>
            <a:ext cx="352044" cy="35204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9646920" y="315468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&amp; Peringatan Dini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548640" y="416052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Karena model punya dua input terpisah, firmware mengisi kedua tensor lalu menjalankan interpreter TFLite Micro satu kali per pembacaan — hasilnya langsung berupa peluang tiap kondisi gas, tanpa perlu koneksi internet.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548640" y="50749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3E6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dibuat di tempat (edge AI) — alarm bisa langsung menyala meski jaringan internet sedang mati.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457200" y="654710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IoT ITB  |  Deteksi Kebocoran Gas — CNN Dual-Branch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11430000" y="6547104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KESIMPULAN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Mengapa Pendekatan Ini Bermanfaat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4ECF3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5" name="Shape 3"/>
          <p:cNvSpPr/>
          <p:nvPr/>
        </p:nvSpPr>
        <p:spPr>
          <a:xfrm>
            <a:off x="822960" y="2011680"/>
            <a:ext cx="685800" cy="685800"/>
          </a:xfrm>
          <a:prstGeom prst="ellipse">
            <a:avLst/>
          </a:prstGeom>
          <a:solidFill>
            <a:srgbClr val="3E6C8E"/>
          </a:solidFill>
          <a:ln/>
        </p:spPr>
        <p:txBody>
          <a:bodyPr/>
          <a:lstStyle/>
          <a:p>
            <a:endParaRPr lang="en-ID"/>
          </a:p>
        </p:txBody>
      </p:sp>
      <p:pic>
        <p:nvPicPr>
          <p:cNvPr id="6" name="Image 0" descr="/home/claude/pptx_proj/icons/targe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265" y="2165985"/>
            <a:ext cx="377190" cy="3771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20116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Akurat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737360" y="2423160"/>
            <a:ext cx="3931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99,73% akurasi &amp; 99,56% F1-score pada data uji — hampir tidak pernah salah kelas.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172200" y="1737360"/>
            <a:ext cx="53492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4ECF3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0" name="Shape 7"/>
          <p:cNvSpPr/>
          <p:nvPr/>
        </p:nvSpPr>
        <p:spPr>
          <a:xfrm>
            <a:off x="6446520" y="2011680"/>
            <a:ext cx="685800" cy="685800"/>
          </a:xfrm>
          <a:prstGeom prst="ellipse">
            <a:avLst/>
          </a:prstGeom>
          <a:solidFill>
            <a:srgbClr val="E8590C"/>
          </a:solidFill>
          <a:ln/>
        </p:spPr>
        <p:txBody>
          <a:bodyPr/>
          <a:lstStyle/>
          <a:p>
            <a:endParaRPr lang="en-ID"/>
          </a:p>
        </p:txBody>
      </p:sp>
      <p:pic>
        <p:nvPicPr>
          <p:cNvPr id="11" name="Image 1" descr="/home/claude/pptx_proj/icons/laye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0825" y="2165985"/>
            <a:ext cx="377190" cy="37719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60920" y="20116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Cerdas dari Dua Sisi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7360920" y="2423160"/>
            <a:ext cx="3931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Menggabungkan data sensor mentah dengan pengetahuan datasheet, bukan hanya angka.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3886200"/>
            <a:ext cx="53492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4ECF3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5" name="Shape 11"/>
          <p:cNvSpPr/>
          <p:nvPr/>
        </p:nvSpPr>
        <p:spPr>
          <a:xfrm>
            <a:off x="822960" y="4160520"/>
            <a:ext cx="685800" cy="685800"/>
          </a:xfrm>
          <a:prstGeom prst="ellipse">
            <a:avLst/>
          </a:prstGeom>
          <a:solidFill>
            <a:srgbClr val="3E6C8E"/>
          </a:solidFill>
          <a:ln/>
        </p:spPr>
        <p:txBody>
          <a:bodyPr/>
          <a:lstStyle/>
          <a:p>
            <a:endParaRPr lang="en-ID"/>
          </a:p>
        </p:txBody>
      </p:sp>
      <p:pic>
        <p:nvPicPr>
          <p:cNvPr id="16" name="Image 2" descr="/home/claude/pptx_proj/icons/chip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7265" y="4314825"/>
            <a:ext cx="377190" cy="37719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37360" y="41605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Mungil &amp; Hemat Daya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737360" y="4572000"/>
            <a:ext cx="3931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Hanya 9,14 KB setelah kuantisasi INT8 — muat di ESP32-S3.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172200" y="3886200"/>
            <a:ext cx="53492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4ECF3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0" name="Shape 15"/>
          <p:cNvSpPr/>
          <p:nvPr/>
        </p:nvSpPr>
        <p:spPr>
          <a:xfrm>
            <a:off x="6446520" y="4160520"/>
            <a:ext cx="685800" cy="685800"/>
          </a:xfrm>
          <a:prstGeom prst="ellipse">
            <a:avLst/>
          </a:prstGeom>
          <a:solidFill>
            <a:srgbClr val="E8590C"/>
          </a:solidFill>
          <a:ln/>
        </p:spPr>
        <p:txBody>
          <a:bodyPr/>
          <a:lstStyle/>
          <a:p>
            <a:endParaRPr lang="en-ID"/>
          </a:p>
        </p:txBody>
      </p:sp>
      <p:pic>
        <p:nvPicPr>
          <p:cNvPr id="21" name="Image 3" descr="/home/claude/pptx_proj/icons/zap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0825" y="4314825"/>
            <a:ext cx="377190" cy="37719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60920" y="41605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Cepat, Tanpa Internet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360920" y="4572000"/>
            <a:ext cx="3931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diambil langsung di alat (edge AI), respons dalam hitungan detik.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457200" y="654710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IoT ITB  |  Deteksi Kebocoran Gas — CNN Dual-Branch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430000" y="6547104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4572000" cy="4572000"/>
          </a:xfrm>
          <a:prstGeom prst="ellipse">
            <a:avLst/>
          </a:prstGeom>
          <a:solidFill>
            <a:srgbClr val="3E6C8E">
              <a:alpha val="20000"/>
            </a:srgbClr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9875520" y="4114800"/>
            <a:ext cx="4114800" cy="4114800"/>
          </a:xfrm>
          <a:prstGeom prst="ellipse">
            <a:avLst/>
          </a:prstGeom>
          <a:solidFill>
            <a:srgbClr val="E8590C">
              <a:alpha val="15000"/>
            </a:srgbClr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Shape 2"/>
          <p:cNvSpPr/>
          <p:nvPr/>
        </p:nvSpPr>
        <p:spPr>
          <a:xfrm>
            <a:off x="5394960" y="1463040"/>
            <a:ext cx="1371600" cy="1371600"/>
          </a:xfrm>
          <a:prstGeom prst="ellipse">
            <a:avLst/>
          </a:prstGeom>
          <a:solidFill>
            <a:srgbClr val="3E6C8E"/>
          </a:solidFill>
          <a:ln/>
        </p:spPr>
        <p:txBody>
          <a:bodyPr/>
          <a:lstStyle/>
          <a:p>
            <a:endParaRPr lang="en-ID"/>
          </a:p>
        </p:txBody>
      </p:sp>
      <p:pic>
        <p:nvPicPr>
          <p:cNvPr id="5" name="Image 0" descr="/home/claude/pptx_proj/icons/gasstov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3570" y="1771650"/>
            <a:ext cx="754380" cy="754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10896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Terima Kasih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548640" y="40233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B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IoT — Institut Teknologi Bandung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44348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Deteksi Kebocoran Gas · CNN Dual-Branch · ESP32-S3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1362</Words>
  <Application>Microsoft Office PowerPoint</Application>
  <PresentationFormat>Widescreen</PresentationFormat>
  <Paragraphs>303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Ilmania Syakira</cp:lastModifiedBy>
  <cp:revision>4</cp:revision>
  <dcterms:created xsi:type="dcterms:W3CDTF">2026-07-29T23:16:03Z</dcterms:created>
  <dcterms:modified xsi:type="dcterms:W3CDTF">2026-08-06T03:00:25Z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8b525e5-f3da-4501-8f1e-526b6769fc56_Enabled">
    <vt:lpwstr>true</vt:lpwstr>
  </property>
  <property fmtid="{D5CDD505-2E9C-101B-9397-08002B2CF9AE}" pid="3" name="MSIP_Label_38b525e5-f3da-4501-8f1e-526b6769fc56_SetDate">
    <vt:lpwstr>2026-08-06T02:44:09Z</vt:lpwstr>
  </property>
  <property fmtid="{D5CDD505-2E9C-101B-9397-08002B2CF9AE}" pid="4" name="MSIP_Label_38b525e5-f3da-4501-8f1e-526b6769fc56_Method">
    <vt:lpwstr>Standard</vt:lpwstr>
  </property>
  <property fmtid="{D5CDD505-2E9C-101B-9397-08002B2CF9AE}" pid="5" name="MSIP_Label_38b525e5-f3da-4501-8f1e-526b6769fc56_Name">
    <vt:lpwstr>defa4170-0d19-0005-0004-bc88714345d2</vt:lpwstr>
  </property>
  <property fmtid="{D5CDD505-2E9C-101B-9397-08002B2CF9AE}" pid="6" name="MSIP_Label_38b525e5-f3da-4501-8f1e-526b6769fc56_SiteId">
    <vt:lpwstr>db6e1183-4c65-405c-82ce-7cd53fa6e9dc</vt:lpwstr>
  </property>
  <property fmtid="{D5CDD505-2E9C-101B-9397-08002B2CF9AE}" pid="7" name="MSIP_Label_38b525e5-f3da-4501-8f1e-526b6769fc56_ActionId">
    <vt:lpwstr>7f4bf531-85c1-408e-8d7e-b853af877c4b</vt:lpwstr>
  </property>
  <property fmtid="{D5CDD505-2E9C-101B-9397-08002B2CF9AE}" pid="8" name="MSIP_Label_38b525e5-f3da-4501-8f1e-526b6769fc56_ContentBits">
    <vt:lpwstr>0</vt:lpwstr>
  </property>
  <property fmtid="{D5CDD505-2E9C-101B-9397-08002B2CF9AE}" pid="9" name="MSIP_Label_38b525e5-f3da-4501-8f1e-526b6769fc56_Tag">
    <vt:lpwstr>10, 3, 0, 1</vt:lpwstr>
  </property>
</Properties>
</file>