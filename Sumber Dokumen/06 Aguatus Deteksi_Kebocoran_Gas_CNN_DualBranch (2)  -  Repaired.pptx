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data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Pt>
            <c:idx val="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E7D4-4EC0-A9DF-86D2D3558D9C}"/>
              </c:ext>
            </c:extLst>
          </c:dPt>
          <c:dPt>
            <c:idx val="1"/>
            <c:invertIfNegative val="0"/>
            <c:bubble3D val="0"/>
            <c:spPr>
              <a:solidFill>
                <a:srgbClr val="3E6C8E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7D4-4EC0-A9DF-86D2D3558D9C}"/>
              </c:ext>
            </c:extLst>
          </c:dPt>
          <c:dPt>
            <c:idx val="2"/>
            <c:invertIfNegative val="0"/>
            <c:bubble3D val="0"/>
            <c:spPr>
              <a:solidFill>
                <a:srgbClr val="1E8E5A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7D4-4EC0-A9DF-86D2D3558D9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LPG</c:v>
                </c:pt>
                <c:pt idx="1">
                  <c:v>CO₂</c:v>
                </c:pt>
                <c:pt idx="2">
                  <c:v>Udara Bersih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1099</c:v>
                </c:pt>
                <c:pt idx="1">
                  <c:v>545</c:v>
                </c:pt>
                <c:pt idx="2">
                  <c:v>226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E7D4-4EC0-A9DF-86D2D3558D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692590176"/>
        <c:axId val="-692579840"/>
      </c:barChart>
      <c:catAx>
        <c:axId val="-692590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-692579840"/>
        <c:crosses val="autoZero"/>
        <c:auto val="1"/>
        <c:lblAlgn val="ctr"/>
        <c:lblOffset val="100"/>
        <c:noMultiLvlLbl val="1"/>
      </c:catAx>
      <c:valAx>
        <c:axId val="-692579840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-692590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Ukuran (KB)</c:v>
                </c:pt>
              </c:strCache>
            </c:strRef>
          </c:tx>
          <c:spPr>
            <a:solidFill>
              <a:srgbClr val="6B7A8F"/>
            </a:solidFill>
            <a:effectLst/>
          </c:spPr>
          <c:invertIfNegative val="0"/>
          <c:dPt>
            <c:idx val="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08FD-49B1-B493-8B97CD13852A}"/>
              </c:ext>
            </c:extLst>
          </c:dPt>
          <c:dPt>
            <c:idx val="1"/>
            <c:invertIfNegative val="0"/>
            <c:bubble3D val="0"/>
            <c:spPr>
              <a:solidFill>
                <a:srgbClr val="3E6C8E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08FD-49B1-B493-8B97CD13852A}"/>
              </c:ext>
            </c:extLst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08FD-49B1-B493-8B97CD13852A}"/>
              </c:ext>
            </c:extLst>
          </c:dPt>
          <c:dLbls>
            <c:numFmt formatCode="0.00&quot; K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Model Awal
(Keras)</c:v>
                </c:pt>
                <c:pt idx="1">
                  <c:v>TFLite
float32</c:v>
                </c:pt>
                <c:pt idx="2">
                  <c:v>TFLite INT8
(dipakai di ESP32-S3)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57.95</c:v>
                </c:pt>
                <c:pt idx="1">
                  <c:v>11.29</c:v>
                </c:pt>
                <c:pt idx="2">
                  <c:v>9.14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08FD-49B1-B493-8B97CD1385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692582016"/>
        <c:axId val="-692586368"/>
      </c:barChart>
      <c:catAx>
        <c:axId val="-692582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-692586368"/>
        <c:crosses val="autoZero"/>
        <c:auto val="1"/>
        <c:lblAlgn val="ctr"/>
        <c:lblOffset val="100"/>
        <c:noMultiLvlLbl val="1"/>
      </c:catAx>
      <c:valAx>
        <c:axId val="-69258636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-69258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37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206240" cy="4206240"/>
          </a:xfrm>
          <a:prstGeom prst="ellipse">
            <a:avLst/>
          </a:prstGeom>
          <a:solidFill>
            <a:srgbClr val="3E6C8E">
              <a:alpha val="22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E8590C">
              <a:alpha val="1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5" name="Image 0" descr="/home/claude/pptx_proj/icons/chi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85" y="978865"/>
            <a:ext cx="556870" cy="5568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— INSTITUT TEKNOLOGI BANDUNG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Deteksi Kebocoran Gas dengan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Dual-Branch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pembacaan 8 sensor gas MQ dengan pengetahuan datasheet, dikemas ringkas agar bisa "berpikir" langsung di dalam chip ESP32-S3.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532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99,73%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model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0" y="5532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840480" y="6035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gas MQ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5532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9,14 KB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858000" y="6035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siap di chip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INI PENTING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Kebocoran Gas Sering Tak Terdeteksi Tepat Waktu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5" name="Image 0" descr="/home/claude/pptx_proj/icons/alert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210202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385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tunggal mudah keliru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0" y="231343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sensor MQ saja gampang salah baca karena gas lain atau kondisi udara sekitar bisa mengecoh sinyalnya.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9" name="Image 1" descr="/home/claude/pptx_proj/icons/alert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51934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3558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Butuh keputusan cepat, di tempat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371600" y="373075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 data dikirim ke server sebelum ada keputusan itu berisiko — alarm gas harus bisa muncul dalam hitungan detik.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800600"/>
            <a:ext cx="566928" cy="566928"/>
          </a:xfrm>
          <a:prstGeom prst="ellipse">
            <a:avLst/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3" name="Image 2" descr="/home/claude/pptx_proj/icons/alert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93666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77316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Perangkat kecil, daya terbatas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371600" y="514807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lapangan seperti ESP32-S3 hanya punya memori &amp; daya kecil, jadi model AI-nya juga harus mungil tapi tetap pintar.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60920" y="777240"/>
            <a:ext cx="4251960" cy="5349240"/>
          </a:xfrm>
          <a:prstGeom prst="roundRect">
            <a:avLst>
              <a:gd name="adj" fmla="val 258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Shape 12"/>
          <p:cNvSpPr/>
          <p:nvPr/>
        </p:nvSpPr>
        <p:spPr>
          <a:xfrm>
            <a:off x="8915400" y="1234440"/>
            <a:ext cx="1143000" cy="1143000"/>
          </a:xfrm>
          <a:prstGeom prst="ellipse">
            <a:avLst/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8" name="Image 3" descr="/home/claude/pptx_proj/icons/gasstov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575" y="1491615"/>
            <a:ext cx="628650" cy="6286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80960" y="2606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Gas yang Dikenali Sistem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680960" y="33375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3E6C8E">
              <a:alpha val="4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5"/>
          <p:cNvSpPr/>
          <p:nvPr/>
        </p:nvSpPr>
        <p:spPr>
          <a:xfrm>
            <a:off x="7863840" y="34107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LPG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86384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elpiji rumah tangga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680960" y="4270248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3E6C8E">
              <a:alpha val="4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Text 18"/>
          <p:cNvSpPr/>
          <p:nvPr/>
        </p:nvSpPr>
        <p:spPr>
          <a:xfrm>
            <a:off x="7863840" y="4343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CO₂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863840" y="4636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Karbon dioksida berlebih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680960" y="5202936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3E6C8E">
              <a:alpha val="4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Text 21"/>
          <p:cNvSpPr/>
          <p:nvPr/>
        </p:nvSpPr>
        <p:spPr>
          <a:xfrm>
            <a:off x="7863840" y="52760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Udara Bersih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863840" y="5568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aman, tanpa gas berbahaya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UTAMA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Ini “Berpikir” dari Dua Sumber Sekaligus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Selain membaca angka sensor, model juga diberi tabel pengetahuan dari datasheet pabrik sensor — persis seperti teknisi berpengalaman yang tahu “sensor mana peka ke gas apa”.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1605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868680" y="2651760"/>
            <a:ext cx="685800" cy="685800"/>
          </a:xfrm>
          <a:prstGeom prst="ellipse">
            <a:avLst/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7" name="Image 0" descr="/home/claude/pptx_proj/icons/sensors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" y="280606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743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1: Data Sensor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angka mentah dari sensor MQ2, MQ3, MQ4, MQ5, MQ6, MQ7, MQ8, dan MQ135 — pola naik-turunnya dibaca lewat lapisan Conv1D, mirip mencari corak pada barisan angka.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37760" y="342900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1" name="Image 1" descr="/home/claude/pptx_proj/icons/z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778" y="3573018"/>
            <a:ext cx="352044" cy="3520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97880" y="2331720"/>
            <a:ext cx="41605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9"/>
          <p:cNvSpPr/>
          <p:nvPr/>
        </p:nvSpPr>
        <p:spPr>
          <a:xfrm>
            <a:off x="6217920" y="2651760"/>
            <a:ext cx="685800" cy="685800"/>
          </a:xfrm>
          <a:prstGeom prst="ellipse">
            <a:avLst/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4" name="Image 2" descr="/home/claude/pptx_proj/icons/database_1B2A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2806065"/>
            <a:ext cx="377190" cy="3771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62432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Sumber 2: Pengetahuan Datasheet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217920" y="35661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referensi berisi seberapa sensitif tiap sensor terhadap 7 kelompok gas (LPG, metana, CO, hidrogen, dll). Diubah menjadi 7 “fitur bukti” yang dipelajari lewat lapisan Dense.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Digabung di dalam satu model (dual-branch), lalu memutuskan salah satu dari 3 kondisi gas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DIGUNAKAN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1.870 Data Pembacaan, dari 8 Sensor, 3 Kondisi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Sebaran Data per Kondisi Gas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011680"/>
          <a:ext cx="5760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diambil dari 1.870 pembacaan sensor unik (duplikat dibuang), lalu dibagi 80% latih (1.496) dan 20% uji (374) secara seimbang antar kelas.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Sensor Gas MQ yang Dipasang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92240" y="20574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6"/>
          <p:cNvSpPr/>
          <p:nvPr/>
        </p:nvSpPr>
        <p:spPr>
          <a:xfrm>
            <a:off x="6629400" y="21305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2940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LPG, asap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0" y="20574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9281160" y="21305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28116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Alkohol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92240" y="3154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/>
          <p:nvPr/>
        </p:nvSpPr>
        <p:spPr>
          <a:xfrm>
            <a:off x="6629400" y="32278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29400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144000" y="3154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/>
          <p:nvPr/>
        </p:nvSpPr>
        <p:spPr>
          <a:xfrm>
            <a:off x="9281160" y="32278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MQ5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81160" y="3611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&amp; gas alam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92240" y="4251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8"/>
          <p:cNvSpPr/>
          <p:nvPr/>
        </p:nvSpPr>
        <p:spPr>
          <a:xfrm>
            <a:off x="6629400" y="43251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MQ6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29400" y="4709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LPG, propana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144000" y="42519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1"/>
          <p:cNvSpPr/>
          <p:nvPr/>
        </p:nvSpPr>
        <p:spPr>
          <a:xfrm>
            <a:off x="9281160" y="43251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MQ7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281160" y="4709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Karbon monoksida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92240" y="53492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4"/>
          <p:cNvSpPr/>
          <p:nvPr/>
        </p:nvSpPr>
        <p:spPr>
          <a:xfrm>
            <a:off x="6629400" y="54223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MQ8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629400" y="5806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Hidrogen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144000" y="53492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7"/>
          <p:cNvSpPr/>
          <p:nvPr/>
        </p:nvSpPr>
        <p:spPr>
          <a:xfrm>
            <a:off x="9281160" y="54223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MQ135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281160" y="5806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udara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PENGETAHUAN SENSOR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Mana Peka Terhadap Gas Apa?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ini diambil dari datasheet resmi tiap sensor MQ. Warna lebih gelap = sensor itu lebih peka mendeteksi kelompok gas tersebut (skala 0–3).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15768" y="2240280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14216" y="2240280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12664" y="2240280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11112" y="2240280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Alkohol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09560" y="2240280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208008" y="2240280"/>
            <a:ext cx="1243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269748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1417320" y="269748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15768" y="269748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2715768" y="269748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14216" y="269748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014216" y="269748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12664" y="269748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5312664" y="269748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11112" y="269748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6611112" y="269748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09560" y="269748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7909560" y="269748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08008" y="269748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9208008" y="269748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136392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548640" y="313639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417320" y="313639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1417320" y="313639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15768" y="313639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2715768" y="313639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14216" y="313639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4014216" y="313639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12664" y="313639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9" name="Text 37"/>
          <p:cNvSpPr/>
          <p:nvPr/>
        </p:nvSpPr>
        <p:spPr>
          <a:xfrm>
            <a:off x="5312664" y="313639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11112" y="313639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6611112" y="313639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909560" y="313639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3" name="Text 41"/>
          <p:cNvSpPr/>
          <p:nvPr/>
        </p:nvSpPr>
        <p:spPr>
          <a:xfrm>
            <a:off x="7909560" y="313639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208008" y="313639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7FA6C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5" name="Text 43"/>
          <p:cNvSpPr/>
          <p:nvPr/>
        </p:nvSpPr>
        <p:spPr>
          <a:xfrm>
            <a:off x="9208008" y="313639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3575304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7" name="Text 45"/>
          <p:cNvSpPr/>
          <p:nvPr/>
        </p:nvSpPr>
        <p:spPr>
          <a:xfrm>
            <a:off x="548640" y="357530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MQ3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417320" y="357530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9" name="Text 47"/>
          <p:cNvSpPr/>
          <p:nvPr/>
        </p:nvSpPr>
        <p:spPr>
          <a:xfrm>
            <a:off x="1417320" y="357530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15768" y="357530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1" name="Text 49"/>
          <p:cNvSpPr/>
          <p:nvPr/>
        </p:nvSpPr>
        <p:spPr>
          <a:xfrm>
            <a:off x="2715768" y="357530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014216" y="357530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3" name="Text 51"/>
          <p:cNvSpPr/>
          <p:nvPr/>
        </p:nvSpPr>
        <p:spPr>
          <a:xfrm>
            <a:off x="4014216" y="357530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312664" y="357530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5" name="Text 53"/>
          <p:cNvSpPr/>
          <p:nvPr/>
        </p:nvSpPr>
        <p:spPr>
          <a:xfrm>
            <a:off x="5312664" y="357530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611112" y="357530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7" name="Text 55"/>
          <p:cNvSpPr/>
          <p:nvPr/>
        </p:nvSpPr>
        <p:spPr>
          <a:xfrm>
            <a:off x="6611112" y="357530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909560" y="357530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9" name="Text 57"/>
          <p:cNvSpPr/>
          <p:nvPr/>
        </p:nvSpPr>
        <p:spPr>
          <a:xfrm>
            <a:off x="7909560" y="357530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208008" y="357530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1" name="Text 59"/>
          <p:cNvSpPr/>
          <p:nvPr/>
        </p:nvSpPr>
        <p:spPr>
          <a:xfrm>
            <a:off x="9208008" y="357530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48640" y="4014216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3" name="Text 61"/>
          <p:cNvSpPr/>
          <p:nvPr/>
        </p:nvSpPr>
        <p:spPr>
          <a:xfrm>
            <a:off x="548640" y="401421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MQ5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417320" y="4014216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5" name="Text 63"/>
          <p:cNvSpPr/>
          <p:nvPr/>
        </p:nvSpPr>
        <p:spPr>
          <a:xfrm>
            <a:off x="1417320" y="4014216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715768" y="4014216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7FA6C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7" name="Text 65"/>
          <p:cNvSpPr/>
          <p:nvPr/>
        </p:nvSpPr>
        <p:spPr>
          <a:xfrm>
            <a:off x="2715768" y="4014216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014216" y="4014216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9" name="Text 67"/>
          <p:cNvSpPr/>
          <p:nvPr/>
        </p:nvSpPr>
        <p:spPr>
          <a:xfrm>
            <a:off x="4014216" y="4014216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312664" y="4014216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1" name="Text 69"/>
          <p:cNvSpPr/>
          <p:nvPr/>
        </p:nvSpPr>
        <p:spPr>
          <a:xfrm>
            <a:off x="5312664" y="4014216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611112" y="4014216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3" name="Text 71"/>
          <p:cNvSpPr/>
          <p:nvPr/>
        </p:nvSpPr>
        <p:spPr>
          <a:xfrm>
            <a:off x="6611112" y="4014216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909560" y="4014216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5" name="Text 73"/>
          <p:cNvSpPr/>
          <p:nvPr/>
        </p:nvSpPr>
        <p:spPr>
          <a:xfrm>
            <a:off x="7909560" y="4014216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208008" y="4014216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7" name="Text 75"/>
          <p:cNvSpPr/>
          <p:nvPr/>
        </p:nvSpPr>
        <p:spPr>
          <a:xfrm>
            <a:off x="9208008" y="4014216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548640" y="4453128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9" name="Text 77"/>
          <p:cNvSpPr/>
          <p:nvPr/>
        </p:nvSpPr>
        <p:spPr>
          <a:xfrm>
            <a:off x="548640" y="445312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MQ4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1417320" y="4453128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7FA6C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1" name="Text 79"/>
          <p:cNvSpPr/>
          <p:nvPr/>
        </p:nvSpPr>
        <p:spPr>
          <a:xfrm>
            <a:off x="1417320" y="4453128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2715768" y="4453128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3" name="Text 81"/>
          <p:cNvSpPr/>
          <p:nvPr/>
        </p:nvSpPr>
        <p:spPr>
          <a:xfrm>
            <a:off x="2715768" y="4453128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4014216" y="4453128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5" name="Text 83"/>
          <p:cNvSpPr/>
          <p:nvPr/>
        </p:nvSpPr>
        <p:spPr>
          <a:xfrm>
            <a:off x="4014216" y="4453128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5312664" y="4453128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7" name="Text 85"/>
          <p:cNvSpPr/>
          <p:nvPr/>
        </p:nvSpPr>
        <p:spPr>
          <a:xfrm>
            <a:off x="5312664" y="4453128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6611112" y="4453128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9" name="Text 87"/>
          <p:cNvSpPr/>
          <p:nvPr/>
        </p:nvSpPr>
        <p:spPr>
          <a:xfrm>
            <a:off x="6611112" y="4453128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7909560" y="4453128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1" name="Text 89"/>
          <p:cNvSpPr/>
          <p:nvPr/>
        </p:nvSpPr>
        <p:spPr>
          <a:xfrm>
            <a:off x="7909560" y="4453128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9208008" y="4453128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3" name="Text 91"/>
          <p:cNvSpPr/>
          <p:nvPr/>
        </p:nvSpPr>
        <p:spPr>
          <a:xfrm>
            <a:off x="9208008" y="4453128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548640" y="4892040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5" name="Text 93"/>
          <p:cNvSpPr/>
          <p:nvPr/>
        </p:nvSpPr>
        <p:spPr>
          <a:xfrm>
            <a:off x="548640" y="48920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MQ7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1417320" y="489204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7" name="Text 95"/>
          <p:cNvSpPr/>
          <p:nvPr/>
        </p:nvSpPr>
        <p:spPr>
          <a:xfrm>
            <a:off x="1417320" y="489204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2715768" y="489204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9" name="Text 97"/>
          <p:cNvSpPr/>
          <p:nvPr/>
        </p:nvSpPr>
        <p:spPr>
          <a:xfrm>
            <a:off x="2715768" y="489204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4014216" y="489204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1" name="Text 99"/>
          <p:cNvSpPr/>
          <p:nvPr/>
        </p:nvSpPr>
        <p:spPr>
          <a:xfrm>
            <a:off x="4014216" y="489204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5312664" y="489204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3" name="Text 101"/>
          <p:cNvSpPr/>
          <p:nvPr/>
        </p:nvSpPr>
        <p:spPr>
          <a:xfrm>
            <a:off x="5312664" y="489204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6611112" y="489204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5" name="Text 103"/>
          <p:cNvSpPr/>
          <p:nvPr/>
        </p:nvSpPr>
        <p:spPr>
          <a:xfrm>
            <a:off x="6611112" y="489204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7909560" y="489204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7" name="Text 105"/>
          <p:cNvSpPr/>
          <p:nvPr/>
        </p:nvSpPr>
        <p:spPr>
          <a:xfrm>
            <a:off x="7909560" y="489204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9208008" y="4892040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9" name="Text 107"/>
          <p:cNvSpPr/>
          <p:nvPr/>
        </p:nvSpPr>
        <p:spPr>
          <a:xfrm>
            <a:off x="9208008" y="4892040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48640" y="5330952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1" name="Text 109"/>
          <p:cNvSpPr/>
          <p:nvPr/>
        </p:nvSpPr>
        <p:spPr>
          <a:xfrm>
            <a:off x="548640" y="533095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MQ6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1417320" y="533095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3" name="Text 111"/>
          <p:cNvSpPr/>
          <p:nvPr/>
        </p:nvSpPr>
        <p:spPr>
          <a:xfrm>
            <a:off x="1417320" y="533095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2715768" y="533095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5" name="Text 113"/>
          <p:cNvSpPr/>
          <p:nvPr/>
        </p:nvSpPr>
        <p:spPr>
          <a:xfrm>
            <a:off x="2715768" y="533095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4014216" y="533095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7" name="Text 115"/>
          <p:cNvSpPr/>
          <p:nvPr/>
        </p:nvSpPr>
        <p:spPr>
          <a:xfrm>
            <a:off x="4014216" y="533095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5312664" y="533095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9" name="Text 117"/>
          <p:cNvSpPr/>
          <p:nvPr/>
        </p:nvSpPr>
        <p:spPr>
          <a:xfrm>
            <a:off x="5312664" y="533095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6611112" y="533095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1" name="Text 119"/>
          <p:cNvSpPr/>
          <p:nvPr/>
        </p:nvSpPr>
        <p:spPr>
          <a:xfrm>
            <a:off x="6611112" y="533095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7909560" y="533095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3" name="Text 121"/>
          <p:cNvSpPr/>
          <p:nvPr/>
        </p:nvSpPr>
        <p:spPr>
          <a:xfrm>
            <a:off x="7909560" y="533095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9208008" y="5330952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5" name="Text 123"/>
          <p:cNvSpPr/>
          <p:nvPr/>
        </p:nvSpPr>
        <p:spPr>
          <a:xfrm>
            <a:off x="9208008" y="533095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548640" y="5769864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7" name="Text 125"/>
          <p:cNvSpPr/>
          <p:nvPr/>
        </p:nvSpPr>
        <p:spPr>
          <a:xfrm>
            <a:off x="548640" y="576986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MQ2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1417320" y="576986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9" name="Text 127"/>
          <p:cNvSpPr/>
          <p:nvPr/>
        </p:nvSpPr>
        <p:spPr>
          <a:xfrm>
            <a:off x="1417320" y="576986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2715768" y="576986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7FA6C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1" name="Text 129"/>
          <p:cNvSpPr/>
          <p:nvPr/>
        </p:nvSpPr>
        <p:spPr>
          <a:xfrm>
            <a:off x="2715768" y="576986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4014216" y="576986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3" name="Text 131"/>
          <p:cNvSpPr/>
          <p:nvPr/>
        </p:nvSpPr>
        <p:spPr>
          <a:xfrm>
            <a:off x="4014216" y="576986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4" name="Shape 132"/>
          <p:cNvSpPr/>
          <p:nvPr/>
        </p:nvSpPr>
        <p:spPr>
          <a:xfrm>
            <a:off x="5312664" y="576986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7FA6C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5" name="Text 133"/>
          <p:cNvSpPr/>
          <p:nvPr/>
        </p:nvSpPr>
        <p:spPr>
          <a:xfrm>
            <a:off x="5312664" y="576986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36" name="Shape 134"/>
          <p:cNvSpPr/>
          <p:nvPr/>
        </p:nvSpPr>
        <p:spPr>
          <a:xfrm>
            <a:off x="6611112" y="576986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CFE0E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7" name="Text 135"/>
          <p:cNvSpPr/>
          <p:nvPr/>
        </p:nvSpPr>
        <p:spPr>
          <a:xfrm>
            <a:off x="6611112" y="576986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38" name="Shape 136"/>
          <p:cNvSpPr/>
          <p:nvPr/>
        </p:nvSpPr>
        <p:spPr>
          <a:xfrm>
            <a:off x="7909560" y="576986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F0F3F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9" name="Text 137"/>
          <p:cNvSpPr/>
          <p:nvPr/>
        </p:nvSpPr>
        <p:spPr>
          <a:xfrm>
            <a:off x="7909560" y="576986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40" name="Shape 138"/>
          <p:cNvSpPr/>
          <p:nvPr/>
        </p:nvSpPr>
        <p:spPr>
          <a:xfrm>
            <a:off x="9208008" y="5769864"/>
            <a:ext cx="1243584" cy="384048"/>
          </a:xfrm>
          <a:prstGeom prst="roundRect">
            <a:avLst>
              <a:gd name="adj" fmla="val 9524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1" name="Text 139"/>
          <p:cNvSpPr/>
          <p:nvPr/>
        </p:nvSpPr>
        <p:spPr>
          <a:xfrm>
            <a:off x="9208008" y="5769864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2" name="Text 140"/>
          <p:cNvSpPr/>
          <p:nvPr/>
        </p:nvSpPr>
        <p:spPr>
          <a:xfrm>
            <a:off x="548640" y="643737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gelap warnanya, semakin kuat “bukti” yang diberikan sensor itu ke model saat mengenali suatu gas.</a:t>
            </a:r>
            <a:endParaRPr lang="en-US" sz="1150" dirty="0"/>
          </a:p>
        </p:txBody>
      </p:sp>
      <p:sp>
        <p:nvSpPr>
          <p:cNvPr id="143" name="Text 141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DALAM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CNN Dual-Branch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A — Pola Angka Sensor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691640" cy="914400"/>
          </a:xfrm>
          <a:prstGeom prst="roundRect">
            <a:avLst>
              <a:gd name="adj" fmla="val 9000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756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nilai ADC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40280" y="18013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60320" y="1600200"/>
            <a:ext cx="1691640" cy="914400"/>
          </a:xfrm>
          <a:prstGeom prst="roundRect">
            <a:avLst>
              <a:gd name="adj" fmla="val 9000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2651760" y="1691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Conv1D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0756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filter, k=3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51960" y="18013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1691640" cy="914400"/>
          </a:xfrm>
          <a:prstGeom prst="roundRect">
            <a:avLst>
              <a:gd name="adj" fmla="val 9000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4663440" y="1691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MaxPooling1D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0756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 pola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18013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83680" y="1600200"/>
            <a:ext cx="1691640" cy="914400"/>
          </a:xfrm>
          <a:prstGeom prst="roundRect">
            <a:avLst>
              <a:gd name="adj" fmla="val 9000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6675120" y="1691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Flatten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0756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 1 baris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58858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B — Pengetahuan Datasheet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908623"/>
            <a:ext cx="1691640" cy="914400"/>
          </a:xfrm>
          <a:prstGeom prst="roundRect">
            <a:avLst>
              <a:gd name="adj" fmla="val 9000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640080" y="3000063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384111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fitur bukti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40280" y="3109791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560320" y="2908623"/>
            <a:ext cx="1691640" cy="914400"/>
          </a:xfrm>
          <a:prstGeom prst="roundRect">
            <a:avLst>
              <a:gd name="adj" fmla="val 9000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2651760" y="3000063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(8)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3384111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89720" y="2910286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9098280" y="279806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98280" y="31638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gabungkan dua sudut pandang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Pengambilan Keputusan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64008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(16, relu)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636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meracik gabungan fitur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0" y="43616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297680" y="416052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438912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(3, softmax)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89120" y="46360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tiap kelas gas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89520" y="43616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8046720" y="41605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2" name="Text 40"/>
          <p:cNvSpPr/>
          <p:nvPr/>
        </p:nvSpPr>
        <p:spPr>
          <a:xfrm>
            <a:off x="813816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38160" y="46360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CO₂ / Bersih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hanya 1.347 parameter (≈ 5,26 KB) — cukup kecil untuk berjalan langsung di ESP32-S3.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xmlns="" id="{208D6784-5D2F-DED3-DC2F-33436172765A}"/>
              </a:ext>
            </a:extLst>
          </p:cNvPr>
          <p:cNvCxnSpPr>
            <a:stCxn id="17" idx="3"/>
            <a:endCxn id="29" idx="1"/>
          </p:cNvCxnSpPr>
          <p:nvPr/>
        </p:nvCxnSpPr>
        <p:spPr>
          <a:xfrm>
            <a:off x="8275320" y="2057400"/>
            <a:ext cx="914400" cy="1310086"/>
          </a:xfrm>
          <a:prstGeom prst="bentConnector3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xmlns="" id="{33C31850-E9CC-75ED-1732-FCF60B3C03BC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>
            <a:off x="4251960" y="3365823"/>
            <a:ext cx="4937760" cy="1663"/>
          </a:xfrm>
          <a:prstGeom prst="bentConnector3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BELAJAR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Berlatih dari 1.496 Contoh Data</a:t>
            </a:r>
            <a:endParaRPr lang="en-US" sz="2800" dirty="0"/>
          </a:p>
        </p:txBody>
      </p:sp>
      <p:pic>
        <p:nvPicPr>
          <p:cNvPr id="4" name="Image 0" descr="/home/claude/pptx_proj/icons/trai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766560" cy="24597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06240"/>
            <a:ext cx="6766560" cy="384048"/>
          </a:xfrm>
          <a:prstGeom prst="roundRect">
            <a:avLst>
              <a:gd name="adj" fmla="val 14286"/>
            </a:avLst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685800" y="420624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loss latih (biru) dan loss validasi (oranye) sama-sama menurun dan stabil — tanda model belajar dengan baik, bukan sekadar menghafal.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589520" y="1600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Pengaturan Pelatihan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589520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9" name="Image 1" descr="/home/claude/pptx_proj/icons/activity_3E6C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0" y="220599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0" y="2084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Maksimum 200 epoch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229600" y="23591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early stopping (sabar 15 epoch tanpa perbaikan)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589520" y="3035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3" name="Image 2" descr="/home/claude/pptx_proj/icons/activity_3E6C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0" y="3138678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30175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Ukuran batch 32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229600" y="3291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diproses 32 contoh setiap langkah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589520" y="39684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7" name="Image 3" descr="/home/claude/pptx_proj/icons/activity_3E6C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0" y="4071366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0" y="39502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data untuk validasi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229600" y="42245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model saat berlatih, cegah overfitting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589520" y="49011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21" name="Image 4" descr="/home/claude/pptx_proj/icons/activity_3E6C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390" y="5004054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0" y="48828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dibagi merata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8229600" y="515721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latih / 20% uji, seimbang di tiap kelas gas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UJI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Akurasi Sangat Tinggi pada Data Uji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Diuji pada 374 data yang belum pernah dilihat model sebelumnya.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3E6C8E">
              <a:alpha val="5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99,73%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keseluruhan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63240" y="19659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3E6C8E">
              <a:alpha val="5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3063240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99,56%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27432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rata-rata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0" y="19659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3E6C8E">
              <a:alpha val="5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577840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715000" y="27432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uji independen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bahkan hampir tidak pernah salah membedakan LPG, CO₂, dan udara bersih.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7452360" cy="457200"/>
          </a:xfrm>
          <a:prstGeom prst="roundRect">
            <a:avLst>
              <a:gd name="adj" fmla="val 12000"/>
            </a:avLst>
          </a:prstGeom>
          <a:solidFill>
            <a:srgbClr val="3E6C8E">
              <a:alpha val="3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0896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presisi 100%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10328"/>
            <a:ext cx="7452360" cy="457200"/>
          </a:xfrm>
          <a:prstGeom prst="roundRect">
            <a:avLst>
              <a:gd name="adj" fmla="val 12000"/>
            </a:avLst>
          </a:prstGeom>
          <a:solidFill>
            <a:srgbClr val="3E6C8E">
              <a:alpha val="3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731520" y="4910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108960" y="4910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presisi 100%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0" y="4910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data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477256"/>
            <a:ext cx="7452360" cy="457200"/>
          </a:xfrm>
          <a:prstGeom prst="roundRect">
            <a:avLst>
              <a:gd name="adj" fmla="val 12000"/>
            </a:avLst>
          </a:prstGeom>
          <a:solidFill>
            <a:srgbClr val="3E6C8E">
              <a:alpha val="3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731520" y="5477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 Bersih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108960" y="5477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presisi 98%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0" y="54772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75320" y="1965960"/>
            <a:ext cx="3337560" cy="443484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28" name="Image 0" descr="/home/claude/pptx_proj/icon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03120"/>
            <a:ext cx="3063240" cy="27432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412480" y="49377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412480" y="52578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= kondisi asli, kolom = tebakan model. Semakin terang diagonalnya, semakin akurat modelnya.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390" y="0"/>
            <a:ext cx="12223389" cy="68404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LAPANGAN TERBARU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225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Akurasi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 Real-Time Lapangan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0" y="1600200"/>
            <a:ext cx="76144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Diuji langsung di board ESP32-S3 (device 1001), nonstop ±11,7 menit, dibandingkan dengan gas sebenarnya.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21945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3E6C8E">
              <a:alpha val="5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2743200" y="2286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97,65%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880360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real-time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57800" y="21945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3E6C8E">
              <a:alpha val="5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257800" y="2286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1.176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394960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Pembacaan sensor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21945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3E6C8E">
              <a:alpha val="5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7772400" y="2286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11,7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09560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 nonstop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0" y="4233672"/>
            <a:ext cx="7452360" cy="457200"/>
          </a:xfrm>
          <a:prstGeom prst="roundRect">
            <a:avLst>
              <a:gd name="adj" fmla="val 12000"/>
            </a:avLst>
          </a:prstGeom>
          <a:solidFill>
            <a:srgbClr val="3E6C8E">
              <a:alpha val="3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2926080" y="42336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03520" y="42336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presisi</a:t>
            </a: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98,4%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80960" y="42336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676 data </a:t>
            </a:r>
            <a:r>
              <a:rPr lang="en-US" sz="1150" dirty="0" err="1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</a:t>
            </a: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687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0" y="4800600"/>
            <a:ext cx="7452360" cy="457200"/>
          </a:xfrm>
          <a:prstGeom prst="roundRect">
            <a:avLst>
              <a:gd name="adj" fmla="val 12000"/>
            </a:avLst>
          </a:prstGeom>
          <a:solidFill>
            <a:srgbClr val="3E6C8E">
              <a:alpha val="35000"/>
            </a:srgbClr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20" name="Text 18"/>
          <p:cNvSpPr/>
          <p:nvPr/>
        </p:nvSpPr>
        <p:spPr>
          <a:xfrm>
            <a:off x="2926080" y="4800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 Bersih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0" y="4800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presisi</a:t>
            </a: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96,9%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0" y="4800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 data </a:t>
            </a:r>
            <a:r>
              <a:rPr lang="en-US" sz="1150" dirty="0" err="1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</a:t>
            </a: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15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489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UNTUK CHIP KECIL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Dipangkas 84% Tanpa Kehilangan Akurasi Berarti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asli diringkas bertahap agar muat di memori ESP32-S3 yang sangat terbatas, lewat proses bernama kuantisasi.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59436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Akurasi Tetap Terjaga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0" y="25146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7040880" y="2514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(asli)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69680" y="251460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57,95 KB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25146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99,73%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0" y="3447288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7040880" y="344728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float32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69680" y="3447288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11,29 KB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0" y="344728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E6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99,73%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0" y="4379976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7040880" y="4379976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INT8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69680" y="4379976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9,14 KB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0" y="4379976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99,20%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0" y="54406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akurasi dari versi asli ke versi paling hemat hanya 0,53 poin persen — harga yang sangat kecil untuk ukuran 6× lebih ringkas.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MENUJU FIRMWARE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Model ke Kode C yang Ditanam di Chip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yang sudah dipangkas diubah menjadi berkas .h (header C) berisi angka-angka model, siap dikompilasi bersama program ESP32-S3.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1485900" y="2606040"/>
            <a:ext cx="731520" cy="731520"/>
          </a:xfrm>
          <a:prstGeom prst="ellipse">
            <a:avLst/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7" name="Image 0" descr="/home/claude/pptx_proj/icons/tan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27706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TFLite INT8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4160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9,14 KB, hasil pemangkasan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154680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83280" y="233172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4320540" y="2606040"/>
            <a:ext cx="731520" cy="731520"/>
          </a:xfrm>
          <a:prstGeom prst="ellipse">
            <a:avLst/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3" name="Image 1" descr="/home/claude/pptx_proj/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27706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cnn_gas_datasheet_model_data.h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20440" y="4160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diubah jadi larik byte C (56,8 KB)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989320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217920" y="233172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4"/>
          <p:cNvSpPr/>
          <p:nvPr/>
        </p:nvSpPr>
        <p:spPr>
          <a:xfrm>
            <a:off x="7155180" y="2606040"/>
            <a:ext cx="731520" cy="731520"/>
          </a:xfrm>
          <a:prstGeom prst="ellipse">
            <a:avLst/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9" name="Image 2" descr="/home/claude/pptx_proj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772" y="277063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normalize_params.h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sensitivity_table.h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55080" y="4160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normalisasi &amp; tabel datasheet ikut disertakan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823960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9052560" y="233172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4" name="Shape 19"/>
          <p:cNvSpPr/>
          <p:nvPr/>
        </p:nvSpPr>
        <p:spPr>
          <a:xfrm>
            <a:off x="9989820" y="2606040"/>
            <a:ext cx="731520" cy="731520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25" name="Image 3" descr="/home/claude/pptx_proj/icons/chi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412" y="277063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9720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Kompilasi ke ESP32-S3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189720" y="4160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siap dijalankan di alat lapangan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model punya dua cabang (dan operasi Concatenate), daftar operasi (ops) di firmware sedikit lebih banyak dari model CNN satu-cabang sebelumnya — selalu dicek ulang lewat TFLite Model Analyzer.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ALAT NYATA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 Saat Beroperasi di Lapangan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640080" cy="640080"/>
          </a:xfrm>
          <a:prstGeom prst="ellipse">
            <a:avLst/>
          </a:prstGeom>
          <a:solidFill>
            <a:srgbClr val="E4ECF3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6" name="Image 0" descr="/home/claude/pptx_proj/icons/sensors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5671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54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Sensor MQ Membaca Udara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9718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74720" y="214884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/>
          <p:nvPr/>
        </p:nvSpPr>
        <p:spPr>
          <a:xfrm>
            <a:off x="3566160" y="21488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1: 8 ADC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30175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3566160" y="30175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2: 7 Bukti Datasheet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72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675120" y="219456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Shape 12"/>
          <p:cNvSpPr/>
          <p:nvPr/>
        </p:nvSpPr>
        <p:spPr>
          <a:xfrm>
            <a:off x="6903720" y="2423160"/>
            <a:ext cx="640080" cy="640080"/>
          </a:xfrm>
          <a:prstGeom prst="ellipse">
            <a:avLst/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6" name="Image 1" descr="/home/claude/pptx_proj/icons/bra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7738" y="256717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12280" y="3154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Micro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0068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9509760" y="219456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Shape 16"/>
          <p:cNvSpPr/>
          <p:nvPr/>
        </p:nvSpPr>
        <p:spPr>
          <a:xfrm>
            <a:off x="973836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21" name="Image 2" descr="/home/claude/pptx_proj/icons/alert_E859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2378" y="2567178"/>
            <a:ext cx="352044" cy="3520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46920" y="31546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Peringatan Dini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model punya dua input terpisah, firmware mengisi kedua tensor lalu menjalankan interpreter TFLite Micro satu kali per pembacaan — hasilnya langsung berupa peluang tiap kondisi gas, tanpa perlu koneksi internet.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E6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dibuat di tempat (edge AI) — alarm bisa langsung menyala meski jaringan internet sedang mati.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Pendekatan Ini Bermanfaat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6" name="Image 0" descr="/home/claude/pptx_proj/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21659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Akurat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4231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99,73% akurasi &amp; 99,56% F1-score pada data uji — hampir tidak pernah salah kelas.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6446520" y="2011680"/>
            <a:ext cx="685800" cy="685800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1" name="Image 1" descr="/home/claude/pptx_proj/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216598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Cerdas dari Dua Sisi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4231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data sensor mentah dengan pengetahuan datasheet, bukan hanya angka.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1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6" name="Image 2" descr="/home/claude/pptx_proj/icons/chi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265" y="431482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Mungil &amp; Hemat Daya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5720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9,14 KB setelah kuantisasi INT8 — muat di ESP32-S3.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CF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5"/>
          <p:cNvSpPr/>
          <p:nvPr/>
        </p:nvSpPr>
        <p:spPr>
          <a:xfrm>
            <a:off x="6446520" y="4160520"/>
            <a:ext cx="685800" cy="685800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21" name="Image 3" descr="/home/claude/pptx_proj/icons/za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431482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Cepat, Tanpa Internet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5720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diambil langsung di alat (edge AI), respons dalam hitungan detik.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ITB  |  Deteksi Kebocoran Gas — CNN Dual-Branch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3E6C8E">
              <a:alpha val="2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E8590C">
              <a:alpha val="1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5394960" y="1463040"/>
            <a:ext cx="1371600" cy="1371600"/>
          </a:xfrm>
          <a:prstGeom prst="ellipse">
            <a:avLst/>
          </a:prstGeom>
          <a:solidFill>
            <a:srgbClr val="3E6C8E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5" name="Image 0" descr="/home/claude/pptx_proj/icons/gasstov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0" y="177165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IoT — Institut Teknologi Bandung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Kebocoran Gas · CNN Dual-Branch · ESP32-S3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1341</Words>
  <Application>Microsoft Office PowerPoint</Application>
  <PresentationFormat>Widescreen</PresentationFormat>
  <Paragraphs>303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5</cp:revision>
  <dcterms:created xsi:type="dcterms:W3CDTF">2026-07-29T23:16:03Z</dcterms:created>
  <dcterms:modified xsi:type="dcterms:W3CDTF">2026-08-06T03:15:02Z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2026-08-06T02:44:09Z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7f4bf531-85c1-408e-8d7e-b853af877c4b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