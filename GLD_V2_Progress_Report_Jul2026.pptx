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52000"/>
            <a:ext cx="12191695" cy="54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9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GAS LEAK DETECTION (GLD) TAHAP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368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Calibri"/>
              </a:defRPr>
            </a:pPr>
            <a:r>
              <a:t>Sistem IoT Deteksi Kebocoran Gas — PT Pertamina Patra Niaga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872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Calibri"/>
              </a:defRPr>
            </a:pPr>
            <a:r>
              <a:t>Progress Report · Jul 2026  |  Pilot: RU IV Cilacap  |  TRL-7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124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Calibri"/>
              </a:defRPr>
            </a:pPr>
            <a:r>
              <a:t>LAPI Ganesha Utama  ·  Lab IoT ITB  ·  Lab Fisika ITB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B"/>
                </a:solidFill>
                <a:latin typeface="Calibri"/>
              </a:defRPr>
            </a:pPr>
            <a:r>
              <a:t>Posisi proyek per 24 Juli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2000"/>
            <a:ext cx="12191695" cy="216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678000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D5EB"/>
                </a:solidFill>
                <a:latin typeface="Calibri"/>
              </a:defRPr>
            </a:pPr>
            <a:r>
              <a:t>GLD V2 — LAPI Ganesha Utama × Lab IoT ITB × Lab Fisika ITB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080000"/>
            <a:ext cx="1980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188000"/>
            <a:ext cx="16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B5FCB"/>
                </a:solidFill>
                <a:latin typeface="Calibri"/>
              </a:defRPr>
            </a:pPr>
            <a:r>
              <a:t>39%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1692000"/>
            <a:ext cx="176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62321"/>
                </a:solidFill>
                <a:latin typeface="Calibri"/>
              </a:defRPr>
            </a:pPr>
            <a:r>
              <a:t>Progres Pilot Cilacap</a:t>
            </a:r>
            <a:br/>
            <a:r>
              <a:t>(vs baseline 19%)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4000" y="1080000"/>
            <a:ext cx="1980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4000" y="1188000"/>
            <a:ext cx="16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2000" y="1692000"/>
            <a:ext cx="176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62321"/>
                </a:solidFill>
                <a:latin typeface="Calibri"/>
              </a:defRPr>
            </a:pPr>
            <a:r>
              <a:t>Blocker Kritis Aktif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88000" y="1080000"/>
            <a:ext cx="1980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8000" y="1188000"/>
            <a:ext cx="16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B5FCB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6000" y="1692000"/>
            <a:ext cx="176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62321"/>
                </a:solidFill>
                <a:latin typeface="Calibri"/>
              </a:defRPr>
            </a:pPr>
            <a:r>
              <a:t>Action Items</a:t>
            </a:r>
            <a:br/>
            <a:r>
              <a:t>(5 berjalan, 15 terbuka)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12000" y="1080000"/>
            <a:ext cx="1980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92000" y="1188000"/>
            <a:ext cx="16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≥92%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0000" y="1692000"/>
            <a:ext cx="176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62321"/>
                </a:solidFill>
                <a:latin typeface="Calibri"/>
              </a:defRPr>
            </a:pPr>
            <a:r>
              <a:t>Akurasi TCN LPG</a:t>
            </a:r>
            <a:br/>
            <a:r>
              <a:t>(8 model per-sensor)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36000" y="1080000"/>
            <a:ext cx="1980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6000" y="1188000"/>
            <a:ext cx="16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B5FCB"/>
                </a:solidFill>
                <a:latin typeface="Calibri"/>
              </a:defRPr>
            </a:pPr>
            <a:r>
              <a:t>14.477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692000"/>
            <a:ext cx="176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62321"/>
                </a:solidFill>
                <a:latin typeface="Calibri"/>
              </a:defRPr>
            </a:pPr>
            <a:r>
              <a:t>Dataset Sampel</a:t>
            </a:r>
            <a:br/>
            <a:r>
              <a:t>(4 jenis gas, 8 kanal MQ)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" y="234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2321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defRPr sz="1100" b="0">
                <a:solidFill>
                  <a:srgbClr val="262321"/>
                </a:solidFill>
                <a:latin typeface="Calibri"/>
              </a:defRPr>
            </a:pPr>
            <a:r>
              <a:t>Rantai GLD  CH  GW  Server end-to-end  |  Mesh 8-CH multi-hop se-kampus (Layer 3)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262321"/>
                </a:solidFill>
                <a:latin typeface="Calibri"/>
              </a:defRPr>
            </a:pPr>
            <a:r>
              <a:t>AI inferensi di PC/emulator ESP32 (belum on-device)  |  CH power teratasi 2 panel surya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262321"/>
                </a:solidFill>
                <a:latin typeface="Calibri"/>
              </a:defRPr>
            </a:pPr>
            <a:r>
              <a:t>Progress chamber gas: solenoid valve, BME280 ganda, TGS2610 via ADS1115, LM2596, BTS7960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262321"/>
                </a:solidFill>
                <a:latin typeface="Calibri"/>
              </a:defRPr>
            </a:pPr>
            <a:r>
              <a:t>Blocker: autonomi baterai GLD (7P=1,76h vs target 30h), TPL5010, DC converter, gate TRA/JSA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Timeline Proyek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B"/>
                </a:solidFill>
                <a:latin typeface="Calibri"/>
              </a:defRPr>
            </a:pPr>
            <a:r>
              <a:t>9 bulan (Juni 2026 - Februari 2027)  |  Baseline Deck Kick-Off 12 Jun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2000"/>
            <a:ext cx="12191695" cy="216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678000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D5EB"/>
                </a:solidFill>
                <a:latin typeface="Calibri"/>
              </a:defRPr>
            </a:pPr>
            <a:r>
              <a:t>GLD V2 — LAPI Ganesha Utama × Lab IoT ITB × Lab Fisika ITB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800000" cy="54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296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Fase 1 -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54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DD"/>
                </a:solidFill>
                <a:latin typeface="Calibri"/>
              </a:defRPr>
            </a:pPr>
            <a:r>
              <a:t>20 Apr - 7 Jun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0000" y="1260000"/>
            <a:ext cx="7920000" cy="5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8000" y="1368000"/>
            <a:ext cx="7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321"/>
                </a:solidFill>
                <a:latin typeface="Calibri"/>
              </a:defRPr>
            </a:pPr>
            <a:r>
              <a:t>Design chamber, uji node &amp; routing CH, uji fungsional, RF LoRa, failover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908000"/>
            <a:ext cx="1800000" cy="540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000" y="1944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Fase 2 - Kick-Off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00" y="2196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DD"/>
                </a:solidFill>
                <a:latin typeface="Calibri"/>
              </a:defRPr>
            </a:pPr>
            <a:r>
              <a:t>12 Jun - Jul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40000" y="1908000"/>
            <a:ext cx="7920000" cy="5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8000" y="2016000"/>
            <a:ext cx="7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321"/>
                </a:solidFill>
                <a:latin typeface="Calibri"/>
              </a:defRPr>
            </a:pPr>
            <a:r>
              <a:t>Kick-Off Pertamina, komunikasi GLD-CH-GW-Server, dataset 14.477, TCN &gt;92%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2556000"/>
            <a:ext cx="1800000" cy="540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000" y="2592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Fase 3 - Integrasi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" y="2844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DD"/>
                </a:solidFill>
                <a:latin typeface="Calibri"/>
              </a:defRPr>
            </a:pPr>
            <a:r>
              <a:t>Agu - Sep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40000" y="2556000"/>
            <a:ext cx="7920000" cy="5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48000" y="2664000"/>
            <a:ext cx="7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321"/>
                </a:solidFill>
                <a:latin typeface="Calibri"/>
              </a:defRPr>
            </a:pPr>
            <a:r>
              <a:t>Integration test, AI on-device ESP32, PCB chamber, finalisasi daya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204000"/>
            <a:ext cx="1800000" cy="540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3240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Fase 4 - HSE &amp; Permit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000" y="3492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DD"/>
                </a:solidFill>
                <a:latin typeface="Calibri"/>
              </a:defRPr>
            </a:pPr>
            <a:r>
              <a:t>Okt - Nov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40000" y="3204000"/>
            <a:ext cx="7920000" cy="5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48000" y="3312000"/>
            <a:ext cx="7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321"/>
                </a:solidFill>
                <a:latin typeface="Calibri"/>
              </a:defRPr>
            </a:pPr>
            <a:r>
              <a:t>TRA/JSA, HSE review, perizinan RU IV Cilacap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3852000"/>
            <a:ext cx="1800000" cy="54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000" y="3888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Fase 5 - Field Install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000" y="4140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DD"/>
                </a:solidFill>
                <a:latin typeface="Calibri"/>
              </a:defRPr>
            </a:pPr>
            <a:r>
              <a:t>Des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40000" y="3852000"/>
            <a:ext cx="7920000" cy="5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48000" y="3960000"/>
            <a:ext cx="7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321"/>
                </a:solidFill>
                <a:latin typeface="Calibri"/>
              </a:defRPr>
            </a:pPr>
            <a:r>
              <a:t>Field installation target - 3 sensor, 2 CH, 1 GW Cilacap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0000" y="4500000"/>
            <a:ext cx="1800000" cy="540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000" y="4536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Fase 6 - Trial &amp; Closing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000" y="478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DD"/>
                </a:solidFill>
                <a:latin typeface="Calibri"/>
              </a:defRPr>
            </a:pPr>
            <a:r>
              <a:t>Jan - Feb 2027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40000" y="4500000"/>
            <a:ext cx="7920000" cy="54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48000" y="4608000"/>
            <a:ext cx="7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321"/>
                </a:solidFill>
                <a:latin typeface="Calibri"/>
              </a:defRPr>
            </a:pPr>
            <a:r>
              <a:t>Field trial, evaluasi, final report, industrialisasi 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Arsitektur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B"/>
                </a:solidFill>
                <a:latin typeface="Calibri"/>
              </a:defRPr>
            </a:pPr>
            <a:r>
              <a:t>Data Flow: GLD Node  Cluster Head  Gateway  Server 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2000"/>
            <a:ext cx="12191695" cy="216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678000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D5EB"/>
                </a:solidFill>
                <a:latin typeface="Calibri"/>
              </a:defRPr>
            </a:pPr>
            <a:r>
              <a:t>GLD V2 — LAPI Ganesha Utama × Lab IoT ITB × Lab Fisika ITB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1368000"/>
            <a:ext cx="1692000" cy="1080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1440000"/>
            <a:ext cx="14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GLD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764000"/>
            <a:ext cx="14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E5F5"/>
                </a:solidFill>
                <a:latin typeface="Calibri"/>
              </a:defRPr>
            </a:pPr>
            <a:r>
              <a:t>ESP32-S3  8x MQ</a:t>
            </a:r>
            <a:br/>
            <a:r>
              <a:t>ADS1256/ADS1115</a:t>
            </a:r>
            <a:br/>
            <a:r>
              <a:t>TFLite Micro edge-AI</a:t>
            </a:r>
            <a:br/>
            <a:r>
              <a:t>LoRa 915 MHz 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8000" y="1800000"/>
            <a:ext cx="1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B5FC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0000" y="1368000"/>
            <a:ext cx="1692000" cy="108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8000" y="1440000"/>
            <a:ext cx="14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Cluster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8000" y="1764000"/>
            <a:ext cx="14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E5F5"/>
                </a:solidFill>
                <a:latin typeface="Calibri"/>
              </a:defRPr>
            </a:pPr>
            <a:r>
              <a:t>LoRa dual E22</a:t>
            </a:r>
            <a:br/>
            <a:r>
              <a:t>Solar + 18650</a:t>
            </a:r>
            <a:br/>
            <a:r>
              <a:t>Failover RSSI</a:t>
            </a:r>
            <a:br/>
            <a:r>
              <a:t>IP66/67  Tiang 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0000" y="1800000"/>
            <a:ext cx="1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B5FC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32000" y="1368000"/>
            <a:ext cx="1692000" cy="1080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0000" y="1440000"/>
            <a:ext cx="14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0000" y="1764000"/>
            <a:ext cx="14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E5F5"/>
                </a:solidFill>
                <a:latin typeface="Calibri"/>
              </a:defRPr>
            </a:pPr>
            <a:r>
              <a:t>Aggregator mesh</a:t>
            </a:r>
            <a:br/>
            <a:r>
              <a:t>Uplink WiFi/4G</a:t>
            </a:r>
            <a:br/>
            <a:r>
              <a:t>MQTT broker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000" y="1800000"/>
            <a:ext cx="1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B5FC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04000" y="1368000"/>
            <a:ext cx="1692000" cy="1080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2000" y="1440000"/>
            <a:ext cx="14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PC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2000" y="1764000"/>
            <a:ext cx="14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E5F5"/>
                </a:solidFill>
                <a:latin typeface="Calibri"/>
              </a:defRPr>
            </a:pPr>
            <a:r>
              <a:t>Node-RED</a:t>
            </a:r>
            <a:br/>
            <a:r>
              <a:t>Operator Hub</a:t>
            </a:r>
            <a:br/>
            <a:r>
              <a:t>Backend GraphQL</a:t>
            </a:r>
            <a:br/>
            <a:r>
              <a:t>Inferensi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4000" y="1800000"/>
            <a:ext cx="1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B5FC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6000" y="1368000"/>
            <a:ext cx="1692000" cy="1080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4000" y="1440000"/>
            <a:ext cx="14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4000" y="1764000"/>
            <a:ext cx="147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E5F5"/>
                </a:solidFill>
                <a:latin typeface="Calibri"/>
              </a:defRPr>
            </a:pPr>
            <a:r>
              <a:t>Next.js  MapLibre</a:t>
            </a:r>
            <a:br/>
            <a:r>
              <a:t>Peta, alarm, trend</a:t>
            </a:r>
            <a:br/>
            <a:r>
              <a:t>Health monitoring</a:t>
            </a:r>
            <a:br/>
            <a:r>
              <a:t>CRUD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2520000"/>
            <a:ext cx="10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Komunikasi: LoRa STAR (Node-CH)  |  LoRa MESH (CH-GW)  |  WiFi/4G MQTT (GW-Server)  |  GraphQL (Server-Dashboard)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Kesiapan Sub-Sistem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B"/>
                </a:solidFill>
                <a:latin typeface="Calibri"/>
              </a:defRPr>
            </a:pPr>
            <a:r>
              <a:t>Bobot dan progres per sub-sistem (pilot RU IV Cilacap)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2000"/>
            <a:ext cx="12191695" cy="216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678000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D5EB"/>
                </a:solidFill>
                <a:latin typeface="Calibri"/>
              </a:defRPr>
            </a:pPr>
            <a:r>
              <a:t>GLD V2 — LAPI Ganesha Utama × Lab IoT ITB × Lab Fisika ITB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080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321"/>
                </a:solidFill>
                <a:latin typeface="Calibri"/>
              </a:defRPr>
            </a:pPr>
            <a:r>
              <a:t>Integrasi Sistem (10%)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0" y="1116000"/>
            <a:ext cx="7920000" cy="324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60000" y="1116000"/>
            <a:ext cx="72864000" cy="324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88000" y="1080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68%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566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321"/>
                </a:solidFill>
                <a:latin typeface="Calibri"/>
              </a:defRPr>
            </a:pPr>
            <a:r>
              <a:t>Inisiasi / Desain (10%)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0" y="1602000"/>
            <a:ext cx="7920000" cy="324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60000" y="1602000"/>
            <a:ext cx="75240000" cy="324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88000" y="156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205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321"/>
                </a:solidFill>
                <a:latin typeface="Calibri"/>
              </a:defRPr>
            </a:pPr>
            <a:r>
              <a:t>Jaringan LoRa &amp; CH (20%)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0000" y="2088000"/>
            <a:ext cx="7920000" cy="324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0000" y="2088000"/>
            <a:ext cx="51480000" cy="324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988000" y="2052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5FCB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253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321"/>
                </a:solidFill>
                <a:latin typeface="Calibri"/>
              </a:defRPr>
            </a:pPr>
            <a:r>
              <a:t>Software/Server/Dashboard (13%)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0" y="2574000"/>
            <a:ext cx="7920000" cy="324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60000" y="2574000"/>
            <a:ext cx="45936000" cy="324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988000" y="2538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5FCB"/>
                </a:solidFill>
                <a:latin typeface="Calibri"/>
              </a:defRPr>
            </a:pPr>
            <a:r>
              <a:t>58%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3024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321"/>
                </a:solidFill>
                <a:latin typeface="Calibri"/>
              </a:defRPr>
            </a:pPr>
            <a:r>
              <a:t>AI &amp; Sensor MQ (22%)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60000" y="3060000"/>
            <a:ext cx="7920000" cy="324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60000" y="3060000"/>
            <a:ext cx="41184000" cy="324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88000" y="3024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Calibri"/>
              </a:defRPr>
            </a:pPr>
            <a:r>
              <a:t>55%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3510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321"/>
                </a:solidFill>
                <a:latin typeface="Calibri"/>
              </a:defRPr>
            </a:pPr>
            <a:r>
              <a:t>Catu Daya &amp; Energi (15%)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60000" y="3546000"/>
            <a:ext cx="7920000" cy="324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60000" y="3546000"/>
            <a:ext cx="39600000" cy="324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988000" y="3510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3996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321"/>
                </a:solidFill>
                <a:latin typeface="Calibri"/>
              </a:defRPr>
            </a:pPr>
            <a:r>
              <a:t>Survei RU / HSE (8%)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60000" y="4032000"/>
            <a:ext cx="7920000" cy="324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60000" y="4032000"/>
            <a:ext cx="31680000" cy="324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988000" y="399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000" y="448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321"/>
                </a:solidFill>
                <a:latin typeface="Calibri"/>
              </a:defRPr>
            </a:pPr>
            <a:r>
              <a:t>Chamber / HW / QC (12%)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60000" y="4518000"/>
            <a:ext cx="7920000" cy="324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0000" y="4518000"/>
            <a:ext cx="27720000" cy="324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988000" y="4482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55%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Blocker Kritis &amp;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B"/>
                </a:solidFill>
                <a:latin typeface="Calibri"/>
              </a:defRPr>
            </a:pPr>
            <a:r>
              <a:t>Isu utama yang menahan progres menuju field installation (target Des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2000"/>
            <a:ext cx="12191695" cy="216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678000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D5EB"/>
                </a:solidFill>
                <a:latin typeface="Calibri"/>
              </a:defRPr>
            </a:pPr>
            <a:r>
              <a:t>GLD V2 — LAPI Ganesha Utama × Lab IoT ITB × Lab Fisika ITB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1080000"/>
            <a:ext cx="1728000" cy="1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6000" y="1080000"/>
            <a:ext cx="1728000" cy="28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1098000"/>
            <a:ext cx="15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Autonomi Baterai GLD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1440000"/>
            <a:ext cx="15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Calibri"/>
              </a:defRPr>
            </a:pPr>
            <a:r>
              <a:t>7P (28Ah) = 1,76 hari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692000"/>
            <a:ext cx="158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62321"/>
                </a:solidFill>
                <a:latin typeface="Calibri"/>
              </a:defRPr>
            </a:pPr>
            <a:r>
              <a:t>Target: 30 hari</a:t>
            </a:r>
            <a:br/>
            <a:r>
              <a:t>Draw ON 5,75 W</a:t>
            </a:r>
            <a:br/>
            <a:r>
              <a:t>Solusi: perpanjang OFF ~63 menit</a:t>
            </a:r>
            <a:br/>
            <a:r>
              <a:t>atau optimasi duty-cycle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69999" y="1080000"/>
            <a:ext cx="1728000" cy="1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69999" y="1080000"/>
            <a:ext cx="1728000" cy="28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1999" y="1098000"/>
            <a:ext cx="15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TPL5010 Duty-Cycle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1999" y="1440000"/>
            <a:ext cx="15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Calibri"/>
              </a:defRPr>
            </a:pPr>
            <a:r>
              <a:t>~0,4 V saat "off"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1999" y="1692000"/>
            <a:ext cx="158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62321"/>
                </a:solidFill>
                <a:latin typeface="Calibri"/>
              </a:defRPr>
            </a:pPr>
            <a:r>
              <a:t>Belum memutus daya fully</a:t>
            </a:r>
            <a:br/>
            <a:r>
              <a:t>Masih cuplik data saat sleep</a:t>
            </a:r>
            <a:br/>
            <a:r>
              <a:t>Perlu modifikasi atau ganti timer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23998" y="1080000"/>
            <a:ext cx="1728000" cy="1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23998" y="1080000"/>
            <a:ext cx="1728000" cy="28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95998" y="1098000"/>
            <a:ext cx="15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DC Converter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98" y="1440000"/>
            <a:ext cx="15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t>Arahan ganti 20 Jul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5998" y="1692000"/>
            <a:ext cx="158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62321"/>
                </a:solidFill>
                <a:latin typeface="Calibri"/>
              </a:defRPr>
            </a:pPr>
            <a:r>
              <a:t>Menahan finalisasi catu daya</a:t>
            </a:r>
            <a:br/>
            <a:r>
              <a:t>Perlu modifikasi/penggantian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77997" y="1080000"/>
            <a:ext cx="1728000" cy="1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77997" y="1080000"/>
            <a:ext cx="1728000" cy="28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49997" y="1098000"/>
            <a:ext cx="15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Deploy AI on-device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9997" y="1440000"/>
            <a:ext cx="15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Calibri"/>
              </a:defRPr>
            </a:pPr>
            <a:r>
              <a:t>Kini di PC + emulator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9997" y="1692000"/>
            <a:ext cx="158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62321"/>
                </a:solidFill>
                <a:latin typeface="Calibri"/>
              </a:defRPr>
            </a:pPr>
            <a:r>
              <a:t>Inferensi AI belum jalan di ESP32</a:t>
            </a:r>
            <a:br/>
            <a:r>
              <a:t>Langkah kritis sebelum field 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1996" y="1080000"/>
            <a:ext cx="1728000" cy="1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1996" y="1080000"/>
            <a:ext cx="1728000" cy="28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03996" y="1098000"/>
            <a:ext cx="15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Gate: TRA / JSA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3996" y="1440000"/>
            <a:ext cx="15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Calibri"/>
              </a:defRPr>
            </a:pPr>
            <a:r>
              <a:t>Belum disusun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3996" y="1692000"/>
            <a:ext cx="158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62321"/>
                </a:solidFill>
                <a:latin typeface="Calibri"/>
              </a:defRPr>
            </a:pPr>
            <a:r>
              <a:t>Menahan site survey fisik</a:t>
            </a:r>
            <a:br/>
            <a:r>
              <a:t>RU IV Cilacap</a:t>
            </a:r>
            <a:br/>
            <a:r>
              <a:t>Draft JSA sudah siap (HTML)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2592000"/>
            <a:ext cx="10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  <a:latin typeface="Calibri"/>
              </a:defRPr>
            </a:pPr>
            <a:r>
              <a:t>Jangkauan LoRa per-hop ~100m bukan blocker keras - sudah disiasati mesh multi-hop (8-CH terbukti)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Cakupan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B"/>
                </a:solidFill>
                <a:latin typeface="Calibri"/>
              </a:defRPr>
            </a:pPr>
            <a:r>
              <a:t>6 Refinery Unit  |  Total: 28 sensor, 22 CH, 7 GW, 22 solar CH, 7 solar GW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2000"/>
            <a:ext cx="12191695" cy="216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678000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D5EB"/>
                </a:solidFill>
                <a:latin typeface="Calibri"/>
              </a:defRPr>
            </a:pPr>
            <a:r>
              <a:t>GLD V2 — LAPI Ganesha Utama × Lab IoT ITB × Lab Fisika ITB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080000"/>
          <a:ext cx="1080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440000"/>
                <a:gridCol w="1440000"/>
                <a:gridCol w="1440000"/>
                <a:gridCol w="1440000"/>
                <a:gridCol w="1440000"/>
              </a:tblGrid>
              <a:tr h="18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Refinery Unit</a:t>
                      </a:r>
                    </a:p>
                  </a:txBody>
                  <a:tcPr>
                    <a:solidFill>
                      <a:srgbClr val="2B5F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Lokasi</a:t>
                      </a:r>
                    </a:p>
                  </a:txBody>
                  <a:tcPr>
                    <a:solidFill>
                      <a:srgbClr val="2B5F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Sensor</a:t>
                      </a:r>
                    </a:p>
                  </a:txBody>
                  <a:tcPr>
                    <a:solidFill>
                      <a:srgbClr val="2B5F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</a:t>
                      </a:r>
                    </a:p>
                  </a:txBody>
                  <a:tcPr>
                    <a:solidFill>
                      <a:srgbClr val="2B5F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GW</a:t>
                      </a:r>
                    </a:p>
                  </a:txBody>
                  <a:tcPr>
                    <a:solidFill>
                      <a:srgbClr val="2B5F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Solar CH</a:t>
                      </a:r>
                    </a:p>
                  </a:txBody>
                  <a:tcPr>
                    <a:solidFill>
                      <a:srgbClr val="2B5F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B5FC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RU II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Dumai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Roadmap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RU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Plaju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Roadmap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RU IV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Cilacap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Pilot Aktif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RU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Balikpapan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Roadmap</a:t>
                      </a:r>
                    </a:p>
                  </a:txBody>
                  <a:tcPr/>
                </a:tc>
              </a:tr>
              <a:tr h="18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RU VI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Balongan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Roadmap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RU 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Kasim/Sorong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62321"/>
                          </a:solidFill>
                        </a:defRPr>
                      </a:pPr>
                      <a:r>
                        <a:t>Roadmap / Field Test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2520000"/>
            <a:ext cx="10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Pilot aktif: RU IV Cilacap (3 sensor, 2 CH, 1 GW). Target field installation: Desember 2026. RU VII Kasim butuh 11 CH karena mesh hop.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 /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B"/>
                </a:solidFill>
                <a:latin typeface="Calibri"/>
              </a:defRPr>
            </a:pPr>
            <a:r>
              <a:t>TCN LPG - 8 model per-sensor  |  Dataset GLD-F001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2000"/>
            <a:ext cx="12191695" cy="216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678000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D5EB"/>
                </a:solidFill>
                <a:latin typeface="Calibri"/>
              </a:defRPr>
            </a:pPr>
            <a:r>
              <a:t>GLD V2 — LAPI Ganesha Utama × Lab IoT ITB × Lab Fisika ITB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2160000" cy="126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152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FCB"/>
                </a:solidFill>
                <a:latin typeface="Calibri"/>
              </a:defRPr>
            </a:pPr>
            <a:r>
              <a:t>Dataset 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440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321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262321"/>
                </a:solidFill>
                <a:latin typeface="Calibri"/>
              </a:defRPr>
            </a:pPr>
            <a:r>
              <a:t>• 14.477 sampel, 9 sesi, 4 jenis gas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62321"/>
                </a:solidFill>
                <a:latin typeface="Calibri"/>
              </a:defRPr>
            </a:pPr>
            <a:r>
              <a:t>• 8 kanal MQ (MQ2, MQ3, MQ4, MQ5, MQ6, MQ7, MQ8, MQ135)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62321"/>
                </a:solidFill>
                <a:latin typeface="Calibri"/>
              </a:defRPr>
            </a:pPr>
            <a:r>
              <a:t>• Sesi: Clean Air, LPG (x2), Oksigen, Carbon Dioksida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62321"/>
                </a:solidFill>
                <a:latin typeface="Calibri"/>
              </a:defRPr>
            </a:pPr>
            <a:r>
              <a:t>• ~2,7 jam total recording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62321"/>
                </a:solidFill>
                <a:latin typeface="Calibri"/>
              </a:defRPr>
            </a:pPr>
            <a:r>
              <a:t>• Format: timestamp, wall_time, voltage per MQ channel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0000" y="1080000"/>
            <a:ext cx="1980000" cy="126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8000" y="1152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TCN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8000" y="1440000"/>
            <a:ext cx="1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321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262321"/>
                </a:solidFill>
                <a:latin typeface="Calibri"/>
              </a:defRPr>
            </a:pPr>
            <a:r>
              <a:t>• 8 model univariat, semua &gt;=92%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62321"/>
                </a:solidFill>
                <a:latin typeface="Calibri"/>
              </a:defRPr>
            </a:pPr>
            <a:r>
              <a:t>• Terbaik: MQ4V 93,9% (F1 0,923)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62321"/>
                </a:solidFill>
                <a:latin typeface="Calibri"/>
              </a:defRPr>
            </a:pPr>
            <a:r>
              <a:t>• TFLite int8 ~72 KB per model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62321"/>
                </a:solidFill>
                <a:latin typeface="Calibri"/>
              </a:defRPr>
            </a:pPr>
            <a:r>
              <a:t>• Arsitektur: Temporal Convolutional Network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262321"/>
                </a:solidFill>
                <a:latin typeface="Calibri"/>
              </a:defRPr>
            </a:pPr>
            <a:r>
              <a:t>• Multi-task NN: jenis gas / leak / severity / PPM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520000"/>
            <a:ext cx="10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39C12"/>
                </a:solidFill>
                <a:latin typeface="Calibri"/>
              </a:defRPr>
            </a:pPr>
            <a:r>
              <a:t>Inferensi AI saat ini di PC/laptop + emulator ESP32 - belum on-device. Target: deploy ke ESP32.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Progress Chamber 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B"/>
                </a:solidFill>
                <a:latin typeface="Calibri"/>
              </a:defRPr>
            </a:pPr>
            <a:r>
              <a:t>Per 26 Juli 2026  |  Laporan Progress Chamber 230726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2000"/>
            <a:ext cx="12191695" cy="216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678000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D5EB"/>
                </a:solidFill>
                <a:latin typeface="Calibri"/>
              </a:defRPr>
            </a:pPr>
            <a:r>
              <a:t>GLD V2 — LAPI Ganesha Utama × Lab IoT ITB × Lab Fisika ITB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2520000" cy="136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152000"/>
            <a:ext cx="23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FCB"/>
                </a:solidFill>
                <a:latin typeface="Calibri"/>
              </a:defRPr>
            </a:pPr>
            <a:r>
              <a:t>Fitur Terimplementasi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440000"/>
            <a:ext cx="23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321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defRPr sz="900" b="0">
                <a:solidFill>
                  <a:srgbClr val="262321"/>
                </a:solidFill>
                <a:latin typeface="Calibri"/>
              </a:defRPr>
            </a:pPr>
            <a:r>
              <a:t>✅ Solenoid valve - kontrol aliran gas presisi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262321"/>
                </a:solidFill>
                <a:latin typeface="Calibri"/>
              </a:defRPr>
            </a:pPr>
            <a:r>
              <a:t>✅ Pompa duty-cycle - dinamika udara chamber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262321"/>
                </a:solidFill>
                <a:latin typeface="Calibri"/>
              </a:defRPr>
            </a:pPr>
            <a:r>
              <a:t>✅ BME280 ganda (I2C 0x76/0x77) - suhu, tekanan, kelembapan eksternal &amp; internal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262321"/>
                </a:solidFill>
                <a:latin typeface="Calibri"/>
              </a:defRPr>
            </a:pPr>
            <a:r>
              <a:t>✅ TGS2610 via ADS1115 - deteksi gas, voltage divider 5V-&gt;3,3V (R1=10k, R2=15k)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262321"/>
                </a:solidFill>
                <a:latin typeface="Calibri"/>
              </a:defRPr>
            </a:pPr>
            <a:r>
              <a:t>✅ LM2596 step-down - distribusi 12V-&gt;5V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262321"/>
                </a:solidFill>
                <a:latin typeface="Calibri"/>
              </a:defRPr>
            </a:pPr>
            <a:r>
              <a:t>✅ BTS7960 driver - kontrol motor pompa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262321"/>
                </a:solidFill>
                <a:latin typeface="Calibri"/>
              </a:defRPr>
            </a:pPr>
            <a:r>
              <a:t>✅ Real-time monitoring via serial ESP32 (115200 baud)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0000" y="1080000"/>
            <a:ext cx="1620000" cy="136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8000" y="1152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Rencana Selanjutnya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8000" y="1440000"/>
            <a:ext cx="1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62321"/>
                </a:solidFill>
                <a:latin typeface="Calibri"/>
              </a:defRPr>
            </a:pPr>
          </a:p>
          <a:p>
            <a:pPr algn="l">
              <a:spcBef>
                <a:spcPts val="300"/>
              </a:spcBef>
              <a:defRPr sz="900" b="0">
                <a:solidFill>
                  <a:srgbClr val="262321"/>
                </a:solidFill>
                <a:latin typeface="Calibri"/>
              </a:defRPr>
            </a:pPr>
            <a:r>
              <a:t>◻ Rapikan wiring -&gt; custom PCB layout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62321"/>
                </a:solidFill>
                <a:latin typeface="Calibri"/>
              </a:defRPr>
            </a:pPr>
            <a:r>
              <a:t>◻ Ganti pompa dengan jenis lebih senyap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62321"/>
                </a:solidFill>
                <a:latin typeface="Calibri"/>
              </a:defRPr>
            </a:pPr>
            <a:r>
              <a:t>◻ Pasang rangkaian di dinding belakang chamber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62321"/>
                </a:solidFill>
                <a:latin typeface="Calibri"/>
              </a:defRPr>
            </a:pPr>
            <a:r>
              <a:t>◻ Integrasi dengan sistem uji gas end-to-end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20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Keselamatan &amp; HSE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46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5EB"/>
                </a:solidFill>
                <a:latin typeface="Calibri"/>
              </a:defRPr>
            </a:pPr>
            <a:r>
              <a:t>Draft JSA/HSE RU IV Cilacap  |  Rev 0  |  Belum disahkan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2000"/>
            <a:ext cx="12191695" cy="216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678000"/>
            <a:ext cx="54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D5EB"/>
                </a:solidFill>
                <a:latin typeface="Calibri"/>
              </a:defRPr>
            </a:pPr>
            <a:r>
              <a:t>GLD V2 — LAPI Ganesha Utama × Lab IoT ITB × Lab Fisika ITB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2160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5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1080000"/>
            <a:ext cx="2160000" cy="251999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098000"/>
            <a:ext cx="20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JSA-01: Survei Lapangan &amp; Walkdown 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1440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321"/>
                </a:solidFill>
                <a:latin typeface="Calibri"/>
              </a:defRPr>
            </a:pPr>
            <a:r>
              <a:t>Cold work</a:t>
            </a:r>
            <a:br/>
            <a:r>
              <a:t>Risiko awal 1-4 s.d. 4-5</a:t>
            </a:r>
            <a:br/>
            <a:r>
              <a:t>Residual 1-1 s.d. 2-4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0000" y="1080000"/>
            <a:ext cx="2160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00000" y="1080000"/>
            <a:ext cx="2160000" cy="251999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2000" y="1098000"/>
            <a:ext cx="20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JSA-02: Instalasi CH &amp; Tiang 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8000" y="1440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321"/>
                </a:solidFill>
                <a:latin typeface="Calibri"/>
              </a:defRPr>
            </a:pPr>
            <a:r>
              <a:t>Work-at-height + hot work</a:t>
            </a:r>
            <a:br/>
            <a:r>
              <a:t>Bahaya: jatuh (4-5), spark (4-5)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0000" y="1080000"/>
            <a:ext cx="2160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40000" y="1080000"/>
            <a:ext cx="2160000" cy="251999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2000" y="1098000"/>
            <a:ext cx="20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JSA-03: Pemasangan Sensor &amp; Kabel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1440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321"/>
                </a:solidFill>
                <a:latin typeface="Calibri"/>
              </a:defRPr>
            </a:pPr>
            <a:r>
              <a:t>Cold/energized work</a:t>
            </a:r>
            <a:br/>
            <a:r>
              <a:t>Bahaya: atmosfer eksplosif (4-5)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0000" y="1080000"/>
            <a:ext cx="2160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0000" y="1080000"/>
            <a:ext cx="2160000" cy="251999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000" y="1098000"/>
            <a:ext cx="20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JSA-04: Pengujian Gas &amp; Kalibrasi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000" y="1440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321"/>
                </a:solidFill>
                <a:latin typeface="Calibri"/>
              </a:defRPr>
            </a:pPr>
            <a:r>
              <a:t>Ventilasi, no ignition</a:t>
            </a:r>
            <a:br/>
            <a:r>
              <a:t>Bahaya: tekanan tinggi, bocor (4-5)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2340000"/>
            <a:ext cx="10800000" cy="2880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000" y="2376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321"/>
                </a:solidFill>
                <a:latin typeface="Calibri"/>
              </a:defRPr>
            </a:pPr>
            <a:r>
              <a:t>ERP: 4 skenario darurat (gas leak, fire, fall injury, emergency contact). 4 pihak penandatangan: LGU/ITB  Field Lead  HSE RU IV  Area Authority.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60000"/>
            <a:ext cx="12191695" cy="54000"/>
          </a:xfrm>
          <a:prstGeom prst="rect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60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Rekomendasi &amp; Langkah Selanjutnya</a:t>
            </a:r>
          </a:p>
        </p:txBody>
      </p:sp>
      <p:sp>
        <p:nvSpPr>
          <p:cNvPr id="4" name="Oval 3"/>
          <p:cNvSpPr/>
          <p:nvPr/>
        </p:nvSpPr>
        <p:spPr>
          <a:xfrm>
            <a:off x="540000" y="1512000"/>
            <a:ext cx="360000" cy="360000"/>
          </a:xfrm>
          <a:prstGeom prst="ellipse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548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512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Resolusi Bloker Daya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1692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Prioritaskan modifikasi TPL5010 + ganti DC converter. Target: autonomi GLD mendekati 30 hari.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2052000"/>
            <a:ext cx="360000" cy="360000"/>
          </a:xfrm>
          <a:prstGeom prst="ellipse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2088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2052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Deploy AI on-device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2232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Porting TFLite Micro ke ESP32. Validasi inferensi di perangkat lapangan.</a:t>
            </a:r>
          </a:p>
        </p:txBody>
      </p:sp>
      <p:sp>
        <p:nvSpPr>
          <p:cNvPr id="12" name="Oval 11"/>
          <p:cNvSpPr/>
          <p:nvPr/>
        </p:nvSpPr>
        <p:spPr>
          <a:xfrm>
            <a:off x="540000" y="2592000"/>
            <a:ext cx="360000" cy="360000"/>
          </a:xfrm>
          <a:prstGeom prst="ellipse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" y="2628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2592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PCB Layout Chamber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2772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Rapikan wiring chamber ke custom PCB. Ganti pompa senyap. Mounting dinding.</a:t>
            </a:r>
          </a:p>
        </p:txBody>
      </p:sp>
      <p:sp>
        <p:nvSpPr>
          <p:cNvPr id="16" name="Oval 15"/>
          <p:cNvSpPr/>
          <p:nvPr/>
        </p:nvSpPr>
        <p:spPr>
          <a:xfrm>
            <a:off x="540000" y="3132000"/>
            <a:ext cx="360000" cy="360000"/>
          </a:xfrm>
          <a:prstGeom prst="ellipse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3168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3132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Site Survey RU 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3312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Selesaikan TRA/JSA -&gt; undang Pertamina ke lab -&gt; kunjungan fisik Cilacap.</a:t>
            </a:r>
          </a:p>
        </p:txBody>
      </p:sp>
      <p:sp>
        <p:nvSpPr>
          <p:cNvPr id="20" name="Oval 19"/>
          <p:cNvSpPr/>
          <p:nvPr/>
        </p:nvSpPr>
        <p:spPr>
          <a:xfrm>
            <a:off x="540000" y="3672000"/>
            <a:ext cx="360000" cy="360000"/>
          </a:xfrm>
          <a:prstGeom prst="ellipse">
            <a:avLst/>
          </a:prstGeom>
          <a:solidFill>
            <a:srgbClr val="2B5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3708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000" y="3672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Integration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" y="3852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Finalisasi integrasi GLD-CH-GW-Server + AI on-device + chamber.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5FC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720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0" y="1440000"/>
            <a:ext cx="2160000" cy="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620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FF"/>
                </a:solidFill>
                <a:latin typeface="Calibri"/>
              </a:defRPr>
            </a:pPr>
            <a:r>
              <a:t>Gas Leak Detection (GLD) Tahap 2</a:t>
            </a:r>
            <a:br/>
            <a:r>
              <a:t>Pilot: RU IV Cilacap  |  Target Implementasi: Desember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160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EE"/>
                </a:solidFill>
                <a:latin typeface="Calibri"/>
              </a:defRPr>
            </a:pPr>
            <a:r>
              <a:t>LAPI Ganesha Utama  |  Lab IoT ITB  |  Lab Fisika ITB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340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AADD"/>
                </a:solidFill>
                <a:latin typeface="Calibri"/>
              </a:defRPr>
            </a:pPr>
            <a:r>
              <a:t>PT Pertamina Patra Niaga - Kilang Pertamina Internasional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