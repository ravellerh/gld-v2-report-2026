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3566160"/>
            <a:ext cx="6583680" cy="6583680"/>
          </a:xfrm>
          <a:prstGeom prst="ellipse">
            <a:avLst/>
          </a:prstGeom>
          <a:solidFill>
            <a:srgbClr val="133765"/>
          </a:solidFill>
          <a:ln/>
        </p:spPr>
      </p:sp>
      <p:sp>
        <p:nvSpPr>
          <p:cNvPr id="3" name="Shape 1"/>
          <p:cNvSpPr/>
          <p:nvPr/>
        </p:nvSpPr>
        <p:spPr>
          <a:xfrm>
            <a:off x="10085832" y="4754880"/>
            <a:ext cx="4206240" cy="4206240"/>
          </a:xfrm>
          <a:prstGeom prst="ellipse">
            <a:avLst/>
          </a:prstGeom>
          <a:solidFill>
            <a:srgbClr val="2D64AC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-1463040"/>
            <a:ext cx="2926080" cy="2926080"/>
          </a:xfrm>
          <a:prstGeom prst="ellipse">
            <a:avLst/>
          </a:prstGeom>
          <a:solidFill>
            <a:srgbClr val="2D64AC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C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PROGRES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 Leak Detection (GLD) Tahap 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ATEX/IECEx &amp; Field Testing RU IV Cilacap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38C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206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untuk: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Pertamina Patra Niaga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Disiapkan oleh: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 Ganesha Utama (LGU) &amp; Lab IoT / Fisika ITB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September 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internal — untuk kebutuhan pelaporan progres ke manajemen. Menyajikan progres dan outstanding item apa adanya.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EKSEKUTIF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 Berjalan di Dua Jalur Paralel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teknis (lab) mendahului kesiapan sertifikasi &amp; instalasi lapangan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39112"/>
            <a:ext cx="3453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D6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rekayasa lab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7296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 resmi 43% per 4 Sep (+1 poin, menyusut dari +20 poin/24 Jul). Murni sisi engineering lab — bukan kesiapan lapangan.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67784" y="187452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7784" y="2039112"/>
            <a:ext cx="3453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337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4596384" y="28346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estimasi sertifikasi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96384" y="317296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ATEX/IECEx, aktif berjalan sejak Kick-Off 12 Jun 2026.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6928" y="1874520"/>
            <a:ext cx="3453384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6928" y="2039112"/>
            <a:ext cx="345338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8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415528" y="28346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dalam tahap survey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415528" y="3172968"/>
            <a:ext cx="2996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IV Cilacap: survey lokasi selesai (9–10 Agu); instalasi belum dimulai.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002B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187952"/>
            <a:ext cx="10451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Status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553712"/>
            <a:ext cx="104515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sistem end-to-end GLD → CH → Gateway → Server terbukti di lab/kampus; inferensi AI (CNN Dual-Branch, 99,20%) berjalan on-device di ESP32-S3.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alarm otomatis berhasil diuji pada mesh 8-CH multi-hop se-kampus (6–8 Agustus).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ATEX/IECEx berjalan aktif; sejumlah gate teknis (klasifikasi zona, material enclosure, keamanan baterai) masih terbuka.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RU IV Cilacap: survey lokasi selesai, instalasi fisik &amp; demo end-to-end di lapangan belum dilaksanakan — jadwal menyesuaikan.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— SISI REKAYASA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 Teknis: Sistem Terbukti di Lab &amp; Kampus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rekayasa yang menjadi fondasi field testing RU IV Cilacap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9339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5681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End-to-End Terbukti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26771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→ Cluster Head → Gateway → Server berjalan penuh; inferensi AI kini on-device di ESP32-S3 (dikonfirmasi tim, menyusul verifikasi dokumen tertulis).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277356" y="182880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6478524" y="199339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852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82028" y="195681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AI: CNN Dual-Branch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82028" y="226771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4 kelas (LPG / CO₂ / Udara Bersih / H₂), akurasi 99,20% on-chip (int8, 9,14 KB) — menggantikan model CNN 1D sebelumnya (97,3%).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41071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37413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8-CH Multi-Hop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368503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mesh privat self-healing mencakup seluruh area kampus, mengatasi keterbatasan jangkauan LoRa per-hop; failover Cluster Head berfungsi.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277356" y="324612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8524" y="341071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78524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82028" y="337413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Alarm Teruji (6–8 Agu)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82028" y="368503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mesh kampus: GLD disemprot LPG → server menerima alarm otomatis tanpa pull request — validasi lab, belum di lapangan RU.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482803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53312" y="479145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Gas Portable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510235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Solenoid valve, BME280 ganda, TGS2610 via ADS1115, driver pompa BTS7960 — dibangun untuk pengujian &amp; pelatihan model di luar area proses kilang.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277356" y="4663440"/>
            <a:ext cx="5362956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8524" y="4828032"/>
            <a:ext cx="457200" cy="457200"/>
          </a:xfrm>
          <a:prstGeom prst="ellipse">
            <a:avLst/>
          </a:prstGeom>
          <a:solidFill>
            <a:srgbClr val="2D64A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78524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82028" y="4791456"/>
            <a:ext cx="43571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Mounting v2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082028" y="5102352"/>
            <a:ext cx="43571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CAD U-Bolt (pipa OD 60,3mm/DN50, M10) untuk mounting ke struktur pipa existing — tanpa las/bor, mengikuti referensi standar Emerson.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KAPABILITAS GAS &amp;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Cakupan Deteksi Gas: 4 Kelas Tervalidasi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Pertamina bertambah (6 Agustus) — Benzena, CO, H2S wajib terdeteksi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EAF6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SUDAH TERVALIDASI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(Karbon Dioksida)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Udara Bersih (baseline)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E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(Hidrogen)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E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CNN Dual-Branch, akurasi 99,20% on-device (ESP32-S3, int8).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4572000" cy="0"/>
          </a:xfrm>
          <a:prstGeom prst="line">
            <a:avLst/>
          </a:prstGeom>
          <a:noFill/>
          <a:ln w="12700">
            <a:solidFill>
              <a:srgbClr val="BFE4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 sampel gas — Gas Test Chamber Portable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9194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portable sudah dibangun, dibawa ke kantor kilang (bukan area proses) untuk minimalisir risiko kebocoran — jalur alternatif memperoleh sampel gas dari Pertamina secara langsung.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513832" cy="4114800"/>
          </a:xfrm>
          <a:prstGeom prst="roundRect">
            <a:avLst>
              <a:gd name="adj" fmla="val 1778"/>
            </a:avLst>
          </a:prstGeom>
          <a:solidFill>
            <a:srgbClr val="FCF2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084832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BELUM TERCAKUP — MENUNGGU SAMPEL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514600"/>
            <a:ext cx="48737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(Karbon Monoksida)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35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(Hidrogen Sulfida)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66160"/>
            <a:ext cx="4873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tambahan dari rapat resmi Pertamina, 6 Agustus 2026 (gas toksik: alarm langsung tanpa threshold kebakaran).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4251960"/>
            <a:ext cx="4873752" cy="0"/>
          </a:xfrm>
          <a:prstGeom prst="line">
            <a:avLst/>
          </a:prstGeom>
          <a:noFill/>
          <a:ln w="12700">
            <a:solidFill>
              <a:srgbClr val="F0D9A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389120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konkret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736592"/>
            <a:ext cx="48737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4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Sampel gas (H2S, metana, amonia, dll.) dari Pertamina belum diterima sampai saat ini. LGU aktif mencari suplier alternatif di Bandung — masih sulit didapat, akan lebih cepat bila Pertamina dapat menyediakan langsung.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ATEX / IECEX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Sertifikasi Berjalan, 5 Gate Teknis Terbuka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sejak Kick-Off 12 Jun 2026 · estimasi total 5–8 bulan · lab uji China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002B5F"/>
          </a:solidFill>
          <a:ln/>
        </p:spPr>
      </p:sp>
      <p:sp>
        <p:nvSpPr>
          <p:cNvPr id="6" name="Shape 4"/>
          <p:cNvSpPr/>
          <p:nvPr/>
        </p:nvSpPr>
        <p:spPr>
          <a:xfrm>
            <a:off x="1776679" y="2020824"/>
            <a:ext cx="201168" cy="201168"/>
          </a:xfrm>
          <a:prstGeom prst="ellipse">
            <a:avLst/>
          </a:prstGeom>
          <a:solidFill>
            <a:srgbClr val="1CD8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7847" y="2121408"/>
            <a:ext cx="1907438" cy="0"/>
          </a:xfrm>
          <a:prstGeom prst="line">
            <a:avLst/>
          </a:prstGeom>
          <a:noFill/>
          <a:ln w="15875">
            <a:solidFill>
              <a:srgbClr val="5A7C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Jun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5286" y="2020824"/>
            <a:ext cx="201168" cy="201168"/>
          </a:xfrm>
          <a:prstGeom prst="ellipse">
            <a:avLst/>
          </a:prstGeom>
          <a:solidFill>
            <a:srgbClr val="1CD8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86454" y="2121408"/>
            <a:ext cx="1907438" cy="0"/>
          </a:xfrm>
          <a:prstGeom prst="line">
            <a:avLst/>
          </a:prstGeom>
          <a:noFill/>
          <a:ln w="15875">
            <a:solidFill>
              <a:srgbClr val="5A7C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7286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Sertifikasi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(RAB Rp2,1M)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93892" y="2020824"/>
            <a:ext cx="201168" cy="201168"/>
          </a:xfrm>
          <a:prstGeom prst="ellipse">
            <a:avLst/>
          </a:prstGeom>
          <a:solidFill>
            <a:srgbClr val="1CD8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5060" y="2121408"/>
            <a:ext cx="1907438" cy="0"/>
          </a:xfrm>
          <a:prstGeom prst="line">
            <a:avLst/>
          </a:prstGeom>
          <a:noFill/>
          <a:ln w="15875">
            <a:solidFill>
              <a:srgbClr val="5A7C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5893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02498" y="2020824"/>
            <a:ext cx="201168" cy="201168"/>
          </a:xfrm>
          <a:prstGeom prst="ellipse">
            <a:avLst/>
          </a:prstGeom>
          <a:solidFill>
            <a:srgbClr val="5A7CA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3666" y="2121408"/>
            <a:ext cx="1907438" cy="0"/>
          </a:xfrm>
          <a:prstGeom prst="line">
            <a:avLst/>
          </a:prstGeom>
          <a:noFill/>
          <a:ln w="15875">
            <a:solidFill>
              <a:srgbClr val="5A7C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94499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Pengajuan Lab Uji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(China)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211105" y="2020824"/>
            <a:ext cx="201168" cy="201168"/>
          </a:xfrm>
          <a:prstGeom prst="ellipse">
            <a:avLst/>
          </a:prstGeom>
          <a:solidFill>
            <a:srgbClr val="5A7CA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03106" y="2322576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ATEX/IECEx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63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lapangan (notulen 1 Sep): pembahasan desain enclosure Ex-proof, topologi Gateway (safe area/LAN), dan catu daya. Material enclosure mengarah ke Aluminum alloy + Stainless steel (grade spesifik belum ditentukan).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Teknis Sertifikasi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50792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CEF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05079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gate:atex-scoping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880360" y="405079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ditentukan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4050792"/>
            <a:ext cx="6976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1 / Kategori 2G / Grup II / T4 (≤135°C) sudah ditargetkan eksplisit di proposal sertifikasi resmi. Masih terbuka: grup gas spesifik (rekomendasi tim: IIC, krn H₂ salah satu dari 4 kelas gas model AI) &amp; metode proteksi (Ex i/Ex d) — belum keputusan notified body.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690872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4F7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690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gate:cert-height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6908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4690872"/>
            <a:ext cx="6976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kilang baru dicoba setinggi orang; belum tersertifikasi untuk instalasi permanen di ketinggian.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166360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4F7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1663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gate:ch-batt-safety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880360" y="51663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5166360"/>
            <a:ext cx="6976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Baterai Li-ion 18650 pada Cluster Head dan Node Sensor GLD belum diverifikasi sertifikasi Ex (sel/BMS).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641848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4F7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31520" y="56418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gate:solar-cert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880360" y="56418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480560" y="5641848"/>
            <a:ext cx="6976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solar panel Cluster Head untuk area hazardous belum disourcing.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6117336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F4F7F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" y="61173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gate:bracket-tools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2880360" y="61173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480560" y="6117336"/>
            <a:ext cx="6976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tools/fastener bracket GLD &amp; CH belum ditentukan.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C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 IV Cilacap: Survey Selesai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9–10 Agustus 2026 — instalasi fisik belum dimulai, status apa adanya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Kunjungan 9–10 Agustus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lokasi selesai. Instalasi fisik &amp; demo end-to-end belum dilaksanakan.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demo terjadwal (belum dijalankan):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292608" cy="292608"/>
          </a:xfrm>
          <a:prstGeom prst="ellipse">
            <a:avLst/>
          </a:prstGeom>
          <a:solidFill>
            <a:srgbClr val="D7DEE8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29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49624"/>
            <a:ext cx="292608" cy="292608"/>
          </a:xfrm>
          <a:prstGeom prst="ellipse">
            <a:avLst/>
          </a:prstGeom>
          <a:solidFill>
            <a:srgbClr val="D7DEE8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49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Gateway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270248"/>
            <a:ext cx="292608" cy="292608"/>
          </a:xfrm>
          <a:prstGeom prst="ellipse">
            <a:avLst/>
          </a:prstGeom>
          <a:solidFill>
            <a:srgbClr val="D7DEE8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270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Cluster Head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690872"/>
            <a:ext cx="292608" cy="292608"/>
          </a:xfrm>
          <a:prstGeom prst="ellipse">
            <a:avLst/>
          </a:prstGeom>
          <a:solidFill>
            <a:srgbClr val="D7DEE8"/>
          </a:solidFill>
          <a:ln w="12700">
            <a:solidFill>
              <a:srgbClr val="9FB0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690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GLD 24V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2486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instalasi aktual: menyesuaikan (belum ditentukan ulang).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874520"/>
            <a:ext cx="5605272" cy="1874520"/>
          </a:xfrm>
          <a:prstGeom prst="roundRect">
            <a:avLst>
              <a:gd name="adj" fmla="val 3902"/>
            </a:avLst>
          </a:prstGeom>
          <a:solidFill>
            <a:srgbClr val="002B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2011680"/>
            <a:ext cx="5056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Server (disiapkan)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377440"/>
            <a:ext cx="50566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dedicated LGU dekat Gateway, MQTT broker sendiri via router LGU di lokasi.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Dual-homed ke intranet kantor kilang (NIC kedua) untuk akses dashboard.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Tambahan, bukan pengganti, rencana server/VM Pertamina — relasi keduanya masih diklarifikasi.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035040" y="3931920"/>
            <a:ext cx="5605272" cy="2057400"/>
          </a:xfrm>
          <a:prstGeom prst="roundRect">
            <a:avLst>
              <a:gd name="adj" fmla="val 3556"/>
            </a:avLst>
          </a:prstGeom>
          <a:solidFill>
            <a:srgbClr val="FCF2E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4096512"/>
            <a:ext cx="5056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8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Terbuka — Field Testing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443984"/>
            <a:ext cx="50566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gate:jsa — TRA/JSA belum disusun, menahan eksekusi site survey/instalasi fisik lanjutan.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Jaringan field GLD↔server berjalan independen (router LGU sendiri) — tidak perlu registrasi ke IT kilang.</a:t>
            </a:r>
            <a:endParaRPr lang="en-US" sz="98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7A4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gate:dashboard-exposure — keamanan akses dashboard ke LAN kantor kilang belum direview.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Detection System — LAPI Ganesha Utama x Lab IoT/Fisika ITB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7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548640" y="457200"/><a:ext cx="7315200" cy="320040"/></a:xfrm><a:prstGeom prst="rect"><a:avLst></a:avLst></a:prstGeom><a:noFill/><a:ln></a:ln></p:spPr><p:txBody><a:bodyPr wrap="square" rtlCol="0" anchor="ctr"></a:bodyPr><a:lstStyle/><a:p><a:pPr indent="0" marL="0"><a:buNone/></a:pPr><a:r><a:rPr lang="en-US" sz="1200" b="1" spc="200" kern="0" dirty="0"><a:solidFill><a:srgbClr val="38C0EF"/></a:solidFill><a:latin typeface="Calibri" pitchFamily="34" charset="0"/><a:ea typeface="Calibri" pitchFamily="34" charset="-122"/><a:cs typeface="Calibri" pitchFamily="34" charset="-120"/></a:rPr><a:t>OUTSTANDING &amp; KOLABORASI LAIN</a:t></a:r><a:endParaRPr lang="en-US" sz="1200" dirty="0"/></a:p></p:txBody></p:sp><p:sp><p:nvSpPr><p:cNvPr id="3" name="Text 1"></p:cNvPr><p:cNvSpPr txBox="1"/><p:nvPr></p:nvPr></p:nvSpPr><p:spPr><a:xfrm><a:off x="548640" y="749808"/><a:ext cx="11091672" cy="640080"/></a:xfrm><a:prstGeom prst="rect"><a:avLst></a:avLst></a:prstGeom><a:noFill/><a:ln></a:ln></p:spPr><p:txBody><a:bodyPr wrap="square" rtlCol="0" anchor="ctr"></a:bodyPr><a:lstStyle/><a:p><a:pPr indent="0" marL="0"><a:buNone/></a:pPr><a:r><a:rPr lang="en-US" sz="3000" b="1" dirty="0"><a:solidFill><a:srgbClr val="002B5F"/></a:solidFill><a:latin typeface="Cambria" pitchFamily="34" charset="0"/><a:ea typeface="Cambria" pitchFamily="34" charset="-122"/><a:cs typeface="Cambria" pitchFamily="34" charset="-120"/></a:rPr><a:t>Ringkasan Outstanding Item</a:t></a:r><a:endParaRPr lang="en-US" sz="3000" dirty="0"/></a:p></p:txBody></p:sp><p:sp><p:nvSpPr><p:cNvPr id="4" name="Text 2"></p:cNvPr><p:cNvSpPr txBox="1"/><p:nvPr></p:nvPr></p:nvSpPr><p:spPr><a:xfrm><a:off x="548640" y="1298448"/><a:ext cx="11091672" cy="365760"/></a:xfrm><a:prstGeom prst="rect"><a:avLst></a:avLst></a:prstGeom><a:noFill/><a:ln></a:ln></p:spPr><p:txBody><a:bodyPr wrap="square" rtlCol="0" anchor="ctr"></a:bodyPr><a:lstStyle/><a:p><a:pPr indent="0" marL="0"><a:buNone/></a:pPr><a:r><a:rPr lang="en-US" sz="1400" dirty="0"><a:solidFill><a:srgbClr val="5B6B82"/></a:solidFill><a:latin typeface="Calibri" pitchFamily="34" charset="0"/><a:ea typeface="Calibri" pitchFamily="34" charset="-122"/><a:cs typeface="Calibri" pitchFamily="34" charset="-120"/></a:rPr><a:t>Seluruh gate ditampilkan apa adanya, termasuk yang belum ada jawaban dari Pertamina</a:t></a:r><a:endParaRPr lang="en-US" sz="1400" dirty="0"/></a:p></p:txBody></p:sp><p:sp><p:nvSpPr><p:cNvPr id="5" name="Shape 3"></p:cNvPr><p:cNvSpPr/><p:nvPr></p:nvPr></p:nvSpPr><p:spPr><a:xfrm><a:off x="548640" y="1874520"/><a:ext cx="11091672" cy="365760"/></a:xfrm><a:prstGeom prst="rect"><a:avLst></a:avLst></a:prstGeom><a:solidFill><a:srgbClr val="002B5F"/></a:solidFill><a:ln></a:ln></p:spPr></p:sp><p:sp><p:nvSpPr><p:cNvPr id="6" name="Text 4"></p:cNvPr><p:cNvSpPr txBox="1"/><p:nvPr></p:nvPr></p:nvSpPr><p:spPr><a:xfrm><a:off x="685800" y="1874520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50" b="1" dirty="0"><a:solidFill><a:srgbClr val="FFFFFF"/></a:solidFill><a:latin typeface="Calibri" pitchFamily="34" charset="0"/><a:ea typeface="Calibri" pitchFamily="34" charset="-122"/><a:cs typeface="Calibri" pitchFamily="34" charset="-120"/></a:rPr><a:t>Gate</a:t></a:r><a:endParaRPr lang="en-US" sz="1050" dirty="0"/></a:p></p:txBody></p:sp><p:sp><p:nvSpPr><p:cNvPr id="7" name="Text 5"></p:cNvPr><p:cNvSpPr txBox="1"/><p:nvPr></p:nvPr></p:nvSpPr><p:spPr><a:xfrm><a:off x="3977640" y="1874520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50" b="1" dirty="0"><a:solidFill><a:srgbClr val="FFFFFF"/></a:solidFill><a:latin typeface="Calibri" pitchFamily="34" charset="0"/><a:ea typeface="Calibri" pitchFamily="34" charset="-122"/><a:cs typeface="Calibri" pitchFamily="34" charset="-120"/></a:rPr><a:t>Kategori</a:t></a:r><a:endParaRPr lang="en-US" sz="1050" dirty="0"/></a:p></p:txBody></p:sp><p:sp><p:nvSpPr><p:cNvPr id="8" name="Text 6"></p:cNvPr><p:cNvSpPr txBox="1"/><p:nvPr></p:nvPr></p:nvSpPr><p:spPr><a:xfrm><a:off x="6720840" y="1874520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50" b="1" dirty="0"><a:solidFill><a:srgbClr val="FFFFFF"/></a:solidFill><a:latin typeface="Calibri" pitchFamily="34" charset="0"/><a:ea typeface="Calibri" pitchFamily="34" charset="-122"/><a:cs typeface="Calibri" pitchFamily="34" charset="-120"/></a:rPr><a:t>Status</a:t></a:r><a:endParaRPr lang="en-US" sz="1050" dirty="0"/></a:p></p:txBody></p:sp><p:sp><p:nvSpPr><p:cNvPr id="9" name="Shape 7"></p:cNvPr><p:cNvSpPr/><p:nvPr></p:nvPr></p:nvSpPr><p:spPr><a:xfrm><a:off x="548640" y="2267712"/><a:ext cx="11091672" cy="365760"/></a:xfrm><a:prstGeom prst="rect"><a:avLst></a:avLst></a:prstGeom><a:solidFill><a:srgbClr val="FFFFFF"/></a:solidFill><a:ln></a:ln></p:spPr></p:sp><p:sp><p:nvSpPr><p:cNvPr id="10" name="Text 8"></p:cNvPr><p:cNvSpPr txBox="1"/><p:nvPr></p:nvPr></p:nvSpPr><p:spPr><a:xfrm><a:off x="685800" y="2267712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002B5F"/></a:solidFill><a:latin typeface="Calibri" pitchFamily="34" charset="0"/><a:ea typeface="Calibri" pitchFamily="34" charset="-122"/><a:cs typeface="Calibri" pitchFamily="34" charset="-120"/></a:rPr><a:t>gate:atex-scoping</a:t></a:r><a:endParaRPr lang="en-US" sz="1000" dirty="0"/></a:p></p:txBody></p:sp><p:sp><p:nvSpPr><p:cNvPr id="11" name="Text 9"></p:cNvPr><p:cNvSpPr txBox="1"/><p:nvPr></p:nvPr></p:nvSpPr><p:spPr><a:xfrm><a:off x="3977640" y="2267712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Sertifikasi</a:t></a:r><a:endParaRPr lang="en-US" sz="1000" dirty="0"/></a:p></p:txBody></p:sp><p:sp><p:nvSpPr><p:cNvPr id="12" name="Text 10"></p:cNvPr><p:cNvSpPr txBox="1"/><p:nvPr></p:nvPr></p:nvSpPr><p:spPr><a:xfrm><a:off x="6720840" y="2267712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Zona/kelas suhu ditargetkan; grup gas & proteksi terbuka</a:t></a:r><a:endParaRPr lang="en-US" sz="1000" dirty="0"/></a:p></p:txBody></p:sp><p:sp><p:nvSpPr><p:cNvPr id="13" name="Shape 11"></p:cNvPr><p:cNvSpPr/><p:nvPr></p:nvPr></p:nvSpPr><p:spPr><a:xfrm><a:off x="548640" y="2660904"/><a:ext cx="11091672" cy="365760"/></a:xfrm><a:prstGeom prst="rect"><a:avLst></a:avLst></a:prstGeom><a:solidFill><a:srgbClr val="F4F7FB"/></a:solidFill><a:ln></a:ln></p:spPr></p:sp><p:sp><p:nvSpPr><p:cNvPr id="14" name="Text 12"></p:cNvPr><p:cNvSpPr txBox="1"/><p:nvPr></p:nvPr></p:nvSpPr><p:spPr><a:xfrm><a:off x="685800" y="2660904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002B5F"/></a:solidFill><a:latin typeface="Calibri" pitchFamily="34" charset="0"/><a:ea typeface="Calibri" pitchFamily="34" charset="-122"/><a:cs typeface="Calibri" pitchFamily="34" charset="-120"/></a:rPr><a:t>gate:gas-extra</a:t></a:r><a:endParaRPr lang="en-US" sz="1000" dirty="0"/></a:p></p:txBody></p:sp><p:sp><p:nvSpPr><p:cNvPr id="15" name="Text 13"></p:cNvPr><p:cNvSpPr txBox="1"/><p:nvPr></p:nvPr></p:nvSpPr><p:spPr><a:xfrm><a:off x="3977640" y="2660904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Kapabilitas Gas</a:t></a:r><a:endParaRPr lang="en-US" sz="1000" dirty="0"/></a:p></p:txBody></p:sp><p:sp><p:nvSpPr><p:cNvPr id="16" name="Text 14"></p:cNvPr><p:cNvSpPr txBox="1"/><p:nvPr></p:nvPr></p:nvSpPr><p:spPr><a:xfrm><a:off x="6720840" y="2660904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Menunggu sampel Benzena/CO/H2S</a:t></a:r><a:endParaRPr lang="en-US" sz="1000" dirty="0"/></a:p></p:txBody></p:sp><p:sp><p:nvSpPr><p:cNvPr id="17" name="Shape 15"></p:cNvPr><p:cNvSpPr/><p:nvPr></p:nvPr></p:nvSpPr><p:spPr><a:xfrm><a:off x="548640" y="3054096"/><a:ext cx="11091672" cy="365760"/></a:xfrm><a:prstGeom prst="rect"><a:avLst></a:avLst></a:prstGeom><a:solidFill><a:srgbClr val="FFFFFF"/></a:solidFill><a:ln></a:ln></p:spPr></p:sp><p:sp><p:nvSpPr><p:cNvPr id="18" name="Text 16"></p:cNvPr><p:cNvSpPr txBox="1"/><p:nvPr></p:nvPr></p:nvSpPr><p:spPr><a:xfrm><a:off x="685800" y="3054096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002B5F"/></a:solidFill><a:latin typeface="Calibri" pitchFamily="34" charset="0"/><a:ea typeface="Calibri" pitchFamily="34" charset="-122"/><a:cs typeface="Calibri" pitchFamily="34" charset="-120"/></a:rPr><a:t>gate:cert-height</a:t></a:r><a:endParaRPr lang="en-US" sz="1000" dirty="0"/></a:p></p:txBody></p:sp><p:sp><p:nvSpPr><p:cNvPr id="19" name="Text 17"></p:cNvPr><p:cNvSpPr txBox="1"/><p:nvPr></p:nvPr></p:nvSpPr><p:spPr><a:xfrm><a:off x="3977640" y="3054096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Sertifikasi</a:t></a:r><a:endParaRPr lang="en-US" sz="1000" dirty="0"/></a:p></p:txBody></p:sp><p:sp><p:nvSpPr><p:cNvPr id="20" name="Text 18"></p:cNvPr><p:cNvSpPr txBox="1"/><p:nvPr></p:nvPr></p:nvSpPr><p:spPr><a:xfrm><a:off x="6720840" y="3054096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Instalasi tinggi belum tersertifikasi</a:t></a:r><a:endParaRPr lang="en-US" sz="1000" dirty="0"/></a:p></p:txBody></p:sp><p:sp><p:nvSpPr><p:cNvPr id="21" name="Shape 19"></p:cNvPr><p:cNvSpPr/><p:nvPr></p:nvPr></p:nvSpPr><p:spPr><a:xfrm><a:off x="548640" y="3447288"/><a:ext cx="11091672" cy="365760"/></a:xfrm><a:prstGeom prst="rect"><a:avLst></a:avLst></a:prstGeom><a:solidFill><a:srgbClr val="F4F7FB"/></a:solidFill><a:ln></a:ln></p:spPr></p:sp><p:sp><p:nvSpPr><p:cNvPr id="22" name="Text 20"></p:cNvPr><p:cNvSpPr txBox="1"/><p:nvPr></p:nvPr></p:nvSpPr><p:spPr><a:xfrm><a:off x="685800" y="3447288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002B5F"/></a:solidFill><a:latin typeface="Calibri" pitchFamily="34" charset="0"/><a:ea typeface="Calibri" pitchFamily="34" charset="-122"/><a:cs typeface="Calibri" pitchFamily="34" charset="-120"/></a:rPr><a:t>gate:ch-batt-safety</a:t></a:r><a:endParaRPr lang="en-US" sz="1000" dirty="0"/></a:p></p:txBody></p:sp><p:sp><p:nvSpPr><p:cNvPr id="23" name="Text 21"></p:cNvPr><p:cNvSpPr txBox="1"/><p:nvPr></p:nvPr></p:nvSpPr><p:spPr><a:xfrm><a:off x="3977640" y="3447288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Sertifikasi</a:t></a:r><a:endParaRPr lang="en-US" sz="1000" dirty="0"/></a:p></p:txBody></p:sp><p:sp><p:nvSpPr><p:cNvPr id="24" name="Text 22"></p:cNvPr><p:cNvSpPr txBox="1"/><p:nvPr></p:nvPr></p:nvSpPr><p:spPr><a:xfrm><a:off x="6720840" y="3447288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Baterai CH &amp; Node Sensor belum Ex-verified</a:t></a:r><a:endParaRPr lang="en-US" sz="1000" dirty="0"/></a:p></p:txBody></p:sp><p:sp><p:nvSpPr><p:cNvPr id="25" name="Shape 23"></p:cNvPr><p:cNvSpPr/><p:nvPr></p:nvPr></p:nvSpPr><p:spPr><a:xfrm><a:off x="548640" y="3840480"/><a:ext cx="11091672" cy="365760"/></a:xfrm><a:prstGeom prst="rect"><a:avLst></a:avLst></a:prstGeom><a:solidFill><a:srgbClr val="FFFFFF"/></a:solidFill><a:ln></a:ln></p:spPr></p:sp><p:sp><p:nvSpPr><p:cNvPr id="26" name="Text 24"></p:cNvPr><p:cNvSpPr txBox="1"/><p:nvPr></p:nvPr></p:nvSpPr><p:spPr><a:xfrm><a:off x="685800" y="3840480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002B5F"/></a:solidFill><a:latin typeface="Calibri" pitchFamily="34" charset="0"/><a:ea typeface="Calibri" pitchFamily="34" charset="-122"/><a:cs typeface="Calibri" pitchFamily="34" charset="-120"/></a:rPr><a:t>gate:jsa</a:t></a:r><a:endParaRPr lang="en-US" sz="1000" dirty="0"/></a:p></p:txBody></p:sp><p:sp><p:nvSpPr><p:cNvPr id="27" name="Text 25"></p:cNvPr><p:cNvSpPr txBox="1"/><p:nvPr></p:nvPr></p:nvSpPr><p:spPr><a:xfrm><a:off x="3977640" y="3840480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Field Testing</a:t></a:r><a:endParaRPr lang="en-US" sz="1000" dirty="0"/></a:p></p:txBody></p:sp><p:sp><p:nvSpPr><p:cNvPr id="28" name="Text 26"></p:cNvPr><p:cNvSpPr txBox="1"/><p:nvPr></p:nvPr></p:nvSpPr><p:spPr><a:xfrm><a:off x="6720840" y="3840480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TRA/JSA belum disusun</a:t></a:r><a:endParaRPr lang="en-US" sz="1000" dirty="0"/></a:p></p:txBody></p:sp><p:sp><p:nvSpPr><p:cNvPr id="29" name="Shape 27"></p:cNvPr><p:cNvSpPr/><p:nvPr></p:nvPr></p:nvSpPr><p:spPr><a:xfrm><a:off x="548640" y="4233672"/><a:ext cx="11091672" cy="365760"/></a:xfrm><a:prstGeom prst="rect"><a:avLst></a:avLst></a:prstGeom><a:solidFill><a:srgbClr val="F4F7FB"/></a:solidFill><a:ln></a:ln></p:spPr></p:sp><p:sp><p:nvSpPr><p:cNvPr id="30" name="Text 28"></p:cNvPr><p:cNvSpPr txBox="1"/><p:nvPr></p:nvPr></p:nvSpPr><p:spPr><a:xfrm><a:off x="685800" y="4233672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002B5F"/></a:solidFill><a:latin typeface="Calibri" pitchFamily="34" charset="0"/><a:ea typeface="Calibri" pitchFamily="34" charset="-122"/><a:cs typeface="Calibri" pitchFamily="34" charset="-120"/></a:rPr><a:t>gate:net-registration</a:t></a:r><a:endParaRPr lang="en-US" sz="1000" dirty="0"/></a:p></p:txBody></p:sp><p:sp><p:nvSpPr><p:cNvPr id="31" name="Text 29"></p:cNvPr><p:cNvSpPr txBox="1"/><p:nvPr></p:nvPr></p:nvSpPr><p:spPr><a:xfrm><a:off x="3977640" y="4233672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Field Testing</a:t></a:r><a:endParaRPr lang="en-US" sz="1000" dirty="0"/></a:p></p:txBody></p:sp><p:sp><p:nvSpPr><p:cNvPr id="32" name="Text 30"></p:cNvPr><p:cNvSpPr txBox="1"/><p:nvPr></p:nvPr></p:nvSpPr><p:spPr><a:xfrm><a:off x="6720840" y="4233672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Selesai — jaringan field independen (LGU)</a:t></a:r><a:endParaRPr lang="en-US" sz="1000" dirty="0"/></a:p></p:txBody></p:sp><p:sp><p:nvSpPr><p:cNvPr id="33" name="Shape 31"></p:cNvPr><p:cNvSpPr/><p:nvPr></p:nvPr></p:nvSpPr><p:spPr><a:xfrm><a:off x="548640" y="4626864"/><a:ext cx="11091672" cy="365760"/></a:xfrm><a:prstGeom prst="rect"><a:avLst></a:avLst></a:prstGeom><a:solidFill><a:srgbClr val="FFFFFF"/></a:solidFill><a:ln></a:ln></p:spPr></p:sp><p:sp><p:nvSpPr><p:cNvPr id="34" name="Text 32"></p:cNvPr><p:cNvSpPr txBox="1"/><p:nvPr></p:nvPr></p:nvSpPr><p:spPr><a:xfrm><a:off x="685800" y="4626864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002B5F"/></a:solidFill><a:latin typeface="Calibri" pitchFamily="34" charset="0"/><a:ea typeface="Calibri" pitchFamily="34" charset="-122"/><a:cs typeface="Calibri" pitchFamily="34" charset="-120"/></a:rPr><a:t>gate:server-spec</a:t></a:r><a:endParaRPr lang="en-US" sz="1000" dirty="0"/></a:p></p:txBody></p:sp><p:sp><p:nvSpPr><p:cNvPr id="35" name="Text 33"></p:cNvPr><p:cNvSpPr txBox="1"/><p:nvPr></p:nvPr></p:nvSpPr><p:spPr><a:xfrm><a:off x="3977640" y="4626864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Field Testing</a:t></a:r><a:endParaRPr lang="en-US" sz="1000" dirty="0"/></a:p></p:txBody></p:sp><p:sp><p:nvSpPr><p:cNvPr id="36" name="Text 34"></p:cNvPr><p:cNvSpPr txBox="1"/><p:nvPr></p:nvPr></p:nvSpPr><p:spPr><a:xfrm><a:off x="6720840" y="4626864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Menunggu pengadaan PC fisik (bukan lagi soal jaringan)</a:t></a:r><a:endParaRPr lang="en-US" sz="1000" dirty="0"/></a:p></p:txBody></p:sp><p:sp><p:nvSpPr><p:cNvPr id="37" name="Shape 35"></p:cNvPr><p:cNvSpPr/><p:nvPr></p:nvPr></p:nvSpPr><p:spPr><a:xfrm><a:off x="548640" y="5020056"/><a:ext cx="11091672" cy="365760"/></a:xfrm><a:prstGeom prst="rect"><a:avLst></a:avLst></a:prstGeom><a:solidFill><a:srgbClr val="F4F7FB"/></a:solidFill><a:ln></a:ln></p:spPr></p:sp><p:sp><p:nvSpPr><p:cNvPr id="38" name="Text 36"></p:cNvPr><p:cNvSpPr txBox="1"/><p:nvPr></p:nvPr></p:nvSpPr><p:spPr><a:xfrm><a:off x="685800" y="5020056"/><a:ext cx="315468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002B5F"/></a:solidFill><a:latin typeface="Calibri" pitchFamily="34" charset="0"/><a:ea typeface="Calibri" pitchFamily="34" charset="-122"/><a:cs typeface="Calibri" pitchFamily="34" charset="-120"/></a:rPr><a:t>gate:solar-cert / bracket-tools</a:t></a:r><a:endParaRPr lang="en-US" sz="1000" dirty="0"/></a:p></p:txBody></p:sp><p:sp><p:nvSpPr><p:cNvPr id="39" name="Text 37"></p:cNvPr><p:cNvSpPr txBox="1"/><p:nvPr></p:nvPr></p:nvSpPr><p:spPr><a:xfrm><a:off x="3977640" y="5020056"/><a:ext cx="2606040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Sertifikasi</a:t></a:r><a:endParaRPr lang="en-US" sz="1000" dirty="0"/></a:p></p:txBody></p:sp><p:sp><p:nvSpPr><p:cNvPr id="40" name="Text 38"></p:cNvPr><p:cNvSpPr txBox="1"/><p:nvPr></p:nvPr></p:nvSpPr><p:spPr><a:xfrm><a:off x="6720840" y="5020056"/><a:ext cx="4919472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000" dirty="0"><a:solidFill><a:srgbClr val="1A1F2B"/></a:solidFill><a:latin typeface="Calibri" pitchFamily="34" charset="0"/><a:ea typeface="Calibri" pitchFamily="34" charset="-122"/><a:cs typeface="Calibri" pitchFamily="34" charset="-120"/></a:rPr><a:t>Belum disourcing / ditentukan</a:t></a:r><a:endParaRPr lang="en-US" sz="1000" dirty="0"/></a:p></p:txBody></p:sp><p:sp><p:nvSpPr><p:cNvPr id="41" name="Shape 39"></p:cNvPr><p:cNvSpPr/><p:nvPr></p:nvPr></p:nvSpPr><p:spPr><a:xfrm><a:off x="548640" y="5550408"/><a:ext cx="11091672" cy="1051560"/></a:xfrm><a:prstGeom prst="roundRect"><a:avLst><a:gd name="adj" fmla="val 6087"/></a:avLst></a:prstGeom><a:solidFill><a:srgbClr val="EAF1FB"/></a:solidFill><a:ln></a:ln></p:spPr></p:sp><p:sp><p:nvSpPr><p:cNvPr id="42" name="Text 40"></p:cNvPr><p:cNvSpPr txBox="1"/><p:nvPr></p:nvPr></p:nvSpPr><p:spPr><a:xfrm><a:off x="822960" y="5669280"/><a:ext cx="10543032" cy="274320"/></a:xfrm><a:prstGeom prst="rect"><a:avLst></a:avLst></a:prstGeom><a:noFill/><a:ln></a:ln></p:spPr><p:txBody><a:bodyPr wrap="square" rtlCol="0" anchor="ctr"></a:bodyPr><a:lstStyle/><a:p><a:pPr indent="0" marL="0"><a:buNone/></a:pPr><a:r><a:rPr lang="en-US" sz="1200" b="1" dirty="0"><a:solidFill><a:srgbClr val="002B5F"/></a:solidFill><a:latin typeface="Calibri" pitchFamily="34" charset="0"/><a:ea typeface="Calibri" pitchFamily="34" charset="-122"/><a:cs typeface="Calibri" pitchFamily="34" charset="-120"/></a:rPr><a:t>Kolaborasi Field Test — RU VII Kasim/Sorong</a:t></a:r><a:endParaRPr lang="en-US" sz="1200" dirty="0"/></a:p></p:txBody></p:sp><p:sp><p:nvSpPr><p:cNvPr id="43" name="Text 41"></p:cNvPr><p:cNvSpPr txBox="1"/><p:nvPr></p:nvPr></p:nvSpPr><p:spPr><a:xfrm><a:off x="822960" y="5961888"/><a:ext cx="10543032" cy="548640"/></a:xfrm><a:prstGeom prst="rect"><a:avLst></a:avLst></a:prstGeom><a:noFill/><a:ln></a:ln></p:spPr><p:txBody><a:bodyPr wrap="square" rtlCol="0" anchor="ctr"></a:bodyPr><a:lstStyle/><a:p><a:pPr indent="0" marL="0"><a:buNone/></a:pPr><a:r><a:rPr lang="en-US" sz="1050" dirty="0"><a:solidFill><a:srgbClr val="5B6B82"/></a:solidFill><a:latin typeface="Calibri" pitchFamily="34" charset="0"/><a:ea typeface="Calibri" pitchFamily="34" charset="-122"/><a:cs typeface="Calibri" pitchFamily="34" charset="-120"/></a:rPr><a:t>Kolaborasi field test berjalan paralel di RU VII Kasim/Sorong, dengan target implementasi Desember 2026 — sejalan dengan target implementasi program 9 bulan secara keseluruhan.</a:t></a:r><a:endParaRPr lang="en-US" sz="1050" dirty="0"/></a:p></p:txBody></p:sp><p:sp><p:nvSpPr><p:cNvPr id="44" name="Text 42"></p:cNvPr><p:cNvSpPr/><p:nvPr></p:nvPr></p:nvSpPr><p:spPr><a:xfrm><a:off x="548640" y="6510528"/><a:ext cx="8229600" cy="274320"/></a:xfrm><a:prstGeom prst="rect"><a:avLst></a:avLst></a:prstGeom><a:noFill/><a:ln></a:ln></p:spPr><p:txBody><a:bodyPr wrap="square" rtlCol="0" anchor="ctr"></a:bodyPr><a:lstStyle/><a:p><a:pPr indent="0" marL="0"><a:buNone/></a:pPr><a:r><a:rPr lang="en-US" sz="900" dirty="0"><a:solidFill><a:srgbClr val="5B6B82"/></a:solidFill><a:latin typeface="Calibri" pitchFamily="34" charset="0"/><a:ea typeface="Calibri" pitchFamily="34" charset="-122"/><a:cs typeface="Calibri" pitchFamily="34" charset="-120"/></a:rPr><a:t>Gas Leak Detection System — LAPI Ganesha Utama x Lab IoT/Fisika ITB</a:t></a:r><a:endParaRPr lang="en-US" sz="900" dirty="0"/></a:p></p:txBody></p:sp><p:sp><p:nvSpPr><p:cNvPr id="45" name="Text 43"></p:cNvPr><p:cNvSpPr/><p:nvPr></p:nvPr></p:nvSpPr><p:spPr><a:xfrm><a:off x="11091672" y="6510528"/><a:ext cx="54864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B6B82"/></a:solidFill><a:latin typeface="Calibri" pitchFamily="34" charset="0"/><a:ea typeface="Calibri" pitchFamily="34" charset="-122"/><a:cs typeface="Calibri" pitchFamily="34" charset="-120"/></a:rPr><a:t>7</a:t></a:r><a:endParaRPr lang="en-US" sz="900" dirty="0"/></a:p></p:txBody></p:sp></p:spTree></p:cSld><p:clrMapOvr><a:masterClrMapping/></p:clrMapOvr>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3931920"/>
            <a:ext cx="5852160" cy="5852160"/>
          </a:xfrm>
          <a:prstGeom prst="ellipse">
            <a:avLst/>
          </a:prstGeom>
          <a:solidFill>
            <a:srgbClr val="133765"/>
          </a:solidFill>
          <a:ln/>
        </p:spPr>
      </p:sp>
      <p:sp>
        <p:nvSpPr>
          <p:cNvPr id="3" name="Shape 1"/>
          <p:cNvSpPr/>
          <p:nvPr/>
        </p:nvSpPr>
        <p:spPr>
          <a:xfrm>
            <a:off x="10634472" y="-1554480"/>
            <a:ext cx="3108960" cy="3108960"/>
          </a:xfrm>
          <a:prstGeom prst="ellipse">
            <a:avLst/>
          </a:prstGeom>
          <a:solidFill>
            <a:srgbClr val="2D64AC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SELANJUTNYA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 Berikutnya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01952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kelompok gas, kelas suhu, dan klasifikasi zona (gate:atex-scoping) sebagai prasyarat lingkup pengujian ATEX/IECEx.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60320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Mempercepat sourcing sampel gas Benzena/CO/H2S — melanjutkan pencarian suplier Bandung, terbuka untuk penyediaan langsung dari Pertamina.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18688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TRA/JSA untuk membuka eksekusi instalasi fisik lanjutan di RU IV Cilacap.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77056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Menjadwalkan ulang kunjungan instalasi RU IV Cilacap (server → Gateway → Cluster Head → GLD 24V).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347472" cy="347472"/>
          </a:xfrm>
          <a:prstGeom prst="ellipse">
            <a:avLst/>
          </a:prstGeom>
          <a:solidFill>
            <a:srgbClr val="38C0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535424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Menindaklanjuti konfirmasi Pertamina atas pengadaan PC fisik &amp; keamanan akses dashboard (server-spec, dashboard-exposure) — jaringan field sendiri sudah beres.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3E5A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kasih. Tim GLD siap mendiskusikan detail lebih lanjut sesuai kebutuhan.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 Ganesha Utama (LGU) x Lab IoT/Fisika ITB — Gas Leak Detection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LGU x ITB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Progres GLD — Sertifikasi &amp; Field Testing</dc:title>
  <dc:subject>PptxGenJS Presentation</dc:subject>
  <dc:creator>LAPI Ganesha Utama (LGU) &amp; Lab IoT/Fisika ITB</dc:creator>
  <cp:lastModifiedBy>LAPI Ganesha Utama (LGU) &amp; Lab IoT/Fisika ITB</cp:lastModifiedBy>
  <cp:revision>1</cp:revision>
  <dcterms:created xsi:type="dcterms:W3CDTF">2026-09-04T08:48:15Z</dcterms:created>
  <dcterms:modified xsi:type="dcterms:W3CDTF">2026-09-04T08:48:15Z</dcterms:modified>
</cp:coreProperties>
</file>