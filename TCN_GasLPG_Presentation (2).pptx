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6" r:id="rId9"/>
    <p:sldId id="267" r:id="rId10"/>
    <p:sldId id="269" r:id="rId11"/>
    <p:sldId id="262" r:id="rId12"/>
    <p:sldId id="263" r:id="rId13"/>
    <p:sldId id="265" r:id="rId14"/>
    <p:sldId id="268" r:id="rId15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ID" sz="1200" b="0" i="0" u="none" strike="noStrike">
                <a:solidFill>
                  <a:srgbClr val="FFFFFF"/>
                </a:solidFill>
                <a:latin typeface="Arial"/>
              </a:rPr>
              <a:t>Loss per Epoch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Sheet1!$A$2:$A$41</c:f>
              <c:strCache>
                <c:ptCount val="4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strCache>
            </c:strRef>
          </c:cat>
          <c:val>
            <c:numRef>
              <c:f>Sheet1!$B$2:$B$41</c:f>
              <c:numCache>
                <c:formatCode>General</c:formatCode>
                <c:ptCount val="40"/>
                <c:pt idx="0">
                  <c:v>0.74399999999999999</c:v>
                </c:pt>
                <c:pt idx="1">
                  <c:v>0.69199999999999995</c:v>
                </c:pt>
                <c:pt idx="2">
                  <c:v>0.63600000000000001</c:v>
                </c:pt>
                <c:pt idx="3">
                  <c:v>0.58799999999999997</c:v>
                </c:pt>
                <c:pt idx="4">
                  <c:v>0.56100000000000005</c:v>
                </c:pt>
                <c:pt idx="5">
                  <c:v>0.52</c:v>
                </c:pt>
                <c:pt idx="6">
                  <c:v>0.48299999999999998</c:v>
                </c:pt>
                <c:pt idx="7">
                  <c:v>0.45300000000000001</c:v>
                </c:pt>
                <c:pt idx="8">
                  <c:v>0.41599999999999998</c:v>
                </c:pt>
                <c:pt idx="9">
                  <c:v>0.39100000000000001</c:v>
                </c:pt>
                <c:pt idx="10">
                  <c:v>0.36599999999999999</c:v>
                </c:pt>
                <c:pt idx="11">
                  <c:v>0.35399999999999998</c:v>
                </c:pt>
                <c:pt idx="12">
                  <c:v>0.33100000000000002</c:v>
                </c:pt>
                <c:pt idx="13">
                  <c:v>0.30199999999999999</c:v>
                </c:pt>
                <c:pt idx="14">
                  <c:v>0.29099999999999998</c:v>
                </c:pt>
                <c:pt idx="15">
                  <c:v>0.26900000000000002</c:v>
                </c:pt>
                <c:pt idx="16">
                  <c:v>0.26600000000000001</c:v>
                </c:pt>
                <c:pt idx="17">
                  <c:v>0.24399999999999999</c:v>
                </c:pt>
                <c:pt idx="18">
                  <c:v>0.23599999999999999</c:v>
                </c:pt>
                <c:pt idx="19">
                  <c:v>0.22800000000000001</c:v>
                </c:pt>
                <c:pt idx="20">
                  <c:v>0.20399999999999999</c:v>
                </c:pt>
                <c:pt idx="21">
                  <c:v>0.19400000000000001</c:v>
                </c:pt>
                <c:pt idx="22">
                  <c:v>0.19700000000000001</c:v>
                </c:pt>
                <c:pt idx="23">
                  <c:v>0.188</c:v>
                </c:pt>
                <c:pt idx="24">
                  <c:v>0.17599999999999999</c:v>
                </c:pt>
                <c:pt idx="25">
                  <c:v>0.161</c:v>
                </c:pt>
                <c:pt idx="26">
                  <c:v>0.155</c:v>
                </c:pt>
                <c:pt idx="27">
                  <c:v>0.15</c:v>
                </c:pt>
                <c:pt idx="28">
                  <c:v>0.14899999999999999</c:v>
                </c:pt>
                <c:pt idx="29">
                  <c:v>0.14099999999999999</c:v>
                </c:pt>
                <c:pt idx="30">
                  <c:v>0.13300000000000001</c:v>
                </c:pt>
                <c:pt idx="31">
                  <c:v>0.13800000000000001</c:v>
                </c:pt>
                <c:pt idx="32">
                  <c:v>0.13400000000000001</c:v>
                </c:pt>
                <c:pt idx="33">
                  <c:v>0.127</c:v>
                </c:pt>
                <c:pt idx="34">
                  <c:v>0.13</c:v>
                </c:pt>
                <c:pt idx="35">
                  <c:v>0.127</c:v>
                </c:pt>
                <c:pt idx="36">
                  <c:v>0.126</c:v>
                </c:pt>
                <c:pt idx="37">
                  <c:v>0.11899999999999999</c:v>
                </c:pt>
                <c:pt idx="38">
                  <c:v>0.111</c:v>
                </c:pt>
                <c:pt idx="39">
                  <c:v>0.115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4B3-4D98-9A0F-5723824ED94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ln w="31750" cap="flat">
              <a:solidFill>
                <a:srgbClr val="EF476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F476F"/>
              </a:solidFill>
              <a:ln w="9525" cap="flat">
                <a:solidFill>
                  <a:srgbClr val="EF476F"/>
                </a:solidFill>
                <a:prstDash val="solid"/>
                <a:round/>
              </a:ln>
              <a:effectLst/>
            </c:spPr>
          </c:marker>
          <c:cat>
            <c:strRef>
              <c:f>Sheet1!$A$2:$A$41</c:f>
              <c:strCache>
                <c:ptCount val="4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</c:strCache>
            </c:strRef>
          </c:cat>
          <c:val>
            <c:numRef>
              <c:f>Sheet1!$C$2:$C$41</c:f>
              <c:numCache>
                <c:formatCode>General</c:formatCode>
                <c:ptCount val="40"/>
                <c:pt idx="0">
                  <c:v>0.70599999999999996</c:v>
                </c:pt>
                <c:pt idx="1">
                  <c:v>0.65900000000000003</c:v>
                </c:pt>
                <c:pt idx="2">
                  <c:v>0.64</c:v>
                </c:pt>
                <c:pt idx="3">
                  <c:v>0.59399999999999997</c:v>
                </c:pt>
                <c:pt idx="4">
                  <c:v>0.56799999999999995</c:v>
                </c:pt>
                <c:pt idx="5">
                  <c:v>0.53</c:v>
                </c:pt>
                <c:pt idx="6">
                  <c:v>0.496</c:v>
                </c:pt>
                <c:pt idx="7">
                  <c:v>0.46800000000000003</c:v>
                </c:pt>
                <c:pt idx="8">
                  <c:v>0.45300000000000001</c:v>
                </c:pt>
                <c:pt idx="9">
                  <c:v>0.432</c:v>
                </c:pt>
                <c:pt idx="10">
                  <c:v>0.39700000000000002</c:v>
                </c:pt>
                <c:pt idx="11">
                  <c:v>0.38200000000000001</c:v>
                </c:pt>
                <c:pt idx="12">
                  <c:v>0.36699999999999999</c:v>
                </c:pt>
                <c:pt idx="13">
                  <c:v>0.34399999999999997</c:v>
                </c:pt>
                <c:pt idx="14">
                  <c:v>0.33700000000000002</c:v>
                </c:pt>
                <c:pt idx="15">
                  <c:v>0.31900000000000001</c:v>
                </c:pt>
                <c:pt idx="16">
                  <c:v>0.31</c:v>
                </c:pt>
                <c:pt idx="17">
                  <c:v>0.28899999999999998</c:v>
                </c:pt>
                <c:pt idx="18">
                  <c:v>0.27400000000000002</c:v>
                </c:pt>
                <c:pt idx="19">
                  <c:v>0.27400000000000002</c:v>
                </c:pt>
                <c:pt idx="20">
                  <c:v>0.25600000000000001</c:v>
                </c:pt>
                <c:pt idx="21">
                  <c:v>0.24</c:v>
                </c:pt>
                <c:pt idx="22">
                  <c:v>0.24</c:v>
                </c:pt>
                <c:pt idx="23">
                  <c:v>0.224</c:v>
                </c:pt>
                <c:pt idx="24">
                  <c:v>0.216</c:v>
                </c:pt>
                <c:pt idx="25">
                  <c:v>0.22</c:v>
                </c:pt>
                <c:pt idx="26">
                  <c:v>0.21099999999999999</c:v>
                </c:pt>
                <c:pt idx="27">
                  <c:v>0.20599999999999999</c:v>
                </c:pt>
                <c:pt idx="28">
                  <c:v>0.191</c:v>
                </c:pt>
                <c:pt idx="29">
                  <c:v>0.191</c:v>
                </c:pt>
                <c:pt idx="30">
                  <c:v>0.17100000000000001</c:v>
                </c:pt>
                <c:pt idx="31">
                  <c:v>0.17100000000000001</c:v>
                </c:pt>
                <c:pt idx="32">
                  <c:v>0.16500000000000001</c:v>
                </c:pt>
                <c:pt idx="33">
                  <c:v>0.16200000000000001</c:v>
                </c:pt>
                <c:pt idx="34">
                  <c:v>0.159</c:v>
                </c:pt>
                <c:pt idx="35">
                  <c:v>0.159</c:v>
                </c:pt>
                <c:pt idx="36">
                  <c:v>0.161</c:v>
                </c:pt>
                <c:pt idx="37">
                  <c:v>0.14699999999999999</c:v>
                </c:pt>
                <c:pt idx="38">
                  <c:v>0.159</c:v>
                </c:pt>
                <c:pt idx="39">
                  <c:v>0.153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44B3-4D98-9A0F-5723824ED9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FC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B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F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1228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8BAF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9E1-4C34-8B51-D1BB0CA07370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9E1-4C34-8B51-D1BB0CA0737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Baseline Naif</c:v>
                </c:pt>
                <c:pt idx="1">
                  <c:v>TCN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0.85</c:v>
                </c:pt>
                <c:pt idx="1">
                  <c:v>0.93500000000000005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9E1-4C34-8B51-D1BB0CA0737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AFC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228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158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CBE5C-03C6-552D-E9F5-9CB6C06EC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35DA52-2F42-2716-2951-5B66D66D77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8B5E3-349F-E28D-88D3-6352349D7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016D96-4325-FFB3-7764-86F9477721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1783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B901C-9FF8-60D8-F3E2-B30E11D0A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B6FAA-1E2C-0A10-38E2-EE1E34023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6B3C77-22B8-9CD0-0CFA-C38D5E4D2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DD0BA-A97A-82EE-99A2-3CF64108FF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4840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26618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0949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6257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12134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00148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325983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375760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70856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9376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1490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93932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2880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3202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2286000" cy="347472"/>
          </a:xfrm>
          <a:prstGeom prst="roundRect">
            <a:avLst>
              <a:gd name="adj" fmla="val 13158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Lab IoT · ITB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0" b="1" kern="0" spc="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TCN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LPG Early Warning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Convolutional Network untuk prediksi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8BA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kebocoran gas 5 detik sebelum terjadi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3,234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4279392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4"/>
                </a:solidFill>
              </a:rPr>
              <a:t>data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384048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2560320" y="38404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8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60320" y="4279392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4"/>
                </a:solidFill>
              </a:rPr>
              <a:t>sensor MQ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63440" y="384048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4663440" y="384048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5 det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63440" y="4279392"/>
            <a:ext cx="1920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4"/>
                </a:solidFill>
              </a:rPr>
              <a:t>prediksi ke depan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 yang Dipecahkan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1B3A5C"/>
          </a:solidFill>
          <a:ln w="254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0972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600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76F"/>
                </a:solidFill>
              </a:rPr>
              <a:t>Tanpa AI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94360" y="2148840"/>
            <a:ext cx="256032" cy="256032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960120" y="212140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hanya bisa deteksi saat gas SUDAH bocor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2807208"/>
            <a:ext cx="256032" cy="256032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6"/>
          <p:cNvSpPr/>
          <p:nvPr/>
        </p:nvSpPr>
        <p:spPr>
          <a:xfrm>
            <a:off x="960120" y="277977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peringatan dini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94360" y="3465576"/>
            <a:ext cx="256032" cy="256032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960120" y="343814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 terlambat merespons</a:t>
            </a:r>
            <a:endParaRPr lang="en-US" sz="12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286000"/>
            <a:ext cx="411480" cy="4114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892040" y="960120"/>
            <a:ext cx="3931920" cy="3474720"/>
          </a:xfrm>
          <a:prstGeom prst="roundRect">
            <a:avLst>
              <a:gd name="adj" fmla="val 3947"/>
            </a:avLst>
          </a:prstGeom>
          <a:solidFill>
            <a:srgbClr val="1B3A5C"/>
          </a:solidFill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0972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92040" y="16002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D6A0"/>
                </a:solidFill>
              </a:rPr>
              <a:t>Dengan TCN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5120640" y="2148840"/>
            <a:ext cx="256032" cy="25603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2"/>
          <p:cNvSpPr/>
          <p:nvPr/>
        </p:nvSpPr>
        <p:spPr>
          <a:xfrm>
            <a:off x="548640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gas bocor 5 detik sebelumnya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120640" y="2807208"/>
            <a:ext cx="256032" cy="25603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4"/>
          <p:cNvSpPr/>
          <p:nvPr/>
        </p:nvSpPr>
        <p:spPr>
          <a:xfrm>
            <a:off x="5486400" y="277977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Peringatan lebih awal = waktu respons lebih banyak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120640" y="3465576"/>
            <a:ext cx="256032" cy="25603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6"/>
          <p:cNvSpPr/>
          <p:nvPr/>
        </p:nvSpPr>
        <p:spPr>
          <a:xfrm>
            <a:off x="5486400" y="343814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ringan — bisa jalan di ESP32-S3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365760" y="466344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0B4D8"/>
                </a:solidFill>
              </a:rPr>
              <a:t>Task: Klasifikasi  clean_air  /  lpg_detected  5 detik ke depan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&amp; Sensor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960120"/>
            <a:ext cx="1005840" cy="868680"/>
          </a:xfrm>
          <a:prstGeom prst="roundRect">
            <a:avLst>
              <a:gd name="adj" fmla="val 10526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MQ135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371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FC4"/>
                </a:solidFill>
              </a:rPr>
              <a:t>CO₂/NH₃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399032" y="960120"/>
            <a:ext cx="1005840" cy="868680"/>
          </a:xfrm>
          <a:prstGeom prst="roundRect">
            <a:avLst>
              <a:gd name="adj" fmla="val 10526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1399032" y="1005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MQ2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99032" y="1371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FC4"/>
                </a:solidFill>
              </a:rPr>
              <a:t>LPG/Gas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78024" y="960120"/>
            <a:ext cx="1005840" cy="868680"/>
          </a:xfrm>
          <a:prstGeom prst="roundRect">
            <a:avLst>
              <a:gd name="adj" fmla="val 10526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2478024" y="1005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MQ3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78024" y="1371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FC4"/>
                </a:solidFill>
              </a:rPr>
              <a:t>Alkohol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57016" y="960120"/>
            <a:ext cx="1005840" cy="868680"/>
          </a:xfrm>
          <a:prstGeom prst="roundRect">
            <a:avLst>
              <a:gd name="adj" fmla="val 10526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3557016" y="10058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MQ4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57016" y="137160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FC4"/>
                </a:solidFill>
              </a:rPr>
              <a:t>CH₄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" y="1965960"/>
            <a:ext cx="1005840" cy="868680"/>
          </a:xfrm>
          <a:prstGeom prst="roundRect">
            <a:avLst>
              <a:gd name="adj" fmla="val 10526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320040" y="20116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MQ7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" y="23774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FC4"/>
                </a:solidFill>
              </a:rPr>
              <a:t>CO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399032" y="1965960"/>
            <a:ext cx="1005840" cy="868680"/>
          </a:xfrm>
          <a:prstGeom prst="roundRect">
            <a:avLst>
              <a:gd name="adj" fmla="val 10526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1399032" y="20116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MQ5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99032" y="23774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FC4"/>
                </a:solidFill>
              </a:rPr>
              <a:t>LPG/Propana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78024" y="1965960"/>
            <a:ext cx="1005840" cy="868680"/>
          </a:xfrm>
          <a:prstGeom prst="roundRect">
            <a:avLst>
              <a:gd name="adj" fmla="val 10526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2478024" y="20116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MQ6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78024" y="23774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FC4"/>
                </a:solidFill>
              </a:rPr>
              <a:t>LPG/Butana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57016" y="1965960"/>
            <a:ext cx="1005840" cy="868680"/>
          </a:xfrm>
          <a:prstGeom prst="roundRect">
            <a:avLst>
              <a:gd name="adj" fmla="val 10526"/>
            </a:avLst>
          </a:prstGeom>
          <a:solidFill>
            <a:srgbClr val="1B3A5C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Text 23"/>
          <p:cNvSpPr/>
          <p:nvPr/>
        </p:nvSpPr>
        <p:spPr>
          <a:xfrm>
            <a:off x="3557016" y="201168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MQ8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57016" y="23774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AFC4"/>
                </a:solidFill>
              </a:rPr>
              <a:t>H₂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663440" y="7315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AFC4"/>
                </a:solidFill>
              </a:rPr>
              <a:t>Pembagian Data (urutan waktu)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051560"/>
            <a:ext cx="288036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7"/>
          <p:cNvSpPr/>
          <p:nvPr/>
        </p:nvSpPr>
        <p:spPr>
          <a:xfrm>
            <a:off x="7543800" y="1051560"/>
            <a:ext cx="617220" cy="47548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Shape 28"/>
          <p:cNvSpPr/>
          <p:nvPr/>
        </p:nvSpPr>
        <p:spPr>
          <a:xfrm>
            <a:off x="8161020" y="1051560"/>
            <a:ext cx="617220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4663440" y="105156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Train 70%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543800" y="1051560"/>
            <a:ext cx="6172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Val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15%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161020" y="1051560"/>
            <a:ext cx="6172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Test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15%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1828800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122840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Text 33"/>
          <p:cNvSpPr/>
          <p:nvPr/>
        </p:nvSpPr>
        <p:spPr>
          <a:xfrm>
            <a:off x="4754880" y="182880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166"/>
                </a:solidFill>
              </a:rPr>
              <a:t>3,234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06440" y="182880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total baris data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2423160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122840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36"/>
          <p:cNvSpPr/>
          <p:nvPr/>
        </p:nvSpPr>
        <p:spPr>
          <a:xfrm>
            <a:off x="4754880" y="242316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166"/>
                </a:solidFill>
              </a:rPr>
              <a:t>2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806440" y="242316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label: clean_air / lpg_detected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663440" y="3017520"/>
            <a:ext cx="4114800" cy="475488"/>
          </a:xfrm>
          <a:prstGeom prst="roundRect">
            <a:avLst>
              <a:gd name="adj" fmla="val 13462"/>
            </a:avLst>
          </a:prstGeom>
          <a:solidFill>
            <a:srgbClr val="122840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" name="Text 39"/>
          <p:cNvSpPr/>
          <p:nvPr/>
        </p:nvSpPr>
        <p:spPr>
          <a:xfrm>
            <a:off x="4754880" y="301752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D166"/>
                </a:solidFill>
              </a:rPr>
              <a:t>1 Hz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806440" y="3017520"/>
            <a:ext cx="2834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</a:rPr>
              <a:t>sampling rate sensor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 Model Membaca Data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6092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736092" y="146304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106424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1106424" y="146304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3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476756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1476756" y="146304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847088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1847088" y="146304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17420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Shape 12"/>
          <p:cNvSpPr/>
          <p:nvPr/>
        </p:nvSpPr>
        <p:spPr>
          <a:xfrm>
            <a:off x="2587752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Shape 13"/>
          <p:cNvSpPr/>
          <p:nvPr/>
        </p:nvSpPr>
        <p:spPr>
          <a:xfrm>
            <a:off x="2958084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Shape 14"/>
          <p:cNvSpPr/>
          <p:nvPr/>
        </p:nvSpPr>
        <p:spPr>
          <a:xfrm>
            <a:off x="3328416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Shape 15"/>
          <p:cNvSpPr/>
          <p:nvPr/>
        </p:nvSpPr>
        <p:spPr>
          <a:xfrm>
            <a:off x="3698748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Shape 16"/>
          <p:cNvSpPr/>
          <p:nvPr/>
        </p:nvSpPr>
        <p:spPr>
          <a:xfrm>
            <a:off x="4069080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Shape 17"/>
          <p:cNvSpPr/>
          <p:nvPr/>
        </p:nvSpPr>
        <p:spPr>
          <a:xfrm>
            <a:off x="4439412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Shape 18"/>
          <p:cNvSpPr/>
          <p:nvPr/>
        </p:nvSpPr>
        <p:spPr>
          <a:xfrm>
            <a:off x="4809744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Shape 19"/>
          <p:cNvSpPr/>
          <p:nvPr/>
        </p:nvSpPr>
        <p:spPr>
          <a:xfrm>
            <a:off x="5180076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Shape 20"/>
          <p:cNvSpPr/>
          <p:nvPr/>
        </p:nvSpPr>
        <p:spPr>
          <a:xfrm>
            <a:off x="5550408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3" name="Text 21"/>
          <p:cNvSpPr/>
          <p:nvPr/>
        </p:nvSpPr>
        <p:spPr>
          <a:xfrm>
            <a:off x="5550408" y="146304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15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920740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1B3A5C">
              <a:alpha val="50000"/>
            </a:srgbClr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5" name="Shape 23"/>
          <p:cNvSpPr/>
          <p:nvPr/>
        </p:nvSpPr>
        <p:spPr>
          <a:xfrm>
            <a:off x="6291072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1B3A5C">
              <a:alpha val="50000"/>
            </a:srgbClr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Shape 24"/>
          <p:cNvSpPr/>
          <p:nvPr/>
        </p:nvSpPr>
        <p:spPr>
          <a:xfrm>
            <a:off x="6661404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1B3A5C">
              <a:alpha val="50000"/>
            </a:srgbClr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Shape 25"/>
          <p:cNvSpPr/>
          <p:nvPr/>
        </p:nvSpPr>
        <p:spPr>
          <a:xfrm>
            <a:off x="7031736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1B3A5C">
              <a:alpha val="50000"/>
            </a:srgbClr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Shape 26"/>
          <p:cNvSpPr/>
          <p:nvPr/>
        </p:nvSpPr>
        <p:spPr>
          <a:xfrm>
            <a:off x="7402068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1B3A5C">
              <a:alpha val="50000"/>
            </a:srgbClr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7402068" y="146304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20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7772400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Shape 29"/>
          <p:cNvSpPr/>
          <p:nvPr/>
        </p:nvSpPr>
        <p:spPr>
          <a:xfrm>
            <a:off x="8142732" y="1463040"/>
            <a:ext cx="347472" cy="502920"/>
          </a:xfrm>
          <a:prstGeom prst="roundRect">
            <a:avLst>
              <a:gd name="adj" fmla="val 10526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30"/>
          <p:cNvSpPr/>
          <p:nvPr/>
        </p:nvSpPr>
        <p:spPr>
          <a:xfrm>
            <a:off x="8142732" y="1463040"/>
            <a:ext cx="347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22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217420" y="1463040"/>
            <a:ext cx="694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D1B2A"/>
                </a:solidFill>
              </a:rPr>
              <a:t>···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5760" y="2029968"/>
            <a:ext cx="55549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Input: 15 detik lalu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89520" y="20299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</a:rPr>
              <a:t>Prediksi: detik ke-21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05906" y="1709928"/>
            <a:ext cx="1645920" cy="0"/>
          </a:xfrm>
          <a:prstGeom prst="line">
            <a:avLst/>
          </a:prstGeom>
          <a:noFill/>
          <a:ln w="19050">
            <a:solidFill>
              <a:srgbClr val="8BAFC4"/>
            </a:solidFill>
            <a:prstDash val="dash"/>
          </a:ln>
        </p:spPr>
        <p:txBody>
          <a:bodyPr/>
          <a:lstStyle/>
          <a:p>
            <a:endParaRPr lang="en-ID"/>
          </a:p>
        </p:txBody>
      </p:sp>
      <p:sp>
        <p:nvSpPr>
          <p:cNvPr id="37" name="Shape 35"/>
          <p:cNvSpPr/>
          <p:nvPr/>
        </p:nvSpPr>
        <p:spPr>
          <a:xfrm>
            <a:off x="365760" y="29260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Text 36"/>
          <p:cNvSpPr/>
          <p:nvPr/>
        </p:nvSpPr>
        <p:spPr>
          <a:xfrm>
            <a:off x="365760" y="30358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15 detik riwayat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34747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melihat data 8 sensor selama 15 detik terakhir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1840" y="29260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" name="Text 39"/>
          <p:cNvSpPr/>
          <p:nvPr/>
        </p:nvSpPr>
        <p:spPr>
          <a:xfrm>
            <a:off x="3291840" y="30358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</a:rPr>
              <a:t>+5 detik ke depan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429000" y="34747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memprediksi kondisi gas 5 detik setelah window berakhir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17920" y="292608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B3A5C"/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Text 42"/>
          <p:cNvSpPr/>
          <p:nvPr/>
        </p:nvSpPr>
        <p:spPr>
          <a:xfrm>
            <a:off x="6217920" y="303580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</a:rPr>
              <a:t>Tidak lintas sesi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6355080" y="34747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tidak boleh menyeberangi sesi pengukuran yang berbeda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TCN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365760" y="2487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Cara kerja Dilated Convolution: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" y="28803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</a:rPr>
              <a:t>Dilasi 1 — melihat 3 titik berurutan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8803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Shape 27"/>
          <p:cNvSpPr/>
          <p:nvPr/>
        </p:nvSpPr>
        <p:spPr>
          <a:xfrm>
            <a:off x="4828032" y="28803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Shape 28"/>
          <p:cNvSpPr/>
          <p:nvPr/>
        </p:nvSpPr>
        <p:spPr>
          <a:xfrm>
            <a:off x="5084064" y="28803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Shape 29"/>
          <p:cNvSpPr/>
          <p:nvPr/>
        </p:nvSpPr>
        <p:spPr>
          <a:xfrm>
            <a:off x="5340096" y="28803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Shape 30"/>
          <p:cNvSpPr/>
          <p:nvPr/>
        </p:nvSpPr>
        <p:spPr>
          <a:xfrm>
            <a:off x="5596128" y="28803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Shape 31"/>
          <p:cNvSpPr/>
          <p:nvPr/>
        </p:nvSpPr>
        <p:spPr>
          <a:xfrm>
            <a:off x="5852160" y="28803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Shape 32"/>
          <p:cNvSpPr/>
          <p:nvPr/>
        </p:nvSpPr>
        <p:spPr>
          <a:xfrm>
            <a:off x="6108192" y="28803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Shape 33"/>
          <p:cNvSpPr/>
          <p:nvPr/>
        </p:nvSpPr>
        <p:spPr>
          <a:xfrm>
            <a:off x="6364224" y="28803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Shape 34"/>
          <p:cNvSpPr/>
          <p:nvPr/>
        </p:nvSpPr>
        <p:spPr>
          <a:xfrm>
            <a:off x="6620256" y="28803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7" name="Shape 35"/>
          <p:cNvSpPr/>
          <p:nvPr/>
        </p:nvSpPr>
        <p:spPr>
          <a:xfrm>
            <a:off x="6876288" y="28803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8" name="Shape 36"/>
          <p:cNvSpPr/>
          <p:nvPr/>
        </p:nvSpPr>
        <p:spPr>
          <a:xfrm>
            <a:off x="7132320" y="28803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9" name="Shape 37"/>
          <p:cNvSpPr/>
          <p:nvPr/>
        </p:nvSpPr>
        <p:spPr>
          <a:xfrm>
            <a:off x="7388352" y="28803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0" name="Shape 38"/>
          <p:cNvSpPr/>
          <p:nvPr/>
        </p:nvSpPr>
        <p:spPr>
          <a:xfrm>
            <a:off x="7644384" y="28803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1" name="Shape 39"/>
          <p:cNvSpPr/>
          <p:nvPr/>
        </p:nvSpPr>
        <p:spPr>
          <a:xfrm>
            <a:off x="7900416" y="28803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2" name="Shape 40"/>
          <p:cNvSpPr/>
          <p:nvPr/>
        </p:nvSpPr>
        <p:spPr>
          <a:xfrm>
            <a:off x="8156448" y="28803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3" name="Shape 41"/>
          <p:cNvSpPr/>
          <p:nvPr/>
        </p:nvSpPr>
        <p:spPr>
          <a:xfrm>
            <a:off x="8412480" y="2880360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4" name="Text 42"/>
          <p:cNvSpPr/>
          <p:nvPr/>
        </p:nvSpPr>
        <p:spPr>
          <a:xfrm>
            <a:off x="365760" y="350215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D166"/>
                </a:solidFill>
              </a:rPr>
              <a:t>Dilasi 2 — melompat 1 titik, jangkauan 2×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350215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6" name="Shape 44"/>
          <p:cNvSpPr/>
          <p:nvPr/>
        </p:nvSpPr>
        <p:spPr>
          <a:xfrm>
            <a:off x="4828032" y="350215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7" name="Shape 45"/>
          <p:cNvSpPr/>
          <p:nvPr/>
        </p:nvSpPr>
        <p:spPr>
          <a:xfrm>
            <a:off x="5084064" y="350215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8" name="Shape 46"/>
          <p:cNvSpPr/>
          <p:nvPr/>
        </p:nvSpPr>
        <p:spPr>
          <a:xfrm>
            <a:off x="5340096" y="350215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9" name="Shape 47"/>
          <p:cNvSpPr/>
          <p:nvPr/>
        </p:nvSpPr>
        <p:spPr>
          <a:xfrm>
            <a:off x="5596128" y="350215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0" name="Shape 48"/>
          <p:cNvSpPr/>
          <p:nvPr/>
        </p:nvSpPr>
        <p:spPr>
          <a:xfrm>
            <a:off x="5852160" y="350215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1" name="Shape 49"/>
          <p:cNvSpPr/>
          <p:nvPr/>
        </p:nvSpPr>
        <p:spPr>
          <a:xfrm>
            <a:off x="6108192" y="350215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2" name="Shape 50"/>
          <p:cNvSpPr/>
          <p:nvPr/>
        </p:nvSpPr>
        <p:spPr>
          <a:xfrm>
            <a:off x="6364224" y="350215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3" name="Shape 51"/>
          <p:cNvSpPr/>
          <p:nvPr/>
        </p:nvSpPr>
        <p:spPr>
          <a:xfrm>
            <a:off x="6620256" y="350215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4" name="Shape 52"/>
          <p:cNvSpPr/>
          <p:nvPr/>
        </p:nvSpPr>
        <p:spPr>
          <a:xfrm>
            <a:off x="6876288" y="350215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5" name="Shape 53"/>
          <p:cNvSpPr/>
          <p:nvPr/>
        </p:nvSpPr>
        <p:spPr>
          <a:xfrm>
            <a:off x="7132320" y="350215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6" name="Shape 54"/>
          <p:cNvSpPr/>
          <p:nvPr/>
        </p:nvSpPr>
        <p:spPr>
          <a:xfrm>
            <a:off x="7388352" y="350215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7" name="Shape 55"/>
          <p:cNvSpPr/>
          <p:nvPr/>
        </p:nvSpPr>
        <p:spPr>
          <a:xfrm>
            <a:off x="7644384" y="350215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8" name="Shape 56"/>
          <p:cNvSpPr/>
          <p:nvPr/>
        </p:nvSpPr>
        <p:spPr>
          <a:xfrm>
            <a:off x="7900416" y="350215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9" name="Shape 57"/>
          <p:cNvSpPr/>
          <p:nvPr/>
        </p:nvSpPr>
        <p:spPr>
          <a:xfrm>
            <a:off x="8156448" y="350215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0" name="Shape 58"/>
          <p:cNvSpPr/>
          <p:nvPr/>
        </p:nvSpPr>
        <p:spPr>
          <a:xfrm>
            <a:off x="8412480" y="3502152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1" name="Text 59"/>
          <p:cNvSpPr/>
          <p:nvPr/>
        </p:nvSpPr>
        <p:spPr>
          <a:xfrm>
            <a:off x="365760" y="412394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6D6A0"/>
                </a:solidFill>
              </a:rPr>
              <a:t>Dilasi 4 — melompat 3 titik, jangkauan 4×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0" y="412394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3" name="Shape 61"/>
          <p:cNvSpPr/>
          <p:nvPr/>
        </p:nvSpPr>
        <p:spPr>
          <a:xfrm>
            <a:off x="4828032" y="412394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4" name="Shape 62"/>
          <p:cNvSpPr/>
          <p:nvPr/>
        </p:nvSpPr>
        <p:spPr>
          <a:xfrm>
            <a:off x="5084064" y="412394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5" name="Shape 63"/>
          <p:cNvSpPr/>
          <p:nvPr/>
        </p:nvSpPr>
        <p:spPr>
          <a:xfrm>
            <a:off x="5340096" y="412394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6" name="Shape 64"/>
          <p:cNvSpPr/>
          <p:nvPr/>
        </p:nvSpPr>
        <p:spPr>
          <a:xfrm>
            <a:off x="5596128" y="412394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7" name="Shape 65"/>
          <p:cNvSpPr/>
          <p:nvPr/>
        </p:nvSpPr>
        <p:spPr>
          <a:xfrm>
            <a:off x="5852160" y="412394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8" name="Shape 66"/>
          <p:cNvSpPr/>
          <p:nvPr/>
        </p:nvSpPr>
        <p:spPr>
          <a:xfrm>
            <a:off x="6108192" y="412394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9" name="Shape 67"/>
          <p:cNvSpPr/>
          <p:nvPr/>
        </p:nvSpPr>
        <p:spPr>
          <a:xfrm>
            <a:off x="6364224" y="412394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0" name="Shape 68"/>
          <p:cNvSpPr/>
          <p:nvPr/>
        </p:nvSpPr>
        <p:spPr>
          <a:xfrm>
            <a:off x="6620256" y="412394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1" name="Shape 69"/>
          <p:cNvSpPr/>
          <p:nvPr/>
        </p:nvSpPr>
        <p:spPr>
          <a:xfrm>
            <a:off x="6876288" y="412394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2" name="Shape 70"/>
          <p:cNvSpPr/>
          <p:nvPr/>
        </p:nvSpPr>
        <p:spPr>
          <a:xfrm>
            <a:off x="7132320" y="412394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3" name="Shape 71"/>
          <p:cNvSpPr/>
          <p:nvPr/>
        </p:nvSpPr>
        <p:spPr>
          <a:xfrm>
            <a:off x="7388352" y="412394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4" name="Shape 72"/>
          <p:cNvSpPr/>
          <p:nvPr/>
        </p:nvSpPr>
        <p:spPr>
          <a:xfrm>
            <a:off x="7644384" y="412394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5" name="Shape 73"/>
          <p:cNvSpPr/>
          <p:nvPr/>
        </p:nvSpPr>
        <p:spPr>
          <a:xfrm>
            <a:off x="7900416" y="412394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6" name="Shape 74"/>
          <p:cNvSpPr/>
          <p:nvPr/>
        </p:nvSpPr>
        <p:spPr>
          <a:xfrm>
            <a:off x="8156448" y="412394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7" name="Shape 75"/>
          <p:cNvSpPr/>
          <p:nvPr/>
        </p:nvSpPr>
        <p:spPr>
          <a:xfrm>
            <a:off x="8412480" y="4123944"/>
            <a:ext cx="201168" cy="274320"/>
          </a:xfrm>
          <a:prstGeom prst="roundRect">
            <a:avLst>
              <a:gd name="adj" fmla="val 13636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8" name="Shape 76"/>
          <p:cNvSpPr/>
          <p:nvPr/>
        </p:nvSpPr>
        <p:spPr>
          <a:xfrm>
            <a:off x="365760" y="4617720"/>
            <a:ext cx="8412480" cy="347472"/>
          </a:xfrm>
          <a:prstGeom prst="roundRect">
            <a:avLst>
              <a:gd name="adj" fmla="val 21053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9" name="Text 77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Receptive field: 31 timestep  ·  Lookback: 15 timestep  ✅ mencakup semua input  ·  Total parameter: ~13,000</a:t>
            </a:r>
            <a:endParaRPr lang="en-US" sz="1000" dirty="0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2F78E671-4BF5-6FAF-8526-3FF43D03A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3" y="1048838"/>
            <a:ext cx="9005433" cy="10661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6C176-0969-4C50-3BEE-35368CE66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2D88E38-2AFD-8FD6-835C-6A21C5588A74}"/>
              </a:ext>
            </a:extLst>
          </p:cNvPr>
          <p:cNvSpPr/>
          <p:nvPr/>
        </p:nvSpPr>
        <p:spPr>
          <a:xfrm>
            <a:off x="203982" y="633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TCN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0C23EF-B7C5-33AF-F444-ED3A331AB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49" y="509250"/>
            <a:ext cx="7993702" cy="449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40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Proses Training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20040" y="914400"/>
          <a:ext cx="502920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532120" y="91440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1B3A5C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2"/>
          <p:cNvSpPr/>
          <p:nvPr/>
        </p:nvSpPr>
        <p:spPr>
          <a:xfrm>
            <a:off x="5669280" y="96012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Class Weight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669280" y="125272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Kompensasi data tidak seimbang: jumlah clean_air ≠ lpg_detected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532120" y="192024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1B3A5C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5669280" y="196596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Early Stopping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0" y="225856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Hentikan training otomatis jika val_loss tidak membaik (patience 12)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532120" y="292608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1B3A5C"/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5669280" y="2971800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Reduce LR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669280" y="3264408"/>
            <a:ext cx="3017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Kurangi learning rate 0.5× saat stagnan (patience 5)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AFC4"/>
                </a:solidFill>
              </a:rPr>
              <a:t>Batch size: 32  ·  Max epoch: 100  ·  Optimizer: Adam (lr=0.001)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Training — Data Aktual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14400"/>
            <a:ext cx="8229600" cy="299673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1605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B3A5C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2"/>
          <p:cNvSpPr/>
          <p:nvPr/>
        </p:nvSpPr>
        <p:spPr>
          <a:xfrm>
            <a:off x="457200" y="41879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</a:rPr>
              <a:t>23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45994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4"/>
                </a:solidFill>
              </a:rPr>
              <a:t>Best Epoch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560320" y="41605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B3A5C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5"/>
          <p:cNvSpPr/>
          <p:nvPr/>
        </p:nvSpPr>
        <p:spPr>
          <a:xfrm>
            <a:off x="2560320" y="41879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D166"/>
                </a:solidFill>
              </a:rPr>
              <a:t>0.154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560320" y="45994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4"/>
                </a:solidFill>
              </a:rPr>
              <a:t>Val Loss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63440" y="41605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B3A5C"/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8"/>
          <p:cNvSpPr/>
          <p:nvPr/>
        </p:nvSpPr>
        <p:spPr>
          <a:xfrm>
            <a:off x="4663440" y="41879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D6A0"/>
                </a:solidFill>
              </a:rPr>
              <a:t>~96%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663440" y="45994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4"/>
                </a:solidFill>
              </a:rPr>
              <a:t>Val Accuracy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766560" y="41605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B3A5C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1"/>
          <p:cNvSpPr/>
          <p:nvPr/>
        </p:nvSpPr>
        <p:spPr>
          <a:xfrm>
            <a:off x="6766560" y="418795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6B"/>
                </a:solidFill>
              </a:rPr>
              <a:t>93.5%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766560" y="459943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4"/>
                </a:solidFill>
              </a:rPr>
              <a:t>Test Accuracy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Prediksi TCN vs Label Aktual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14400"/>
            <a:ext cx="841248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65760" y="4041648"/>
            <a:ext cx="8412480" cy="320040"/>
          </a:xfrm>
          <a:prstGeom prst="roundRect">
            <a:avLst>
              <a:gd name="adj" fmla="val 17143"/>
            </a:avLst>
          </a:prstGeom>
          <a:solidFill>
            <a:srgbClr val="12284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2"/>
          <p:cNvSpPr/>
          <p:nvPr/>
        </p:nvSpPr>
        <p:spPr>
          <a:xfrm>
            <a:off x="502920" y="40416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✅  Prediksi (garis putus-putus) hampir selalu mengikuti label aktual (garis solid)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65760" y="4407408"/>
            <a:ext cx="8412480" cy="320040"/>
          </a:xfrm>
          <a:prstGeom prst="roundRect">
            <a:avLst>
              <a:gd name="adj" fmla="val 17143"/>
            </a:avLst>
          </a:prstGeom>
          <a:solidFill>
            <a:srgbClr val="12284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4"/>
          <p:cNvSpPr/>
          <p:nvPr/>
        </p:nvSpPr>
        <p:spPr>
          <a:xfrm>
            <a:off x="502920" y="44074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⚡  Transisi clean_air → lpg_detected terdeteksi dengan sedikit delay — wajar untuk forecasting 5 det ke depan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65760" y="4773168"/>
            <a:ext cx="8412480" cy="320040"/>
          </a:xfrm>
          <a:prstGeom prst="roundRect">
            <a:avLst>
              <a:gd name="adj" fmla="val 17143"/>
            </a:avLst>
          </a:prstGeom>
          <a:solidFill>
            <a:srgbClr val="1228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6"/>
          <p:cNvSpPr/>
          <p:nvPr/>
        </p:nvSpPr>
        <p:spPr>
          <a:xfrm>
            <a:off x="50292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📊  Probabilitas prediksi mendekati 1.0 saat model sangat yakin, turun saat transisi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AD666-490C-8683-59A6-FE9CFE2CC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CAAE2D-858F-E651-2370-142A7166408F}"/>
              </a:ext>
            </a:extLst>
          </p:cNvPr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Prediksi TCN vs Label Aktual</a:t>
            </a:r>
            <a:endParaRPr lang="en-US" sz="2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962F1E0-EC62-C71F-12D2-92150988C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843128"/>
            <a:ext cx="6323938" cy="410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6365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Hasil Test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2560320"/>
          </a:xfrm>
          <a:prstGeom prst="roundRect">
            <a:avLst>
              <a:gd name="adj" fmla="val 5357"/>
            </a:avLst>
          </a:prstGeom>
          <a:solidFill>
            <a:srgbClr val="1B3A5C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</a:rPr>
              <a:t>TCN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93.5%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FC4"/>
                </a:solidFill>
              </a:rPr>
              <a:t>Test 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880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</a:rPr>
              <a:t>F1 Macro 0.916  ·  Loss 0.2562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960120"/>
            <a:ext cx="4023360" cy="2560320"/>
          </a:xfrm>
          <a:prstGeom prst="roundRect">
            <a:avLst>
              <a:gd name="adj" fmla="val 5357"/>
            </a:avLst>
          </a:prstGeom>
          <a:solidFill>
            <a:srgbClr val="1B3A5C"/>
          </a:solidFill>
          <a:ln w="12700">
            <a:solidFill>
              <a:srgbClr val="8BAFC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4709160" y="1051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AFC4"/>
                </a:solidFill>
              </a:rPr>
              <a:t>Baseline Naif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09160" y="146304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BAF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~85%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709160" y="2560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FC4"/>
                </a:solidFill>
              </a:rPr>
              <a:t>(tebak label = sekarang)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AFC4"/>
                </a:solidFill>
              </a:rPr>
              <a:t>F1 Macro ~ 0.82</a:t>
            </a:r>
            <a:endParaRPr lang="en-US" sz="13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365760" y="3657600"/>
          <a:ext cx="841248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— TCN vs Baseline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2004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TCN  (Akurasi 93.5%)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4"/>
                </a:solidFill>
              </a:rPr>
              <a:t>Prediksi →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78408" y="16002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4"/>
                </a:solidFill>
              </a:rPr>
              <a:t>clean_air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31720" y="16002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4"/>
                </a:solidFill>
              </a:rPr>
              <a:t>lpg_detect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 rot="16200000">
            <a:off x="320040" y="1920240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4"/>
                </a:solidFill>
              </a:rPr>
              <a:t>Aktual 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 rot="16200000">
            <a:off x="941832" y="192024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FC4"/>
                </a:solidFill>
              </a:rPr>
              <a:t>clean_air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 rot="16200000">
            <a:off x="941832" y="26517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FC4"/>
                </a:solidFill>
              </a:rPr>
              <a:t>lpg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252728" y="1920240"/>
            <a:ext cx="1298448" cy="621792"/>
          </a:xfrm>
          <a:prstGeom prst="roundRect">
            <a:avLst>
              <a:gd name="adj" fmla="val 8824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1" name="Text 9"/>
          <p:cNvSpPr/>
          <p:nvPr/>
        </p:nvSpPr>
        <p:spPr>
          <a:xfrm>
            <a:off x="1252728" y="192024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57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624328" y="1920240"/>
            <a:ext cx="1298448" cy="621792"/>
          </a:xfrm>
          <a:prstGeom prst="roundRect">
            <a:avLst>
              <a:gd name="adj" fmla="val 8824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2624328" y="192024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10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252728" y="2606040"/>
            <a:ext cx="1298448" cy="621792"/>
          </a:xfrm>
          <a:prstGeom prst="roundRect">
            <a:avLst>
              <a:gd name="adj" fmla="val 8824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1252728" y="260604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624328" y="2606040"/>
            <a:ext cx="1298448" cy="621792"/>
          </a:xfrm>
          <a:prstGeom prst="roundRect">
            <a:avLst>
              <a:gd name="adj" fmla="val 8824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2624328" y="260604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00600" y="9144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BAFC4"/>
                </a:solidFill>
              </a:rPr>
              <a:t>Baseline Naif (~85%)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57800" y="13258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4"/>
                </a:solidFill>
              </a:rPr>
              <a:t>Prediksi 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58968" y="16002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4"/>
                </a:solidFill>
              </a:rPr>
              <a:t>clean_air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12280" y="1600200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4"/>
                </a:solidFill>
              </a:rPr>
              <a:t>lpg_detect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 rot="16200000">
            <a:off x="4800600" y="1920240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FC4"/>
                </a:solidFill>
              </a:rPr>
              <a:t>Aktual 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 rot="16200000">
            <a:off x="5422392" y="192024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FC4"/>
                </a:solidFill>
              </a:rPr>
              <a:t>clean_air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 rot="16200000">
            <a:off x="5422392" y="265176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FC4"/>
                </a:solidFill>
              </a:rPr>
              <a:t>lpg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733288" y="1920240"/>
            <a:ext cx="1298448" cy="621792"/>
          </a:xfrm>
          <a:prstGeom prst="roundRect">
            <a:avLst>
              <a:gd name="adj" fmla="val 8824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6" name="Text 24"/>
          <p:cNvSpPr/>
          <p:nvPr/>
        </p:nvSpPr>
        <p:spPr>
          <a:xfrm>
            <a:off x="5733288" y="192024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52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7104888" y="1920240"/>
            <a:ext cx="1298448" cy="621792"/>
          </a:xfrm>
          <a:prstGeom prst="roundRect">
            <a:avLst>
              <a:gd name="adj" fmla="val 8824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8" name="Text 26"/>
          <p:cNvSpPr/>
          <p:nvPr/>
        </p:nvSpPr>
        <p:spPr>
          <a:xfrm>
            <a:off x="7104888" y="192024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15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5733288" y="2606040"/>
            <a:ext cx="1298448" cy="621792"/>
          </a:xfrm>
          <a:prstGeom prst="roundRect">
            <a:avLst>
              <a:gd name="adj" fmla="val 8824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0" name="Text 28"/>
          <p:cNvSpPr/>
          <p:nvPr/>
        </p:nvSpPr>
        <p:spPr>
          <a:xfrm>
            <a:off x="5733288" y="260604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22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104888" y="2606040"/>
            <a:ext cx="1298448" cy="621792"/>
          </a:xfrm>
          <a:prstGeom prst="roundRect">
            <a:avLst>
              <a:gd name="adj" fmla="val 8824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2" name="Text 30"/>
          <p:cNvSpPr/>
          <p:nvPr/>
        </p:nvSpPr>
        <p:spPr>
          <a:xfrm>
            <a:off x="7104888" y="2606040"/>
            <a:ext cx="12984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157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20040" y="352044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4" name="Text 32"/>
          <p:cNvSpPr/>
          <p:nvPr/>
        </p:nvSpPr>
        <p:spPr>
          <a:xfrm>
            <a:off x="1207008" y="35204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Prediksi benar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93192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6" name="Text 34"/>
          <p:cNvSpPr/>
          <p:nvPr/>
        </p:nvSpPr>
        <p:spPr>
          <a:xfrm>
            <a:off x="1207008" y="3931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Prediksi salah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D6A0"/>
                </a:solidFill>
              </a:rPr>
              <a:t>TCN lebih sedikit salah prediksi di kedua kelas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ke ESP32-S3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1051560"/>
            <a:ext cx="1920240" cy="137160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Model Keras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B4D8"/>
                </a:solidFill>
              </a:rPr>
              <a:t>(Python)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~13K param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94560" y="1737360"/>
            <a:ext cx="274320" cy="0"/>
          </a:xfrm>
          <a:prstGeom prst="line">
            <a:avLst/>
          </a:prstGeom>
          <a:noFill/>
          <a:ln w="25400">
            <a:solidFill>
              <a:srgbClr val="8BAFC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7" name="Text 5"/>
          <p:cNvSpPr/>
          <p:nvPr/>
        </p:nvSpPr>
        <p:spPr>
          <a:xfrm>
            <a:off x="2176272" y="1536192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AFC4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68880" y="1051560"/>
            <a:ext cx="1920240" cy="137160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254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246888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</a:rPr>
              <a:t>TFLite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</a:rPr>
              <a:t>(float32)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~52 KB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274320" cy="0"/>
          </a:xfrm>
          <a:prstGeom prst="line">
            <a:avLst/>
          </a:prstGeom>
          <a:noFill/>
          <a:ln w="25400">
            <a:solidFill>
              <a:srgbClr val="8BAFC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370832" y="1536192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AFC4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1920240" cy="137160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466344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</a:rPr>
              <a:t>TFLite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</a:rPr>
              <a:t>INT8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~13 KB (4× kecil)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583680" y="1737360"/>
            <a:ext cx="274320" cy="0"/>
          </a:xfrm>
          <a:prstGeom prst="line">
            <a:avLst/>
          </a:prstGeom>
          <a:noFill/>
          <a:ln w="25400">
            <a:solidFill>
              <a:srgbClr val="8BAFC4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6565392" y="1536192"/>
            <a:ext cx="3108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AFC4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0" y="1051560"/>
            <a:ext cx="1920240" cy="1371600"/>
          </a:xfrm>
          <a:prstGeom prst="roundRect">
            <a:avLst>
              <a:gd name="adj" fmla="val 10000"/>
            </a:avLst>
          </a:prstGeom>
          <a:solidFill>
            <a:srgbClr val="1B3A5C"/>
          </a:solidFill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9" name="Text 17"/>
          <p:cNvSpPr/>
          <p:nvPr/>
        </p:nvSpPr>
        <p:spPr>
          <a:xfrm>
            <a:off x="6858000" y="1097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</a:rPr>
              <a:t>ESP32-S3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6B6B"/>
                </a:solidFill>
              </a:rPr>
              <a:t>Firmware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58000" y="1828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 header .h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27432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AFC4"/>
                </a:solidFill>
              </a:rPr>
              <a:t>Ukuran 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" y="3154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Float32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17320" y="3200400"/>
            <a:ext cx="5029200" cy="320040"/>
          </a:xfrm>
          <a:prstGeom prst="roundRect">
            <a:avLst>
              <a:gd name="adj" fmla="val 17143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4" name="Text 22"/>
          <p:cNvSpPr/>
          <p:nvPr/>
        </p:nvSpPr>
        <p:spPr>
          <a:xfrm>
            <a:off x="6537960" y="31546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52 KB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" y="37490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INT8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417320" y="3794760"/>
            <a:ext cx="1257300" cy="320040"/>
          </a:xfrm>
          <a:prstGeom prst="roundRect">
            <a:avLst>
              <a:gd name="adj" fmla="val 17143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7" name="Text 25"/>
          <p:cNvSpPr/>
          <p:nvPr/>
        </p:nvSpPr>
        <p:spPr>
          <a:xfrm>
            <a:off x="2766060" y="37490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</a:rPr>
              <a:t>13 KB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2651760"/>
            <a:ext cx="4206240" cy="1783080"/>
          </a:xfrm>
          <a:prstGeom prst="roundRect">
            <a:avLst>
              <a:gd name="adj" fmla="val 6154"/>
            </a:avLst>
          </a:prstGeom>
          <a:solidFill>
            <a:srgbClr val="1B3A5C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9" name="Text 27"/>
          <p:cNvSpPr/>
          <p:nvPr/>
        </p:nvSpPr>
        <p:spPr>
          <a:xfrm>
            <a:off x="4709160" y="27432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Kenapa INT8?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172968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1" name="Text 29"/>
          <p:cNvSpPr/>
          <p:nvPr/>
        </p:nvSpPr>
        <p:spPr>
          <a:xfrm>
            <a:off x="5029200" y="3145536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4× lebih kecil dari float32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557016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3" name="Text 31"/>
          <p:cNvSpPr/>
          <p:nvPr/>
        </p:nvSpPr>
        <p:spPr>
          <a:xfrm>
            <a:off x="5029200" y="3529584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Lebih cepat di hardware MCU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941064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5" name="Text 33"/>
          <p:cNvSpPr/>
          <p:nvPr/>
        </p:nvSpPr>
        <p:spPr>
          <a:xfrm>
            <a:off x="5029200" y="391363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Akurasi hampir setara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B4D8"/>
                </a:solidFill>
              </a:rPr>
              <a:t>Model siap deploy — ukuran INT8 ~13 KB, cocok untuk flash ESP32-S3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1B3A5C">
              <a:alpha val="40000"/>
            </a:srgbClr>
          </a:solidFill>
          <a:ln w="12700">
            <a:solidFill>
              <a:srgbClr val="1B3A5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B3A5C"/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594360" y="1097280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TCN berhasil prediksi kebocoran LPG 5 detik ke depan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B3A5C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1965960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93.5%, F1 macro 0.916, loss 0.2562 — hasil nyata dari notebook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B3A5C"/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2834640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lebih cepat karena komputasi paralel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713232"/>
          </a:xfrm>
          <a:prstGeom prst="roundRect">
            <a:avLst>
              <a:gd name="adj" fmla="val 12821"/>
            </a:avLst>
          </a:prstGeom>
          <a:solidFill>
            <a:srgbClr val="1B3A5C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5" name="Text 13"/>
          <p:cNvSpPr/>
          <p:nvPr/>
        </p:nvSpPr>
        <p:spPr>
          <a:xfrm>
            <a:off x="594360" y="3703320"/>
            <a:ext cx="594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3703320"/>
            <a:ext cx="7132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ringan: INT8 hanya ~13 KB — siap masuk ESP32-S3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FC4"/>
                </a:solidFill>
              </a:rPr>
              <a:t>Lab IoT · Institut Teknologi Bandung ·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413</TotalTime>
  <Words>649</Words>
  <Application>Microsoft Office PowerPoint</Application>
  <PresentationFormat>On-screen Show (16:9)</PresentationFormat>
  <Paragraphs>183</Paragraphs>
  <Slides>14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TCN Gas LPG Early Warning System</dc:title>
  <dc:subject>PptxGenJS Presentation</dc:subject>
  <dc:creator>PptxGenJS</dc:creator>
  <cp:lastModifiedBy>Ilmania Syakira</cp:lastModifiedBy>
  <cp:revision>4</cp:revision>
  <dcterms:created xsi:type="dcterms:W3CDTF">2026-06-26T01:15:07Z</dcterms:created>
  <dcterms:modified xsi:type="dcterms:W3CDTF">2026-06-29T05:12:01Z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2026-06-26T01:18:38Z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f84c587a-432b-441d-8d67-36576af332ea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</Properties>
</file>